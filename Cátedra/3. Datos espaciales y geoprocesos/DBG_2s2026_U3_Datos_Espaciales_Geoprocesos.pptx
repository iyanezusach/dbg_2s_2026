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260" r:id="rId9"/>
    <p:sldId id="261" r:id="rId10"/>
    <p:sldId id="262" r:id="rId11"/>
    <p:sldId id="263" r:id="rId12"/>
    <p:sldId id="264" r:id="rId13"/>
    <p:sldId id="265" r:id="rId14"/>
    <p:sldId id="276" r:id="rId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4702"/>
  </p:normalViewPr>
  <p:slideViewPr>
    <p:cSldViewPr snapToGrid="0" snapToObjects="1">
      <p:cViewPr varScale="1">
        <p:scale>
          <a:sx n="204" d="100"/>
          <a:sy n="204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17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DATOS ESPACIALES Y GEOPROCESOS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“Generar la información, procesarla y llevarla a PostGIS”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3 · Semanas 10–13 · 23 nov – 18 dic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1. Objetivos de la 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2103120" cy="452628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1920240" cy="1463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Unidad 3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Espacializar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8759952" cy="452628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83210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Resultado de la unidad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Estructurar geodatos mediante tipos de geometría, sistemas de referencia, reglas de validez e índices espaciales, con criterios de interoperabilidad y calidad.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Módulo G (semanas 10–12)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Caso territorial: infraestructura crítica e incendios (ya cargado en PostGIS en la semana 9)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Geodatabase del caso en ArcGIS Pro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Geoprocesos básicos y ModelBuilder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 autónomo B (7–11 dic)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PostGIS (semanas 9, 11 y 13)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Geometrías, SRID, validez, índices GiST, metadatos (ISO 19115-1) y calidad (ISO 19157-1)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Paralelo geodatabase ↔ PostGIS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46120"/>
            <a:ext cx="99669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BBEEEE"/>
                </a:solidFill>
                <a:latin typeface="Calibri"/>
              </a:rPr>
              <a:t>MÓDULO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Geoprocesos básicos en ArcGIS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434840"/>
            <a:ext cx="8138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BBEEEE"/>
                </a:solidFill>
                <a:latin typeface="Calibri"/>
              </a:rPr>
              <a:t>Las operaciones que después escribiremos en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2. Del dato al mapa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Generar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Tablas del caso incendios a feature classes (XY Table To Point) y digitalización.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00984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57015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5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Estructurar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5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Feature dataset, dominios, subtipos y relationship classes.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8152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Procesar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88152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Selección, proximidad, superposición y agregación.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63255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8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Trasladar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La misma estructura y validación en PostGIS.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94392" y="205740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50424" y="182880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0424" y="182880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Mapear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50424" y="265176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1863" y="274320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Capas de consulta y mapa final (semana 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3. El modelo vectorial (OGC SFA · ISO 19125 · ISO 19107)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Dimensión 0. Establecimientos y focos.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3104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5984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5984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72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LineString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5984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Dimensión 1. Red vial.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0327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3207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207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8696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Polygon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3207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Dimensión 2. Comunas y áreas quemadas.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08760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Multi*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Colecciones del mismo tipo: una comuna con islas.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3104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05984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5984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1472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GeometryCollection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5984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Mezcla de tipos; evitar como tipo de columna.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20327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03207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3207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696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3207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Toda geometría declara su sistema de referencia.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4. Sistemas de referencia en Chile (ISO 19111)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"/>
                <a:gridCol w="3041660"/>
                <a:gridCol w="2389875"/>
                <a:gridCol w="434522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EPSG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Unidad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Uso en el curso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4326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WGS 84 geográficas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grados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Intercambio y GPS; no medir distancias ni áreas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32719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WGS 84 / UTM zona 19S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metros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SRID de trabajo del caso (Chile central)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32718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WGS 84 / UTM zona 18S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metros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Chile al oeste de 72° 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3857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Web Mercator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metros (distorsionados)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Solo visualización web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6. Paralelo geodatabase ↔ PostgreSQL/PostGIS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813"/>
                <a:gridCol w="4019336"/>
                <a:gridCol w="3258921"/>
              </a:tblGrid>
              <a:tr h="32918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Geodatabase (Esri)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PostgreSQL / PostGIS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 el caso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Feature dataset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Esquema + un solo SRID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riesgo · EPSG:32719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Feature class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Tabla con geometry(tipo, SRID)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infraestructura, area_quemada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ObjectID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serial / IDENTITY como PK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id_infra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Dominio codificado / de rango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DOMAIN, CHECK o FK a catálogo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d_causa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Subtipo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Columna discriminadora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id_tipo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Relationship class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FK con RESTRICT / CASCADE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evento → área quemada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Topología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ST_IsValid, ST_Overlaps, triggers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Comunas sin solape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Attribute rules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Triggers y CHECK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Punto dentro de su comuna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Índice espacial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Índice GiST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gix_infra_geom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7. Geoprocesos básicos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Selección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Por atributos y por localización (dentro de, intersecta, a distancia).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3104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5984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5984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72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5984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Área de influencia a una distancia: zona de 500 m del incendio.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0327" y="141732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3207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207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8696" y="158191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3207" y="214884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Recorta una capa con un polígono: vías dentro de una comuna.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08760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Intersect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Superpone y conserva lo común con atributos de ambas capas.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3104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05984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5984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1472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Dissolve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5984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Une geometrías por un atributo: una zona de amenaza continua.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20327" y="36576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03207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3207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696" y="3822191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Spatial Join / Near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3207" y="43891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Asocia por ubicación y calcula el más cercano.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8. Cada herramienta tiene su 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1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183"/>
                <a:gridCol w="3693444"/>
                <a:gridCol w="3693444"/>
              </a:tblGrid>
              <a:tr h="32918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Herramienta ArcGIS Pro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PostGIS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Select Layer By Location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¿Qué escuelas están en el área quemada?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ST_Within / ST_Intersects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XY Table To Point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Coordenadas a puntos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ST_SetSRID(ST_MakePoint(x, y), 32719)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Cambiar de SRC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ST_Transform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Pairwise Buffer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Zona de 500 m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ST_Buffer(geom, 500)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Pairwise Clip / Intersect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Superficie quemada por comuna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ST_Intersection + ST_Intersects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Pairwise Dissolve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Zona continua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ST_Union + GROUP BY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Spatial Join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Establecimientos por comuna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JOIN ON ST_Intersects + count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Near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Cuartel más cercano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ORDER BY geom &lt;-&gt; geom LIMIT 1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Check / Repair Geometry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Geometrías inválidas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ST_IsValid / ST_MakeValid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46120"/>
            <a:ext cx="99669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BBEEEE"/>
                </a:solidFill>
                <a:latin typeface="Calibri"/>
              </a:rPr>
              <a:t>POSTGIS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La misma base, ahora en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434840"/>
            <a:ext cx="8138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BBEEEE"/>
                </a:solidFill>
                <a:latin typeface="Calibri"/>
              </a:rPr>
              <a:t>Semanas 9, 11 y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9. SRID: declarar no es transformar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ST_SetSRID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Declara el SRC sin mover coordenadas (Define Projection).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ST_Transform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Recalcula coordenadas a otro SRC (Project).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Error típico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Medir en EPSG:4326 entrega grados, no metros.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puntos desde columnas x/y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UPDATE infraestructura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SET geom = ST_SetSRID(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ST_MakePoint(x_utm, y_utm), 32719);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ver en geográficas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ST_AsText(ST_Transform(geom, 4326))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infraestructura WHERE id_tipo = 1;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-- registro en grados declarado mal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UPDATE stg_area_quemada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SET geom = ST_Transform(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ST_SetSRID(geom, 4326), 32719)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ST_XMin(geom) &lt; 1000;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10. geometry o geography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137"/>
                <a:gridCol w="4127967"/>
                <a:gridCol w="412796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geography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Cálculo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Plano, en las unidades del SRC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Sobre el elipsoide, en metros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Funciones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Todas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Subconjunto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Velocidad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Mayor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Menor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Uso recomendado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Áreas regionales en UTM (el caso)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Datos globales o continentales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11. Validez y reglas espaciales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ST_IsValid y ST_IsValidReason: moños, anillos que se tocan, SRID mal declarado.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1716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4596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4596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0084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Reparación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ST_MakeValid + ST_CollectionExtract; equivale a Repair Geometry.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Restricción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CHECK (ST_IsValid(geom)) y typmod geometry(MultiPolygon, 32719).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71716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54596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4596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0084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Regla de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4596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Trigger: el punto debe caer en su comuna (como una attribute rule).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12. Índices espaciales 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Fundamento: árboles R (Guttman, 1984) y GiST (Hellerstein et al., 1995).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Filtro primario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Compara cajas envolventes con el índice: rápido y aproximado.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3104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05984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5984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1472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Filtro secundario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5984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Evalúa la geometría exacta solo en los candidatos.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0327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03207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3207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8696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Medición en laboratorio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3207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200.000 puntos: 452 ms sin índice y 7,6 ms con índice GiST (prueba del curso).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13. Para las semanas 10–13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2103120" cy="452628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1920240" cy="1463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8759952" cy="452628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83210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Laboratorio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Labs 10 y 11: geodatabase y geoprocesos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 B (7–11 dic, autónomo): flujo de geoprocesos + tabla de equivalencias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Guías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Módulo G: ejercicios G.1–G.8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Guía U3 ★: 3.3, 3.7 y 3.8 (semana 9); el resto, práctica optativa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Proyecto y evaluación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Hito P3 (18 dic)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Control 3 (semana 13)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Lecturas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Zeiler (1999); Arctur y Zeiler (2004)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Obe y Hsu (2021), caps. 1–4; manual de PostGIS 3.4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DATOS ESPACIALES Y GEOPROCESOS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“Generar la información, procesarla y llevarla a PostGIS”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3 · Semanas 10–13 · 23 nov – 18 dic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5. Estándares que ordenan los geodatos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813"/>
                <a:gridCol w="4019336"/>
                <a:gridCol w="3258921"/>
              </a:tblGrid>
              <a:tr h="32918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fija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 el curso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Esquema de aplicación: el objeto geográfico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Catálogo del proyecto (U1)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19110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Catálogo de entidades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Diccionario con tipo de geometría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Esquema espacial: tipos de geometría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Point, LineString, Polygon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OGC SFA · ISO 19125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Simple Features y su opción SQL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Funciones ST_ de PostGIS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Referencia por coordenadas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EPSG:4326 y EPSG:32719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19115-1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Metadatos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catalogo_capa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ISO 19157-1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Calidad de datos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Validación de stg_area_quemada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OGC GeoPackage 1.4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Formato de intercambio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caso_14504.gpkg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1_Tema de Office</vt:lpstr>
      <vt:lpstr>2_Tema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Daniel Rodriguez</cp:lastModifiedBy>
  <cp:revision>7</cp:revision>
  <dcterms:created xsi:type="dcterms:W3CDTF">2022-08-26T15:29:11Z</dcterms:created>
  <dcterms:modified xsi:type="dcterms:W3CDTF">2023-03-09T19:51:40Z</dcterms:modified>
</cp:coreProperties>
</file>