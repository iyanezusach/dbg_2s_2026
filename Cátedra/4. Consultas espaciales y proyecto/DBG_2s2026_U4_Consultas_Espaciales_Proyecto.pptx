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</p:sldMasterIdLst>
  <p:sldIdLst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93"/>
    <p:restoredTop sz="94702"/>
  </p:normalViewPr>
  <p:slideViewPr>
    <p:cSldViewPr snapToGrid="0" snapToObjects="1">
      <p:cViewPr varScale="1">
        <p:scale>
          <a:sx n="204" d="100"/>
          <a:sy n="204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7F881-7E7A-42A2-AB03-4BD409C99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87CF48-1E17-42FC-9912-62FC8C7010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0DC62-5284-444C-ADA0-E33F1D94A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C41D3-73BB-40CA-A2A6-A7B810C9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27C9B1-F270-4234-A2C8-B3F95748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2265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9CBD0-F9A8-4F7C-A78D-FE553BE3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AEE33-0300-435E-A58D-1179A29E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E4DB8-5C37-473E-9CF3-F398156E0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94AE8F-F369-4771-9FEC-EF42247F3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1C747E-8B93-4D09-B302-F17624C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860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231033-3742-49CE-A9A2-C42BD60D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A6BF2FA-3B6D-40ED-8F22-4CE59FBE5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931EC-EDD5-4196-9F0F-DC03EFE8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71CBDF-8031-4F53-9181-606BDF55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5D10E-7D4F-40E8-82F5-CEAB8A83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863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95294-4072-490D-A039-5D818BAEA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000E41-75FC-49A6-8073-492BC29E6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E1D932-5A65-498C-AFFA-67FD471E8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E2D37AE-A57E-446F-B245-B1F4B92B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725711-AE8C-4D43-8E8D-3F7FDFBA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1DEDF7-CD02-49B8-886B-B4F14D92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172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8D8371-41DA-4FB9-9EAA-6587FBF5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01CC30-E837-49FE-9147-6F1FE2CFB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115255-0D14-427D-9E50-B90184773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E442614-286F-4437-9A74-0367ECFF6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9C9F7DD-EB33-48AC-B40F-2790B52446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398B42-788C-426B-BC79-1C69A0A77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F5E8FE-5B69-450E-BDA4-BE7AB925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9B5E24D-2EA5-45FA-9223-38A1AAD9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8687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28E71-317B-4D96-9353-A39A49E92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84BD1B7-D5BE-4916-9029-9B72BFA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878411-3DD4-413F-A3BC-C0BF18B31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6537CA-DF42-44FD-AEE1-39D89D6C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5575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FDC410-F9E2-42E1-B29F-D27075EF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14E991-545A-41DE-B216-60119D82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666BED-267C-4EBE-BBDE-F1A182813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4087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7E7AD-0239-4D71-8522-DD60718C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DE8EE7-FEE1-43AB-9A99-2959550B7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BD5AA3-D103-4A9F-BBDD-5D7084492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27D2E7-3EC8-405E-9DAE-C14306EC4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4DDD23-5A21-4EAA-88C7-B889C2C7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035A4B-DC69-47ED-BD59-047D3D59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7818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84379-0B94-4277-8EAA-756F239E7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C329CD-10AE-4DCA-8856-D27A044DF4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3C0D1-F85D-4DA9-BDDE-A63E39145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222B7E-BB18-4169-BD2E-BF5A2CE1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397AEE-F322-4769-8DD6-26D8E456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57039A-8640-4D2D-8ED7-F816216D5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7777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E1C0B-4227-42F9-9CDD-F7FBC05A3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50B8B6-4996-4788-87C2-11064F30C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B8CD7E-9594-4BC1-9549-A4D70A37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F6C718-751C-4BBD-B568-363D8A1C0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4483B6-E473-4EA8-89F7-6D3525945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352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AA4AAE6-179E-4285-B8B6-212DBE5C4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CC598C-BD17-4123-B58B-168A82A8B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F19BC-782F-4A3E-B7DF-D1BC4A5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F7B50B-52CD-4B4C-ADA0-57EFE192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5A239-CB30-472D-914D-307F1D0F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689564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346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F9CF7-6F66-054D-98F8-0F234A109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4E0B04-634D-C743-A2AC-995D81BE8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3C37CF-67D0-104D-BF32-63E5BF96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9798C9-8676-0B41-92E3-05211563F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8F2E5-26A5-0C45-B924-223486A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5463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8CDDC-2364-F646-BE5E-0C14EEDFA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57612-F252-824C-8C6C-1B711BF4E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9FE806-DCCA-0345-8849-5AB27C051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8097E5-9B1C-B548-A703-4B5F6C3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9015F-5F06-7E45-8B6B-D402CA2A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2828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4B47C-25AF-B349-B6C9-EF8FC21C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16E1D3-31DB-7D42-B45B-9C4E11CCC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303F42-98DC-6C40-95EC-D87824B4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2B9517-3F0B-EC4A-8EA8-34912021C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C95985-731E-2B4B-AC24-E51AF858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143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CF2FF-EDF9-0047-BE55-6B705A57A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A51CE6-72A7-7240-A0E3-ED880E0D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BC62D3-C6B9-164B-8A7F-0BE22F2DB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116DD8-D249-EE47-A182-4FE53317D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1398FE-F199-804B-9110-2121E0066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8AB4A9-0403-6A40-A784-2B88654CB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1322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E979E6-2584-7941-859F-CCDAA3084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63F72D-0059-0240-AB3F-6BCE566B6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18A09E-7E2B-8E4C-A908-BA8C90314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8F27A18-E047-0749-AF16-01534901A7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8C5ED6-1D34-7047-AA50-45B7016149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DB9A75-33FC-1941-BDDD-4219DC3C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B091A54-B7CF-5A47-8DC3-599136578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8E158F-7CE7-104F-B3EE-DF171B7DD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7552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6555B-BC4B-9F47-B9A0-BF126194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005E2F-78D1-9941-95E0-DEDFDE2C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537C24-F204-B949-9958-536172934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55C051-F3AC-A841-AA92-C048A9873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35187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CA687E6-1053-FD4F-B346-5B69CC5C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67E3E83-69B3-C946-B8D9-81C00F78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27ABDB2-8FC3-E145-9173-C936CD34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18793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832CF5-4000-1F41-B68B-1BFD5DB8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ACC959-333A-6744-9A12-BC02AA713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B207A5-BF06-B64F-A6F8-83023455F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A044C3-70CA-C64E-B7DC-19C91DCD6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E8870F-E31A-414D-989B-B9CA4A0C2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37A9CE-B793-E743-9195-E93956326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8037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EE9A90-C190-A048-88FF-DD36EC61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7E14FB-25C2-4341-BAC5-B31EBB129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00A6A-696B-7344-896D-598C1D578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29C7F6-1A69-F54E-9DBB-E549E66F9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631E45-3928-124C-8F25-E5D7D546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F6EDFC-D0E8-3646-A0BB-EE83F78A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917560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1B03E-04CD-3146-9323-359C477C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8B243C-0813-C54C-9416-8C5183312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462910-29A6-324E-9955-315D6CBE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682EB6-C024-7946-92DD-25A427FF7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8027C5-2F21-D349-AEF6-5003F53C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53871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C74D8E-BFF8-0D45-9225-1E92E9F901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44FDCE-B976-364A-A776-B8D03B7834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C374F2-9E5D-5D4A-880A-B66001FC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913ADA-CE51-D34D-84CA-461BB164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A22CB-A67E-7C4A-852C-656CA1BC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758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451"/>
            <a:ext cx="12191998" cy="691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912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0C3137-72D4-4BE4-9F8B-299C1F72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5A72AB-47CE-4F41-B378-05B8CAF83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C61EC6-802B-4783-ACA1-3C6524782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8A8810-A4CE-4993-8840-D90A3489C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C1A242-4392-40BC-9DBB-B6B36179C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1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0E41CA3-8D92-1C4F-980D-0362C833D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BF8598-311B-8640-9212-C19431441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13AAA7-0FBC-AB4E-808B-650577A053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5C47C-3DDD-4168-A2CA-6BB569EC1DBF}" type="datetimeFigureOut">
              <a:rPr lang="es-CL" smtClean="0"/>
              <a:t>09-03-23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0EABB-8162-2C49-8AE9-C81B7DBAC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B21562-F758-B645-9D7B-BAE18886E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6C66-CE7D-49F9-91E1-02E5E62A1EE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525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201168"/>
            <a:ext cx="6309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UNIVERSIDAD DE SANTIAGO DE CHILE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Facultad de Ingeniería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Departamento de Ingeniería Geoespacial y Ambiental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Diseño de Bases de Geodatos (14504)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01568"/>
            <a:ext cx="9966960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CONSULTAS ESPACIALES Y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069080"/>
            <a:ext cx="8138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BBEEEE"/>
                </a:solidFill>
                <a:latin typeface="Calibri"/>
              </a:rPr>
              <a:t>“Responder al cliente con SQL espacial y comunicarlo con mapas”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64008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Profesor: Ignacio Yáñez Henríquez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Unidad 4 · Semanas 14–17 · 21 dic 2026 – 15 ene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1. Tres familias de consultas espaciales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10863072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76E"/>
                </a:solidFill>
                <a:latin typeface="Calibri"/>
              </a:rPr>
              <a:t>Base formal: relaciones topológicas de Egenhofer y Franzosa (1991) y matriz DE-9IM (Clementini et al., 1993).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20574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4248" y="222199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Predicados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7889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¿Se relacionan? Devuelven verdadero o falso: intersects, within, touches, dwithin.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3104" y="20574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05984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05984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81472" y="222199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Medidas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5984" y="27889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¿Cuánto? Devuelven números: área, longitud, distancia.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20327" y="2057400"/>
            <a:ext cx="3468624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03207" y="22585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3207" y="22585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8696" y="2221992"/>
            <a:ext cx="2645664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Constructores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3207" y="2788920"/>
            <a:ext cx="3102864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Crean geometrías nuevas: buffer, intersección, unión, envolvente.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2. Predicados espaciales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6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352"/>
                <a:gridCol w="2607137"/>
                <a:gridCol w="3910705"/>
                <a:gridCol w="2389875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Predicado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Significado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Pregunta de SENAPRED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ArcGIS Pro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ST_Intersects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Comparten algún punto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¿Qué vías cruzan el área quemada?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Intersect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ST_Within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A está dentro de B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¿Qué escuelas quedaron dentro?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Within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ST_Touches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Solo comparten el borde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¿Qué comunas limitan con Viña?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Boundary touches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ST_DWithin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A menos de d metros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¿Qué críticos están a menos de 2 km?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Within a distance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ST_Overlaps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Se superponen parcialmente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¿Hay comunas mal digitalizadas?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E3A40"/>
                          </a:solidFill>
                          <a:latin typeface="Calibri"/>
                        </a:rPr>
                        <a:t>Topología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3. Contención y proximidad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ST_Within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Establecimientos dentro del área vigente.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ST_DWithin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Usa el índice GiST; ST_Distance &lt; d no.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Control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3 dentro; Escuela Villa Alemana Norte a 1.300 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e.codigo, i.nombre,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round(ST_Distance(i.geom, a.geom)) AS dist_m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v_area_vigente 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evento_incendio e USING (id_evento)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infraestructura i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ON ST_DWithin(i.geom, a.geom, 2000)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JOIN tipo_infraestructura 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ON t.id_tipo = i.id_tipo AND t.critica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WHERE NOT ST_Intersects(i.geom, a.geom)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ORDER BY dist_m;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4. Join espacial: la geometría pone la FK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Spatial Join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Cuenta críticos por comuna según su ubicación.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Comparar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Con el conteo por FK de la U2: ¿por qué difiere?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Hallazgo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CESFAM Miraflores está declarado en otra comuna.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c.nombre,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count(i.id_infra) AS n_criticos_geom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comuna c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LEFT JOIN (infraestructura i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JOIN tipo_infraestructura 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ON t.id_tipo = i.id_tipo AND t.critica)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ON ST_Intersects(c.geom, i.geom)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GROUP BY c.nombre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ORDER BY n_criticos_geom DESC;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5. Vecino más cercano (KNN)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Operador &lt;-&gt;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Ordena por distancia usando el índice.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LATERAL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Una subconsulta por cada foco.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Equivale a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Near / Generate Near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e.codigo, b.nombre, round(b.dist) AS dist_m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evento_incendio 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CROSS JOIN LATERAL (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SELECT i.nombre,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     ST_Distance(i.geom, e.geom) AS dist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FROM infraestructura i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WHERE i.id_tipo = 4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ORDER BY i.geom &lt;-&gt; e.geom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LIMIT 1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) AS b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ORDER BY dist_m DESC;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Idea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828800"/>
            <a:ext cx="10863072" cy="3291840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9966960" cy="20116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7A7A"/>
                </a:solidFill>
                <a:latin typeface="Calibri"/>
              </a:rPr>
              <a:t>Toda consulta espacial responde a una decisión territorial.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99669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A676E"/>
                </a:solidFill>
                <a:latin typeface="Calibri"/>
              </a:rPr>
              <a:t>Antes de escribir SQL, formular la pregunta en el lenguaje del cliente.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6. Superficie quemada por comuna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463040"/>
            <a:ext cx="3931920" cy="4480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ST_Intersection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Recorta cada área con cada comuna.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ST_Union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Evita contar dos veces las superposiciones.</a:t>
            </a:r>
          </a:p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Control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Quilpué 2.123 ha · Viña 1.843 ha · Villa Alemana 959 ha · Valparaíso 565 ha.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40680" y="1417320"/>
            <a:ext cx="6748272" cy="4526280"/>
          </a:xfrm>
          <a:prstGeom prst="roundRect">
            <a:avLst>
              <a:gd name="adj" fmla="val 8000"/>
            </a:avLst>
          </a:prstGeom>
          <a:solidFill>
            <a:srgbClr val="1F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640080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WITH quemado AS (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SELECT c.cod_comuna,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  ST_Union(ST_Intersection(c.geom, a.geom)) AS geom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FROM comuna c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JOIN v_area_vigente a ON ST_Intersects(c.geom, a.geom)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GROUP BY c.cod_comuna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SELECT c.nombre,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round((ST_Area(q.geom) / 1e4)::numeric, 1) AS ha,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  round((100 * ST_Area(q.geom) / ST_Area(c.geom))::numeric, 2) AS pct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EF4F3"/>
                </a:solidFill>
                <a:latin typeface="Courier New"/>
              </a:rPr>
              <a:t>FROM quemado q JOIN comuna c USING (cod_comuna);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7. Planes de ejecución: ¿se usa el índice?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417320"/>
            <a:ext cx="5312664" cy="548640"/>
          </a:xfrm>
          <a:prstGeom prst="rect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417320"/>
            <a:ext cx="5312664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ST_Distance(p, e) &lt; 1000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1965960"/>
            <a:ext cx="5312664" cy="3977639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2103120"/>
            <a:ext cx="4937760" cy="3749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La función envuelve la columna: el índice no se puede usar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Plan: Parallel Seq Scan sobre 200.000 puntos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Tiempo medido en el laboratorio del curso: 548 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76288" y="1417320"/>
            <a:ext cx="5312664" cy="548640"/>
          </a:xfrm>
          <a:prstGeom prst="rect">
            <a:avLst/>
          </a:prstGeom>
          <a:solidFill>
            <a:srgbClr val="EA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1417320"/>
            <a:ext cx="5312664" cy="5486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ST_DWithin(p, e, 1000)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65960"/>
            <a:ext cx="5312664" cy="3977639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2103120"/>
            <a:ext cx="4937760" cy="3749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Agrega un filtro por caja envolvente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Plan: Bitmap Index Scan sobre el índice GiST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Tiempo medido en el laboratorio del curso: 0,76 ms</a:t>
            </a:r>
          </a:p>
          <a:p>
            <a:pPr algn="l" marL="228600" indent="-182880">
              <a:spcAft>
                <a:spcPts val="6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Verificar siempre con EXPLAIN ANALYZE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8. Calidad (ISO 19157-1), trazabilidad y respaldo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25880" y="1417320"/>
          <a:ext cx="10863071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2075"/>
                <a:gridCol w="706099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Qué verificar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Cómo</a:t>
                      </a:r>
                    </a:p>
                  </a:txBody>
                  <a:tcPr marL="73152" marR="73152" marT="36576" marB="36576">
                    <a:solidFill>
                      <a:srgbClr val="007A7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Geometrías válidas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SELECT count(*) … WHERE NOT ST_IsValid(geom) = 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SRID homogéneo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geometry_columns: un solo SRID por esquema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Consistencia atributo–geometría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Punto dentro de su comuna declarada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Procedencia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catalogo_capa completo (ISO 19115-1): fuente, fecha, escala, responsable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Respaldo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pg_dump -n riesgo -Fc  /  pg_restore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Exportación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2E3A40"/>
                          </a:solidFill>
                          <a:latin typeface="Calibri"/>
                        </a:rPr>
                        <a:t>ogr2ogr a GeoPackage o a la geodatabase</a:t>
                      </a:r>
                    </a:p>
                  </a:txBody>
                  <a:tcPr marL="73152" marR="73152" marT="36576" marB="36576">
                    <a:solidFill>
                      <a:srgbClr val="E8F7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9. Del dato al mapa en ArcGIS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371600"/>
            <a:ext cx="10863072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76E"/>
                </a:solidFill>
                <a:latin typeface="Calibri"/>
              </a:rPr>
              <a:t>El mapa llega al final, cuando la base ya está validada.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224028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24028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Conexión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30632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315468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New Database Connection a PostgreSQL.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00984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57015" y="224028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7015" y="224028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Capa de consulta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7015" y="30632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315468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Agregar v_exposicion_critica como query layer.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532120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88152" y="224028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8152" y="224028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Simbología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88152" y="30632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315468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Por nivel de exposición: dentro, &lt; 500 m, 500–2000 m.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763255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9288" y="224028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19288" y="224028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Composición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9288" y="30632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315468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Layout con leyenda, escala, fuente y fecha.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994392" y="2468880"/>
            <a:ext cx="219456" cy="237744"/>
          </a:xfrm>
          <a:prstGeom prst="rightArrow">
            <a:avLst/>
          </a:prstGeom>
          <a:solidFill>
            <a:srgbClr val="EA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50424" y="2240280"/>
            <a:ext cx="1938528" cy="685800"/>
          </a:xfrm>
          <a:prstGeom prst="roundRect">
            <a:avLst>
              <a:gd name="adj" fmla="val 8000"/>
            </a:avLst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50424" y="2240280"/>
            <a:ext cx="1938528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Publicación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50424" y="3063240"/>
            <a:ext cx="1938528" cy="237744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41863" y="3154680"/>
            <a:ext cx="1755648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Exportar PDF o compartir en ArcGIS Online.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10. Proyecto integrador: defensa (semana 17)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41732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1581912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Comunicación técnica · 25 %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4884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Explica el problema y la solución en lenguaje del cliente y del especialista.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71716" y="141732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54596" y="161848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4596" y="161848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0084" y="1581912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Demostración · 25 %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4596" y="214884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Reconstruye o consulta la base en vivo y muestra el mapa en ArcGIS Pro.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65760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08760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3822191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Dominio individual · 40 %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8912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Cada integrante responde sobre una parte que no presentó.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71716" y="3657600"/>
            <a:ext cx="5317236" cy="2011680"/>
          </a:xfrm>
          <a:prstGeom prst="roundRect">
            <a:avLst>
              <a:gd name="adj" fmla="val 8000"/>
            </a:avLst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54596" y="3858768"/>
            <a:ext cx="384048" cy="384048"/>
          </a:xfrm>
          <a:prstGeom prst="ellipse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4596" y="3858768"/>
            <a:ext cx="384048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0084" y="3822191"/>
            <a:ext cx="4494276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Tiempo y soporte · 10 %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4596" y="4389120"/>
            <a:ext cx="4951476" cy="1188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E3A40"/>
                </a:solidFill>
                <a:latin typeface="Calibri"/>
              </a:rPr>
              <a:t>15 minutos y diapositivas legibles.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25880" y="246888"/>
            <a:ext cx="10863072" cy="950976"/>
          </a:xfrm>
          <a:prstGeom prst="rect">
            <a:avLst/>
          </a:prstGeom>
          <a:solidFill>
            <a:srgbClr val="00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73352" y="347472"/>
            <a:ext cx="9966960" cy="7955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11. Para las semanas 14–17</a:t>
            </a:r>
          </a:p>
        </p:txBody>
      </p:sp>
      <p:sp>
        <p:nvSpPr>
          <p:cNvPr id="4" name="Rectangle 3"/>
          <p:cNvSpPr/>
          <p:nvPr/>
        </p:nvSpPr>
        <p:spPr>
          <a:xfrm>
            <a:off x="1325880" y="1417320"/>
            <a:ext cx="2103120" cy="4526280"/>
          </a:xfrm>
          <a:prstGeom prst="rect">
            <a:avLst/>
          </a:prstGeom>
          <a:solidFill>
            <a:srgbClr val="00A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926080"/>
            <a:ext cx="1920240" cy="1463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417320"/>
            <a:ext cx="8759952" cy="4526280"/>
          </a:xfrm>
          <a:prstGeom prst="rect">
            <a:avLst/>
          </a:prstGeom>
          <a:solidFill>
            <a:srgbClr val="E8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554480"/>
            <a:ext cx="8321040" cy="4297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Laboratorio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Sin lab nuevo: la práctica de SQL espacial cerró el 15 de diciembre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Guía U4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★ 4.2 y 4.6 (semana 11), 4.8 y 4.15 (semana 13); el resto, práctica optativa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Evaluación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Prueba individual integradora (semana 16, sin componente práctico nuevo)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Hito P4 (8 ene) · Informe final y defensa (11–15 ene)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7A7A"/>
                </a:solidFill>
                <a:latin typeface="Calibri"/>
              </a:rPr>
              <a:t>Lecturas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Egenhofer y Franzosa (1991)</a:t>
            </a:r>
          </a:p>
          <a:p>
            <a:pPr algn="l" marL="228600" indent="-182880">
              <a:spcAft>
                <a:spcPts val="400"/>
              </a:spcAft>
              <a:buChar char="•"/>
            </a:pPr>
            <a:r>
              <a:rPr sz="1400" b="0" i="0">
                <a:solidFill>
                  <a:srgbClr val="2E3A40"/>
                </a:solidFill>
                <a:latin typeface="Calibri"/>
              </a:rPr>
              <a:t>Obe y Hsu (2021), caps. 5–9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0" y="201168"/>
            <a:ext cx="6309360" cy="1234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UNIVERSIDAD DE SANTIAGO DE CHILE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Facultad de Ingeniería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Departamento de Ingeniería Geoespacial y Ambiental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Diseño de Bases de Geodatos (14504)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401568"/>
            <a:ext cx="9966960" cy="685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CONSULTAS ESPACIALES Y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4069080"/>
            <a:ext cx="8138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BBEEEE"/>
                </a:solidFill>
                <a:latin typeface="Calibri"/>
              </a:rPr>
              <a:t>“Responder al cliente con SQL espacial y comunicarlo con mapas”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49240"/>
            <a:ext cx="64008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Profesor: Ignacio Yáñez Henríquez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EEEE"/>
                </a:solidFill>
                <a:latin typeface="Calibri"/>
              </a:rPr>
              <a:t>Unidad 4 · Semanas 14–17 · 21 dic 2026 – 15 ene 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Macintosh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1_Tema de Office</vt:lpstr>
      <vt:lpstr>2_Tema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Rodriguez</dc:creator>
  <cp:lastModifiedBy>Daniel Rodriguez</cp:lastModifiedBy>
  <cp:revision>7</cp:revision>
  <dcterms:created xsi:type="dcterms:W3CDTF">2022-08-26T15:29:11Z</dcterms:created>
  <dcterms:modified xsi:type="dcterms:W3CDTF">2023-03-09T19:51:40Z</dcterms:modified>
</cp:coreProperties>
</file>