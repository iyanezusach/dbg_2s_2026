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</p:sldMasterIdLst>
  <p:sldIdLst>
    <p:sldId id="260" r:id="rId9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6" r:id="rId4"/>
    <p:sldId id="272" r:id="rId22"/>
    <p:sldId id="273" r:id="rId23"/>
    <p:sldId id="277" r:id="rId3"/>
    <p:sldId id="274" r:id="rId24"/>
    <p:sldId id="275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93"/>
    <p:restoredTop sz="94702"/>
  </p:normalViewPr>
  <p:slideViewPr>
    <p:cSldViewPr snapToGrid="0" snapToObjects="1">
      <p:cViewPr varScale="1">
        <p:scale>
          <a:sx n="204" d="100"/>
          <a:sy n="204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semana 6 se trabaja con el Lab autónomo A (implementar el registro académico); esta presentación cubre las semanas 7 a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por qué la nota es numeric(2,1) y no real: exactitud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se ve que una base relacional ya puede responder preguntas territoriales; lo que falta es el tipo de dato adecuado.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Nivel noción: se muestra y se lee, pero no entra en el Control 2 (Programa v2026-09-30).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 clave: la base ya respondía preguntas territoriales con dos números; con geometry la distancia la calcula PostGIS. En la U3 el mismo punto se proyecta a EPSG:32719.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7F881-7E7A-42A2-AB03-4BD409C99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87CF48-1E17-42FC-9912-62FC8C701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0DC62-5284-444C-ADA0-E33F1D94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C41D3-73BB-40CA-A2A6-A7B810C9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7C9B1-F270-4234-A2C8-B3F9574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226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9CBD0-F9A8-4F7C-A78D-FE553BE3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AEE33-0300-435E-A58D-1179A29E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E4DB8-5C37-473E-9CF3-F398156E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4AE8F-F369-4771-9FEC-EF42247F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1C747E-8B93-4D09-B302-F17624C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86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31033-3742-49CE-A9A2-C42BD60D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BF2FA-3B6D-40ED-8F22-4CE59FBE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931EC-EDD5-4196-9F0F-DC03EFE8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71CBDF-8031-4F53-9181-606BDF5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5D10E-7D4F-40E8-82F5-CEAB8A83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6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95294-4072-490D-A039-5D818BAE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00E41-75FC-49A6-8073-492BC29E6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E1D932-5A65-498C-AFFA-67FD471E8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2D37AE-A57E-446F-B245-B1F4B92B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725711-AE8C-4D43-8E8D-3F7FDFB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1DEDF7-CD02-49B8-886B-B4F14D92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72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8371-41DA-4FB9-9EAA-6587FBF5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01CC30-E837-49FE-9147-6F1FE2CF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115255-0D14-427D-9E50-B9018477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442614-286F-4437-9A74-0367ECF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C9F7DD-EB33-48AC-B40F-2790B5244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398B42-788C-426B-BC79-1C69A0A7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F5E8FE-5B69-450E-BDA4-BE7AB925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B5E24D-2EA5-45FA-9223-38A1AAD9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868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28E71-317B-4D96-9353-A39A49E9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4BD1B7-D5BE-4916-9029-9B72BFA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878411-3DD4-413F-A3BC-C0BF18B3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6537CA-DF42-44FD-AEE1-39D89D6C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75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FDC410-F9E2-42E1-B29F-D27075EF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14E991-545A-41DE-B216-60119D82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66BED-267C-4EBE-BBDE-F1A18281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408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7E7AD-0239-4D71-8522-DD60718C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DE8EE7-FEE1-43AB-9A99-2959550B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BD5AA3-D103-4A9F-BBDD-5D708449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7D2E7-3EC8-405E-9DAE-C14306EC4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4DDD23-5A21-4EAA-88C7-B889C2C7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035A4B-DC69-47ED-BD59-047D3D59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818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84379-0B94-4277-8EAA-756F239E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C329CD-10AE-4DCA-8856-D27A044DF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3C0D1-F85D-4DA9-BDDE-A63E3914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222B7E-BB18-4169-BD2E-BF5A2CE1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397AEE-F322-4769-8DD6-26D8E456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57039A-8640-4D2D-8ED7-F816216D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777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E1C0B-4227-42F9-9CDD-F7FBC05A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50B8B6-4996-4788-87C2-11064F30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8CD7E-9594-4BC1-9549-A4D70A37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6C718-751C-4BBD-B568-363D8A1C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4483B6-E473-4EA8-89F7-6D352594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352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A4AAE6-179E-4285-B8B6-212DBE5C4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CC598C-BD17-4123-B58B-168A82A8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F19BC-782F-4A3E-B7DF-D1BC4A5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7B50B-52CD-4B4C-ADA0-57EFE192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5A239-CB30-472D-914D-307F1D0F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8956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6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F9CF7-6F66-054D-98F8-0F234A10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E0B04-634D-C743-A2AC-995D81BE8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3C37CF-67D0-104D-BF32-63E5BF96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798C9-8676-0B41-92E3-05211563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8F2E5-26A5-0C45-B924-223486A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5463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8CDDC-2364-F646-BE5E-0C14EEDF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57612-F252-824C-8C6C-1B711BF4E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FE806-DCCA-0345-8849-5AB27C0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097E5-9B1C-B548-A703-4B5F6C3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9015F-5F06-7E45-8B6B-D402CA2A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2828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B47C-25AF-B349-B6C9-EF8FC21C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16E1D3-31DB-7D42-B45B-9C4E11CCC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303F42-98DC-6C40-95EC-D87824B4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9517-3F0B-EC4A-8EA8-34912021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95985-731E-2B4B-AC24-E51AF858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143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CF2FF-EDF9-0047-BE55-6B705A57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51CE6-72A7-7240-A0E3-ED880E0D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BC62D3-C6B9-164B-8A7F-0BE22F2D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16DD8-D249-EE47-A182-4FE53317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398FE-F199-804B-9110-2121E00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AB4A9-0403-6A40-A784-2B88654C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322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979E6-2584-7941-859F-CCDAA308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63F72D-0059-0240-AB3F-6BCE566B6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18A09E-7E2B-8E4C-A908-BA8C90314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F27A18-E047-0749-AF16-01534901A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8C5ED6-1D34-7047-AA50-45B701614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DB9A75-33FC-1941-BDDD-4219DC3C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91A54-B7CF-5A47-8DC3-59913657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8E158F-7CE7-104F-B3EE-DF171B7D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52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6555B-BC4B-9F47-B9A0-BF126194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005E2F-78D1-9941-95E0-DEDFDE2C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537C24-F204-B949-9958-53617293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55C051-F3AC-A841-AA92-C048A987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518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A687E6-1053-FD4F-B346-5B69CC5C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7E3E83-69B3-C946-B8D9-81C00F78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ABDB2-8FC3-E145-9173-C936CD3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879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32CF5-4000-1F41-B68B-1BFD5DB8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CC959-333A-6744-9A12-BC02AA71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B207A5-BF06-B64F-A6F8-83023455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044C3-70CA-C64E-B7DC-19C91DCD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E8870F-E31A-414D-989B-B9CA4A0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37A9CE-B793-E743-9195-E9395632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037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E9A90-C190-A048-88FF-DD36EC61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7E14FB-25C2-4341-BAC5-B31EBB129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00A6A-696B-7344-896D-598C1D578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29C7F6-1A69-F54E-9DBB-E549E66F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631E45-3928-124C-8F25-E5D7D546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F6EDFC-D0E8-3646-A0BB-EE83F78A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756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1B03E-04CD-3146-9323-359C477C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8B243C-0813-C54C-9416-8C518331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62910-29A6-324E-9955-315D6CB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82EB6-C024-7946-92DD-25A427FF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8027C5-2F21-D349-AEF6-5003F53C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387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C74D8E-BFF8-0D45-9225-1E92E9F90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44FDCE-B976-364A-A776-B8D03B783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374F2-9E5D-5D4A-880A-B66001FC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913ADA-CE51-D34D-84CA-461BB164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A22CB-A67E-7C4A-852C-656CA1BC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75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12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0C3137-72D4-4BE4-9F8B-299C1F72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A72AB-47CE-4F41-B378-05B8CAF8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C61EC6-802B-4783-ACA1-3C6524782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A8810-A4CE-4993-8840-D90A3489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1A242-4392-40BC-9DBB-B6B36179C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1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E41CA3-8D92-1C4F-980D-0362C833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F8598-311B-8640-9212-C1943144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3AAA7-0FBC-AB4E-808B-650577A05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0EABB-8162-2C49-8AE9-C81B7DBAC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21562-F758-B645-9D7B-BAE18886E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25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201168"/>
            <a:ext cx="6309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UNIVERSIDAD DE SANTIAGO DE CHILE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Facultad de Ingeniería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Departamento de Ingeniería Geoespacial y Ambiental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Diseño de Bases de Geodatos (14504)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01568"/>
            <a:ext cx="996696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IMPLEMENTACIÓN RELACIONAL Y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069080"/>
            <a:ext cx="813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BEEEE"/>
                </a:solidFill>
                <a:latin typeface="Calibri"/>
              </a:rPr>
              <a:t>“Del esquema lógico a PostgreSQL y PostGIS · registro académico y caso territorial”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6400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Profesor: Ignacio Yáñez Henríquez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Unidad 2 · Semanas 6–9 · 26 oct – 20 nov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1. SQL son cuatro lenguajes en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10863072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76E"/>
                </a:solidFill>
                <a:latin typeface="Calibri"/>
              </a:rPr>
              <a:t>Regla del curso: nada se crea con clics; todo queda en un script .sql versionado y reproducible (sql/01_caso_academico).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2057400"/>
            <a:ext cx="2544318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2221992"/>
            <a:ext cx="1721358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DDL · definir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788920"/>
            <a:ext cx="2178558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CREATE, ALTER, DROP: esquemas, tablas, dominios, restricciones, índices.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8798" y="2057400"/>
            <a:ext cx="2544318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81678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1678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7166" y="2221992"/>
            <a:ext cx="1721358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DML · manipular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1678" y="2788920"/>
            <a:ext cx="2178558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INSERT, UPDATE, DELETE y SELECT.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1716" y="2057400"/>
            <a:ext cx="2544318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4596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4596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0084" y="2221992"/>
            <a:ext cx="1721358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DCL · controlar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4596" y="2788920"/>
            <a:ext cx="2178558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GRANT y REVOKE: quién puede ver o cambiar cada objeto.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4634" y="2057400"/>
            <a:ext cx="2544318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7513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7513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3002" y="2221992"/>
            <a:ext cx="1721358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TCL · transacciones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7513" y="2788920"/>
            <a:ext cx="2178558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BEGIN, COMMIT, ROLLBACK, SAVEPOINT: todo o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2. Esquemas y dominios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Esquema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Agrupa los objetos del caso: academico.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Dominio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Tipo con regla propia, reutilizable en muchas columnas.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Paralelo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En la geodatabase: dominio codificado o de rango (U3).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CREATE SCHEMA academico;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SET search_path TO academico, public;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CREATE DOMAIN d_rut AS varchar(10)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CHECK (VALUE ~ '^[0-9]{7,8}-[0-9K]$');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CREATE DOMAIN d_nota AS numeric(2,1)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CHECK (VALUE BETWEEN 1.0 AND 7.0);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CREATE DOMAIN d_periodo AS char(6)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CHECK (VALUE ~ '^[0-9]{4}-[12]$');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3. Una tabla que se defiende sola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PK compuesta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Un estudiante, una sección por asignatura y período (RN-03).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FK compuesta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Apunta a la sección: entidad débil.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CHECK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El estado debe ser coherente con la nota.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CREATE TABLE inscripcion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rut_estudiante d_rut NOT NULL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               REFERENCES estudiante (rut),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cod_asig    varchar(6)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periodo     d_periodo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num_seccion smallint 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nota        d_nota,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estado      varchar(10) NOT NULL DEFAULT 'Inscrita',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PRIMARY KEY (rut_estudiante, cod_asig, periodo),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FOREIGN KEY (cod_asig, periodo, num_seccion)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  REFERENCES seccion,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CONSTRAINT ck_estado_nota CHECK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  (estado = 'Aprobada'  AND nota &gt;= 4.0) OR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  (estado = 'Reprobada' AND nota &lt;  4.0) OR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  (estado IN ('Inscrita','Retirada')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4F3"/>
                </a:solidFill>
                <a:latin typeface="Courier New"/>
              </a:rPr>
              <a:t>       AND nota IS NULL)));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4. Acciones referenciales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091"/>
                <a:gridCol w="2607137"/>
                <a:gridCol w="4127967"/>
                <a:gridCol w="238987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Efecto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 el registro académico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Geodatabase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RESTRICT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Impide borrar si hay hijos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No se borra un departamento con carreras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Relationship class simple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CASCADE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Borra también los hijos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Borrar una persona borra su fila de estudiante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Relationship class compuesta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SET 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Deja la FK en 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Si se elimina una sala, la sección queda sin sala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5. Orden de evaluación de un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10863072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76E"/>
                </a:solidFill>
                <a:latin typeface="Calibri"/>
              </a:rPr>
              <a:t>Se escribe SELECT primero pero se evalúa casi al final: un alias del SELECT no existe en el WHERE.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FROM / JOIN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Qué tablas y cómo se combinan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912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8516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516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516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660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Filtra filas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8840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444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444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GROUP 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444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588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Forma grupos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4768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HAVING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Filtra grupos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0696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6300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300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00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5444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Calcula columnas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36624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2228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2228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ORDER BY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2228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1372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Ordena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6. Agregación: rendimiento por asignatura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GROUP BY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Una fila por asignatura.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Funciones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count, avg, min y max ignoran los NULL.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Resultado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Período 2026-1, ya cerrado.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a.nombre,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count(i.nota)          AS n_notas,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round(avg(i.nota), 2)  AS promedio,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min(i.nota), max(i.nota)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inscripcion i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asignatura a USING (cod_asig)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WHERE i.periodo = '2026-1'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GROUP BY a.nombre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ORDER BY promedio DESC;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7. NULL significa “desconocido”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444"/>
                <a:gridCol w="2824398"/>
                <a:gridCol w="434522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Expresión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Consecuencia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NULL = 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NULL (no TRUE)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Usar IS NULL / IS NOT 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nota &gt;= 4.0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NULL si está en curso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El WHERE descarta las inscripciones en curso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count(*) vs count(nota)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Cuentan distinto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count(nota) omite las no calificadas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avg(nota)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Promedia solo las calificadas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Declarar el supuesto en el informe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COALESCE(nota::text, 'En curso')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Sustituye el 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Solo para presentar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8. LEFT JOIN: secciones y vacantes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INNER JOIN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Solo secciones con inscritos.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LEFT JOIN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Todas las secciones, aunque estén vacías.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Clave compuesta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La unión usa las tres columnas de la sección.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s.cod_asig, s.num_seccion, s.cupo,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count(i.rut_estudiante) AS inscritos,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s.cupo - count(i.rut_estudiante) AS vacantes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seccion 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LEFT JOIN inscripcion i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ON (i.cod_asig, i.periodo, i.num_seccion)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= (s.cod_asig, s.periodo, s.num_seccion)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WHERE s.periodo = '2026-2'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GROUP BY s.cod_asig, s.num_seccion, s.cupo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ORDER BY inscritos;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9. CTE (noción) y ventanas: promedio ponderado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WITH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Nombra el promedio ponderado por créditos.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PARTITION BY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Ranking dentro de cada carrera.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Lectura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Mismo resultado que un acta de avance curricular.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WITH ppa AS (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SELECT i.rut_estudiante,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round(sum(i.nota * a.creditos)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 / sum(a.creditos), 2) AS ppa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FROM inscripcion i JOIN asignatura a USING (cod_asig)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WHERE i.nota IS NOT NULL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GROUP BY i.rut_estudiante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e.cod_carrera, ppa.rut_estudiante, ppa.ppa,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rank() OVER (PARTITION BY e.cod_carrera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        ORDER BY ppa.ppa DESC) AS ranking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ppa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estudiante e ON e.rut = ppa.rut_estudiante;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10. Consultas que cruzan reglas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NOT EXISTS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Busca lo que falta: el prerrequisito aprobado.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Hallazgo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Cuatro inscripciones de 2026-2 no cumplen prerrequisitos (cinco faltas).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Desafío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Cadena completa de prerrequisitos con WITH RECURSIVE.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i.rut_estudiante, i.cod_asig,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pr.cod_prereq AS falta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inscripcion i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prerrequisito pr ON pr.cod_asig = i.cod_asig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WHERE i.periodo = '2026-2'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AND NOT EXISTS (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SELECT 1 FROM inscripcion ap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WHERE ap.rut_estudiante = i.rut_estudiante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AND ap.cod_asig = pr.cod_prereq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AND ap.estado = 'Aprobada');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11. La ubicación entra como atributo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Dónde vive cada quien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El campus, los edificios y los domicilios guardan dirección, comuna y coordenadas.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Sin geometría todavía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Latitud y longitud son dos columnas numeric con su dominio.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Control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Puente Alto 20,5 km · Estación Central 3,0 km del campus.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p.apellidos, c.nombre AS comuna,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km_haversine(d.latitud, d.longitud,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             ca.latitud, ca.longitud)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  AS km_al_campus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estudiante 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persona   p ON p.rut = e.rut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domicilio d ON d.rut = e.rut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comuna    c ON c.cod_comuna = d.cod_comuna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CROSS JOIN campus ca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WHERE ca.cod_campus = 'CEC'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ORDER BY km_al_campus DESC;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-- Semana 7: ST_Distance(d.geom::geography,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--   ca.geom::geography) (siguiente diapositiva)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13. Vistas, transacciones y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Vistas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v_acta muestra período, asignatura, estudiante, nota y estado: el nivel externo de ANSI/SPARC.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3104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05984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5984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1472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Transacciones ACID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5984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Inscribir y descontar cupo ocurre completo o no ocurre. BEGIN … COMMIT o ROLLBACK.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0327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03207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207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8696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Roles y privilegios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3207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rol_consulta solo ve la vista; rol_secretaria inscribe. Mínimo privilegio necesario.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14. Importar sin romper la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CSV de origen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Planilla de admisión o de otra facultad.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00984" y="205740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57015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5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Tabla de paso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5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\copy stg_… FROM 'archivo.csv' CSV HEADER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32120" y="205740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88152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Validación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88152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RUT mal formados, carreras inexistentes, duplicados.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63255" y="205740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9288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Inserción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INSERT INTO … SELECT solo de filas válidas.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94392" y="205740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50424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0424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Registro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50424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41863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Fuente, fecha y rechazos en DECISIONES.md.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16. Para las semanas 6–9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417320"/>
            <a:ext cx="2103120" cy="4526280"/>
          </a:xfrm>
          <a:prstGeom prst="rect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926080"/>
            <a:ext cx="1920240" cy="1463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17320"/>
            <a:ext cx="8759952" cy="4526280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832104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Laboratorio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Lab A (semana 6, autónomo): implementar el registro académico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Labs 7 y 8: carga, validación y consultas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Guía U2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Ejercicios 2.1–2.25; la ubicación pasa a geometría en la semana 7 (2.21–2.25)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Proyecto y evaluación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Hito P2 (20 nov): esquema con una capa espacial en PostGIS y banco de consultas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Control 2 (semana 9): SQL relacional y primeras consultas con geometría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Lecturas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Silberschatz et al., caps. 3–5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Documentación oficial de PostgreSQL 16 y manual de PostGIS 3.4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201168"/>
            <a:ext cx="6309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UNIVERSIDAD DE SANTIAGO DE CHILE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Facultad de Ingeniería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Departamento de Ingeniería Geoespacial y Ambiental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Diseño de Bases de Geodatos (14504)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01568"/>
            <a:ext cx="996696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IMPLEMENTACIÓN RELACIONAL Y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069080"/>
            <a:ext cx="813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BEEEE"/>
                </a:solidFill>
                <a:latin typeface="Calibri"/>
              </a:rPr>
              <a:t>“Del esquema lógico a PostgreSQL y PostGIS · registro académico y caso territorial”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6400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Profesor: Ignacio Yáñez Henríquez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Unidad 2 · Semanas 6–9 · 26 oct – 20 nov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12. De latitud y longitud a geometría (semana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CREATE EXTENSION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PostGIS quedó instalado en la semana 5, junto con PostgreSQL.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Orden x, y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ST_MakePoint recibe primero la longitud y después la latitud.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Control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La distancia sobre geography y km_haversine difieren menos de 0,5 %.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CREATE EXTENSION IF NOT EXISTS postgis;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ALTER TABLE domicilio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ADD COLUMN geom geometry(Point, 4326);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UPDATE domicilio SET geom =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ST_SetSRID(ST_MakePoint(longitud, latitud), 4326);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-- lo mismo para campus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p.apellidos,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round((ST_Distance(d.geom::geography,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ca.geom::geography) / 1000)::numeric, 1) AS km,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round(km_haversine(d.latitud, d.longitud,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ca.latitud, ca.longitud)::numeric, 1) AS km_hav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domicilio 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persona p ON p.rut = d.rut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CROSS JOIN campus ca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WHERE ca.cod_campus = 'CEC'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ORDER BY km DESC;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15. Semanas 8–9: entra el caso territorial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Semana 8 · relacional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i01 e i02: las mismas consultas de la U2 sobre comunas, infraestructura y eventos.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3104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05984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5984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1472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Semana 9 · espacial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5984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i03_espacial.sql: tipos de geometría, SRID y validez (Guía U3 ★ 3.3, 3.7 y 3.8).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0327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03207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207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8696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Su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3207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Hito P2: al menos una capa espacial del proyecto cargada en PostGIS.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Macintosh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1_Tema de Office</vt:lpstr>
      <vt:lpstr>2_Tema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Rodriguez</dc:creator>
  <cp:lastModifiedBy>Daniel Rodriguez</cp:lastModifiedBy>
  <cp:revision>7</cp:revision>
  <dcterms:created xsi:type="dcterms:W3CDTF">2022-08-26T15:29:11Z</dcterms:created>
  <dcterms:modified xsi:type="dcterms:W3CDTF">2023-03-09T19:51:40Z</dcterms:modified>
</cp:coreProperties>
</file>