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Lst>
  <p:notesMasterIdLst>
    <p:notesMasterId r:id="rId20"/>
  </p:notesMasterIdLst>
  <p:sldIdLst>
    <p:sldId id="260" r:id="rId3"/>
    <p:sldId id="261" r:id="rId4"/>
    <p:sldId id="276" r:id="rId5"/>
    <p:sldId id="262" r:id="rId6"/>
    <p:sldId id="263" r:id="rId7"/>
    <p:sldId id="264" r:id="rId8"/>
    <p:sldId id="265" r:id="rId9"/>
    <p:sldId id="278" r:id="rId26"/>
    <p:sldId id="266" r:id="rId10"/>
    <p:sldId id="279" r:id="rId27"/>
    <p:sldId id="267" r:id="rId11"/>
    <p:sldId id="268" r:id="rId12"/>
    <p:sldId id="280" r:id="rId28"/>
    <p:sldId id="281" r:id="rId29"/>
    <p:sldId id="282" r:id="rId30"/>
    <p:sldId id="269" r:id="rId13"/>
    <p:sldId id="283" r:id="rId31"/>
    <p:sldId id="284" r:id="rId32"/>
    <p:sldId id="285" r:id="rId33"/>
    <p:sldId id="286" r:id="rId34"/>
    <p:sldId id="287" r:id="rId35"/>
    <p:sldId id="288" r:id="rId36"/>
    <p:sldId id="289" r:id="rId37"/>
    <p:sldId id="270" r:id="rId14"/>
    <p:sldId id="271" r:id="rId15"/>
    <p:sldId id="277" r:id="rId25"/>
    <p:sldId id="272" r:id="rId16"/>
    <p:sldId id="273" r:id="rId17"/>
    <p:sldId id="275" r:id="rId18"/>
    <p:sldId id="274" r:id="rId1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93"/>
    <p:restoredTop sz="94702"/>
  </p:normalViewPr>
  <p:slideViewPr>
    <p:cSldViewPr snapToGrid="0" snapToObjects="1">
      <p:cViewPr varScale="1">
        <p:scale>
          <a:sx n="85" d="100"/>
          <a:sy n="85" d="100"/>
        </p:scale>
        <p:origin x="936"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6.xml"/><Relationship Id="rId26" Type="http://schemas.openxmlformats.org/officeDocument/2006/relationships/slide" Target="slides/slide8.xml"/><Relationship Id="rId27" Type="http://schemas.openxmlformats.org/officeDocument/2006/relationships/slide" Target="slides/slide1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091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U1 y U2 se aprende con un caso que todos conocen: el registro académico. Cada equipo transfiere lo aprendido a su proyecto territorial.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p/>
        </p:txBody>
      </p:sp>
      <p:sp>
        <p:nvSpPr>
          <p:cNvPr id="3" name="Notes Placeholder 2"/>
          <p:cNvSpPr>
            <a:spLocks noGrp="1"/>
          </p:cNvSpPr>
          <p:nvPr>
            <p:ph type="body" sz="quarter" idx="3"/>
          </p:nvPr>
        </p:nvSpPr>
        <p:spPr/>
        <p:txBody>
          <a:bodyPr/>
          <a:lstStyle/>
          <a:p>
            <a:r>
              <a:t>Leer cada relación en ambos sentidos. Destacar la entidad débil SECCIÓN, la relación N:M con atributos INSCRIBE y la relación recursiva de prerrequisitos.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Solapada: un estudiante de magíster puede ser profesor por horas. Total: toda persona registrada es estudiante, profesor o ambos.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Abrir con la pregunta de entrada y dejar las respuestas a la vista. La sesión integra cátedra y taller: cada concepto se define con su fuente, se ilustra con el caso y se practica en el taller final.</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Pedir a los estudiantes que identifiquen dominio, grado y una tupla en la tabla inscripcion del caso. La confusión entre las dos «cardinalidades» es frecuente en controles.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Leer cada relación en ambos sentidos en voz alta. Preguntar: ¿la participación de CARRERA en PERTENECE es total o parcial según el relato?</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El orden de los pasos importa: las entidades débiles (paso 2) necesitan que exista antes la PK del dueño (paso 1). Insistir en que cada decisión del taller se justifique citando el paso.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Resolver en la pizarra antes de mostrar el resultado. Preguntar por qué num_seccion es parte de la FK pero no de la PK.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Enfatizar que el tipo restringe las operaciones posibles. La lógica de tres valores se retoma en la Unidad 2 al consultar con NULL.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Antes de mostrar cada tarjeta, preguntar al curso qué tipo usaría. Estos cuatro criterios son los que se exigen en la parte A del taller.</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Pedir que verifiquen la irreductibilidad de {rut, nombres}: si se quita nombres, sigue identificando, luego no es candidata. Retomar la pregunta de entrada con la fila de clave foránea.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Cerrar la pregunta de entrada: la carrera inexistente se rechaza con una FK hacia la tabla carrera (integridad referencial).</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Recorrer las parejas durante la parte B y pedir que nombren el paso del algoritmo que aplican. Corrección colectiva de una pareja al azar.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Recoger el ticket de salida: sirve para decidir qué reforzar en la revisión del Lab C de la semana 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7F881-7E7A-42A2-AB03-4BD409C996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587CF48-1E17-42FC-9912-62FC8C7010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730DC62-5284-444C-ADA0-E33F1D94A938}"/>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68DC41D3-73BB-40CA-A2A6-A7B810C9588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27C9B1-F270-4234-A2C8-B3F957488B51}"/>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67226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9CBD0-F9A8-4F7C-A78D-FE553BE33677}"/>
              </a:ext>
            </a:extLst>
          </p:cNvPr>
          <p:cNvSpPr>
            <a:spLocks noGrp="1"/>
          </p:cNvSpPr>
          <p:nvPr>
            <p:ph type="title"/>
          </p:nvPr>
        </p:nvSpPr>
        <p:spPr/>
        <p:txBody>
          <a:bodyPr/>
          <a:lstStyle/>
          <a:p>
            <a:r>
              <a:rPr lang="es-ES" dirty="0"/>
              <a:t>Haga clic para modificar el estilo de título del patrón</a:t>
            </a:r>
            <a:endParaRPr lang="es-CL" dirty="0"/>
          </a:p>
        </p:txBody>
      </p:sp>
      <p:sp>
        <p:nvSpPr>
          <p:cNvPr id="3" name="Marcador de contenido 2">
            <a:extLst>
              <a:ext uri="{FF2B5EF4-FFF2-40B4-BE49-F238E27FC236}">
                <a16:creationId xmlns:a16="http://schemas.microsoft.com/office/drawing/2014/main" id="{1F8AEE33-0300-435E-A58D-1179A29E8D90}"/>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97E4DB8-5C37-473E-9CF3-F398156E0252}"/>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5F94AE8F-F369-4771-9FEC-EF42247F3D3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41C747E-8B93-4D09-B302-F17624C3E23C}"/>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71860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231033-3742-49CE-A9A2-C42BD60D610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FA6BF2FA-3B6D-40ED-8F22-4CE59FBE54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DF931EC-EDD5-4196-9F0F-DC03EFE8C669}"/>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1071CBDF-8031-4F53-9181-606BDF55AB9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C15D10E-7D4F-40E8-82F5-CEAB8A834E52}"/>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988639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95294-4072-490D-A039-5D818BAEAAB7}"/>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0000E41-75FC-49A6-8073-492BC29E6264}"/>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D4E1D932-5A65-498C-AFFA-67FD471E801D}"/>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E2D37AE-A57E-446F-B245-B1F4B92BFFE8}"/>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E1725711-AE8C-4D43-8E8D-3F7FDFBAD3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B1DEDF7-CD02-49B8-886B-B4F14D92CF3D}"/>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951722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8D8371-41DA-4FB9-9EAA-6587FBF53B5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F501CC30-E837-49FE-9147-6F1FE2CFBB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8B115255-0D14-427D-9E50-B901847735C3}"/>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AE442614-286F-4437-9A74-0367ECFF6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59C9F7DD-EB33-48AC-B40F-2790B52446F5}"/>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2E398B42-788C-426B-BC79-1C69A0A776F5}"/>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8" name="Marcador de pie de página 7">
            <a:extLst>
              <a:ext uri="{FF2B5EF4-FFF2-40B4-BE49-F238E27FC236}">
                <a16:creationId xmlns:a16="http://schemas.microsoft.com/office/drawing/2014/main" id="{79F5E8FE-5B69-450E-BDA4-BE7AB925B1C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A9B5E24D-2EA5-45FA-9223-38A1AAD9243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51868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828E71-317B-4D96-9353-A39A49E923A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984BD1B7-D5BE-4916-9029-9B72BFAB9F8F}"/>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4" name="Marcador de pie de página 3">
            <a:extLst>
              <a:ext uri="{FF2B5EF4-FFF2-40B4-BE49-F238E27FC236}">
                <a16:creationId xmlns:a16="http://schemas.microsoft.com/office/drawing/2014/main" id="{88878411-3DD4-413F-A3BC-C0BF18B31BB7}"/>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9E6537CA-DF42-44FD-AEE1-39D89D6C4823}"/>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855754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7FDC410-F9E2-42E1-B29F-D27075EFFE65}"/>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3" name="Marcador de pie de página 2">
            <a:extLst>
              <a:ext uri="{FF2B5EF4-FFF2-40B4-BE49-F238E27FC236}">
                <a16:creationId xmlns:a16="http://schemas.microsoft.com/office/drawing/2014/main" id="{CA14E991-545A-41DE-B216-60119D82E925}"/>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CE666BED-267C-4EBE-BBDE-F1A1828130E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684087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7E7AD-0239-4D71-8522-DD60718C9C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BDE8EE7-FEE1-43AB-9A99-2959550B7B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7DBD5AA3-D103-4A9F-BBDD-5D7084492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5C27D2E7-3EC8-405E-9DAE-C14306EC4196}"/>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6F4DDD23-5A21-4EAA-88C7-B889C2C79DD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5035A4B-DC69-47ED-BD59-047D3D59B534}"/>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878181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784379-0B94-4277-8EAA-756F239E7A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C0C329CD-10AE-4DCA-8856-D27A044DF4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8C03C0D1-F85D-4DA9-BDDE-A63E39145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222B7E-BB18-4169-BD2E-BF5A2CE1FD04}"/>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CE397AEE-F322-4769-8DD6-26D8E4560FF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757039A-8640-4D2D-8ED7-F816216D544F}"/>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411777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9E1C0B-4227-42F9-9CDD-F7FBC05A392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950B8B6-4996-4788-87C2-11064F30CFB4}"/>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2B8CD7E-9594-4BC1-9549-A4D70A37EA65}"/>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44F6C718-751C-4BBD-B568-363D8A1C0F5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4483B6-E473-4EA8-89F7-6D352594510A}"/>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58352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AA4AAE6-179E-4285-B8B6-212DBE5C435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7CC598C-BD17-4123-B58B-168A82A8B719}"/>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E1F19BC-782F-4A3E-B7DF-D1BC4A510BDA}"/>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40F7B50B-52CD-4B4C-ADA0-57EFE19289F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7A5A239-CB30-472D-914D-307F1D0FF413}"/>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4068956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451"/>
            <a:ext cx="12191998" cy="6912901"/>
          </a:xfrm>
          <a:prstGeom prst="rect">
            <a:avLst/>
          </a:prstGeom>
        </p:spPr>
      </p:pic>
    </p:spTree>
    <p:extLst>
      <p:ext uri="{BB962C8B-B14F-4D97-AF65-F5344CB8AC3E}">
        <p14:creationId xmlns:p14="http://schemas.microsoft.com/office/powerpoint/2010/main" val="1491346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DF9CF7-6F66-054D-98F8-0F234A10911E}"/>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674E0B04-634D-C743-A2AC-995D81BE8D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A53C37CF-67D0-104D-BF32-63E5BF969283}"/>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5D9798C9-8676-0B41-92E3-05211563F90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A08F2E5-26A5-0C45-B924-223486A7ED2E}"/>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065463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18CDDC-2364-F646-BE5E-0C14EEDFA1E1}"/>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C7B57612-F252-824C-8C6C-1B711BF4EEF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F19FE806-DCCA-0345-8849-5AB27C0519E3}"/>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528097E5-9B1C-B548-A703-4B5F6C3351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889015F-5F06-7E45-8B6B-D402CA2AF838}"/>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32282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34B47C-25AF-B349-B6C9-EF8FC21C4B3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EE16E1D3-31DB-7D42-B45B-9C4E11CCC2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C303F42-98DC-6C40-95EC-D87824B48E14}"/>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462B9517-3F0B-EC4A-8EA8-34912021CEA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8C95985-731E-2B4B-AC24-E51AF8585670}"/>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721435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ECF2FF-EDF9-0047-BE55-6B705A57AFB2}"/>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AFA51CE6-72A7-7240-A0E3-ED880E0D3B1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1EBC62D3-C6B9-164B-8A7F-0BE22F2DB69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96116DD8-D249-EE47-A182-4FE53317D777}"/>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881398FE-F199-804B-9110-2121E0066D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F48AB4A9-0403-6A40-A784-2B88654CBCA7}"/>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191322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979E6-2584-7941-859F-CCDAA3084F28}"/>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EF63F72D-0059-0240-AB3F-6BCE566B63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E918A09E-7E2B-8E4C-A908-BA8C90314F0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98F27A18-E047-0749-AF16-01534901A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C8C5ED6-1D34-7047-AA50-45B7016149F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F9DB9A75-33FC-1941-BDDD-4219DC3C9BE0}"/>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8" name="Marcador de pie de página 7">
            <a:extLst>
              <a:ext uri="{FF2B5EF4-FFF2-40B4-BE49-F238E27FC236}">
                <a16:creationId xmlns:a16="http://schemas.microsoft.com/office/drawing/2014/main" id="{7B091A54-B7CF-5A47-8DC3-59913657895D}"/>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528E158F-7CE7-104F-B3EE-DF171B7DDDA5}"/>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875528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C6555B-BC4B-9F47-B9A0-BF126194178B}"/>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85005E2F-78D1-9941-95E0-DEDFDE2CAFEF}"/>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4" name="Marcador de pie de página 3">
            <a:extLst>
              <a:ext uri="{FF2B5EF4-FFF2-40B4-BE49-F238E27FC236}">
                <a16:creationId xmlns:a16="http://schemas.microsoft.com/office/drawing/2014/main" id="{EA537C24-F204-B949-9958-536172934D10}"/>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D255C051-F3AC-A841-AA92-C048A9873378}"/>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993518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CA687E6-1053-FD4F-B346-5B69CC5C7359}"/>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3" name="Marcador de pie de página 2">
            <a:extLst>
              <a:ext uri="{FF2B5EF4-FFF2-40B4-BE49-F238E27FC236}">
                <a16:creationId xmlns:a16="http://schemas.microsoft.com/office/drawing/2014/main" id="{C67E3E83-69B3-C946-B8D9-81C00F78C0DE}"/>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27ABDB2-8FC3-E145-9173-C936CD342BA0}"/>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6618793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832CF5-4000-1F41-B68B-1BFD5DB8B4E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F6ACC959-333A-6744-9A12-BC02AA713A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E5B207A5-BF06-B64F-A6F8-83023455F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AA044C3-70CA-C64E-B7DC-19C91DCD6C20}"/>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F1E8870F-E31A-414D-989B-B9CA4A0C2AF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B37A9CE-B793-E743-9195-E939563260E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6180375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E9A90-C190-A048-88FF-DD36EC613D8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177E14FB-25C2-4341-BAC5-B31EBB1297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BF900A6A-696B-7344-896D-598C1D578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529C7F6-1A69-F54E-9DBB-E549E66F911D}"/>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6" name="Marcador de pie de página 5">
            <a:extLst>
              <a:ext uri="{FF2B5EF4-FFF2-40B4-BE49-F238E27FC236}">
                <a16:creationId xmlns:a16="http://schemas.microsoft.com/office/drawing/2014/main" id="{E9631E45-3928-124C-8F25-E5D7D546DA8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1F6EDFC-D0E8-3646-A0BB-EE83F78A1AA5}"/>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7917560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31B03E-04CD-3146-9323-359C477C350C}"/>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8E8B243C-0813-C54C-9416-8C5183312C65}"/>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8A462910-29A6-324E-9955-315D6CBE470A}"/>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4B682EB6-C024-7946-92DD-25A427FF73B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68027C5-2F21-D349-AEF6-5003F53CAB34}"/>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775387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3C74D8E-BFF8-0D45-9225-1E92E9F901A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2D44FDCE-B976-364A-A776-B8D03B783457}"/>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0AC374F2-9E5D-5D4A-880A-B66001FC72CF}"/>
              </a:ext>
            </a:extLst>
          </p:cNvPr>
          <p:cNvSpPr>
            <a:spLocks noGrp="1"/>
          </p:cNvSpPr>
          <p:nvPr>
            <p:ph type="dt" sz="half" idx="10"/>
          </p:nvPr>
        </p:nvSpPr>
        <p:spPr/>
        <p:txBody>
          <a:body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DE913ADA-CE51-D34D-84CA-461BB1646D8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44A22CB-A67E-7C4A-852C-656CA1BC58A7}"/>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964758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451"/>
            <a:ext cx="12191998" cy="6912901"/>
          </a:xfrm>
          <a:prstGeom prst="rect">
            <a:avLst/>
          </a:prstGeom>
        </p:spPr>
      </p:pic>
    </p:spTree>
    <p:extLst>
      <p:ext uri="{BB962C8B-B14F-4D97-AF65-F5344CB8AC3E}">
        <p14:creationId xmlns:p14="http://schemas.microsoft.com/office/powerpoint/2010/main" val="23655912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C0C3137-72D4-4BE4-9F8B-299C1F7219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15A72AB-47CE-4F41-B378-05B8CAF839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EC61EC6-802B-4783-ACA1-3C6524782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A08A8810-A4CE-4993-8840-D90A3489C4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BC1A242-4392-40BC-9DBB-B6B36179C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16C66-CE7D-49F9-91E1-02E5E62A1EEA}" type="slidenum">
              <a:rPr lang="es-CL" smtClean="0"/>
              <a:t>‹Nº›</a:t>
            </a:fld>
            <a:endParaRPr lang="es-CL"/>
          </a:p>
        </p:txBody>
      </p:sp>
    </p:spTree>
    <p:extLst>
      <p:ext uri="{BB962C8B-B14F-4D97-AF65-F5344CB8AC3E}">
        <p14:creationId xmlns:p14="http://schemas.microsoft.com/office/powerpoint/2010/main" val="2190414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0E41CA3-8D92-1C4F-980D-0362C833D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49BF8598-311B-8640-9212-C19431441D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1113AAA7-0FBC-AB4E-808B-650577A05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15C47C-3DDD-4168-A2CA-6BB569EC1DBF}" type="datetimeFigureOut">
              <a:rPr lang="es-CL" smtClean="0"/>
              <a:t>23-09-2026</a:t>
            </a:fld>
            <a:endParaRPr lang="es-CL"/>
          </a:p>
        </p:txBody>
      </p:sp>
      <p:sp>
        <p:nvSpPr>
          <p:cNvPr id="5" name="Marcador de pie de página 4">
            <a:extLst>
              <a:ext uri="{FF2B5EF4-FFF2-40B4-BE49-F238E27FC236}">
                <a16:creationId xmlns:a16="http://schemas.microsoft.com/office/drawing/2014/main" id="{9E70EABB-8162-2C49-8AE9-C81B7DBACD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EB21562-F758-B645-9D7B-BAE18886E2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16C66-CE7D-49F9-91E1-02E5E62A1EEA}" type="slidenum">
              <a:rPr lang="es-CL" smtClean="0"/>
              <a:t>‹Nº›</a:t>
            </a:fld>
            <a:endParaRPr lang="es-CL"/>
          </a:p>
        </p:txBody>
      </p:sp>
    </p:spTree>
    <p:extLst>
      <p:ext uri="{BB962C8B-B14F-4D97-AF65-F5344CB8AC3E}">
        <p14:creationId xmlns:p14="http://schemas.microsoft.com/office/powerpoint/2010/main" val="343525713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926080" y="201168"/>
            <a:ext cx="6309360" cy="1234440"/>
          </a:xfrm>
          <a:prstGeom prst="rect">
            <a:avLst/>
          </a:prstGeom>
          <a:noFill/>
        </p:spPr>
        <p:txBody>
          <a:bodyPr wrap="square" lIns="73152" tIns="36576" rIns="73152" bIns="36576" anchor="t">
            <a:spAutoFit/>
          </a:bodyPr>
          <a:lstStyle/>
          <a:p>
            <a:pPr algn="ctr">
              <a:spcAft>
                <a:spcPts val="0"/>
              </a:spcAft>
            </a:pPr>
            <a:r>
              <a:rPr sz="1500" b="1" i="0">
                <a:solidFill>
                  <a:srgbClr val="FFFFFF"/>
                </a:solidFill>
                <a:latin typeface="Calibri"/>
              </a:rPr>
              <a:t>UNIVERSIDAD DE SANTIAGO DE CHILE</a:t>
            </a:r>
          </a:p>
          <a:p>
            <a:pPr algn="ctr">
              <a:spcAft>
                <a:spcPts val="0"/>
              </a:spcAft>
            </a:pPr>
            <a:r>
              <a:rPr sz="1500" b="1" i="0">
                <a:solidFill>
                  <a:srgbClr val="FFFFFF"/>
                </a:solidFill>
                <a:latin typeface="Calibri"/>
              </a:rPr>
              <a:t>Facultad de Ingeniería</a:t>
            </a:r>
          </a:p>
          <a:p>
            <a:pPr algn="ctr">
              <a:spcAft>
                <a:spcPts val="0"/>
              </a:spcAft>
            </a:pPr>
            <a:r>
              <a:rPr sz="1500" b="1" i="0">
                <a:solidFill>
                  <a:srgbClr val="FFFFFF"/>
                </a:solidFill>
                <a:latin typeface="Calibri"/>
              </a:rPr>
              <a:t>Departamento de Ingeniería Geoespacial y Ambiental</a:t>
            </a:r>
          </a:p>
          <a:p>
            <a:pPr algn="ctr">
              <a:spcAft>
                <a:spcPts val="0"/>
              </a:spcAft>
            </a:pPr>
            <a:r>
              <a:rPr sz="1500" b="1" i="0">
                <a:solidFill>
                  <a:srgbClr val="FFFFFF"/>
                </a:solidFill>
                <a:latin typeface="Calibri"/>
              </a:rPr>
              <a:t>Diseño de Bases de Geodatos (14504)</a:t>
            </a:r>
          </a:p>
        </p:txBody>
      </p:sp>
      <p:sp>
        <p:nvSpPr>
          <p:cNvPr id="3" name="TextBox 2"/>
          <p:cNvSpPr txBox="1"/>
          <p:nvPr/>
        </p:nvSpPr>
        <p:spPr>
          <a:xfrm>
            <a:off x="1097280" y="3401568"/>
            <a:ext cx="9966960" cy="685800"/>
          </a:xfrm>
          <a:prstGeom prst="rect">
            <a:avLst/>
          </a:prstGeom>
          <a:noFill/>
        </p:spPr>
        <p:txBody>
          <a:bodyPr wrap="square" lIns="73152" tIns="36576" rIns="73152" bIns="36576" anchor="t">
            <a:spAutoFit/>
          </a:bodyPr>
          <a:lstStyle/>
          <a:p>
            <a:pPr algn="ctr">
              <a:spcAft>
                <a:spcPts val="600"/>
              </a:spcAft>
            </a:pPr>
            <a:r>
              <a:rPr sz="3600" b="1" i="0">
                <a:solidFill>
                  <a:srgbClr val="FFFFFF"/>
                </a:solidFill>
                <a:latin typeface="Calibri"/>
              </a:rPr>
              <a:t>DISEÑO CONCEPTUAL Y LÓGICO</a:t>
            </a:r>
          </a:p>
        </p:txBody>
      </p:sp>
      <p:sp>
        <p:nvSpPr>
          <p:cNvPr id="5" name="TextBox 4"/>
          <p:cNvSpPr txBox="1"/>
          <p:nvPr/>
        </p:nvSpPr>
        <p:spPr>
          <a:xfrm>
            <a:off x="548640" y="5349240"/>
            <a:ext cx="6400800" cy="822960"/>
          </a:xfrm>
          <a:prstGeom prst="rect">
            <a:avLst/>
          </a:prstGeom>
          <a:noFill/>
        </p:spPr>
        <p:txBody>
          <a:bodyPr wrap="square" lIns="73152" tIns="36576" rIns="73152" bIns="36576" anchor="t">
            <a:spAutoFit/>
          </a:bodyPr>
          <a:lstStyle/>
          <a:p>
            <a:pPr algn="l">
              <a:spcAft>
                <a:spcPts val="0"/>
              </a:spcAft>
            </a:pPr>
            <a:r>
              <a:rPr sz="1400" b="0" i="0">
                <a:solidFill>
                  <a:srgbClr val="BBEEEE"/>
                </a:solidFill>
                <a:latin typeface="Calibri"/>
              </a:rPr>
              <a:t>Profesor: Ignacio Yáñez Henríquez</a:t>
            </a:r>
          </a:p>
          <a:p>
            <a:pPr algn="l">
              <a:spcAft>
                <a:spcPts val="0"/>
              </a:spcAft>
            </a:pPr>
            <a:r>
              <a:rPr sz="1400" b="0" i="0">
                <a:solidFill>
                  <a:srgbClr val="BBEEEE"/>
                </a:solidFill>
                <a:latin typeface="Calibri"/>
              </a:rPr>
              <a:t>Unidad 1 · Semanas 1–5 · 21 sep – 23 oct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 Objetivos de la unidad</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Unidad 1</a:t>
            </a:r>
          </a:p>
          <a:p>
            <a:pPr algn="ctr">
              <a:spcAft>
                <a:spcPts val="600"/>
              </a:spcAft>
            </a:pPr>
            <a:r>
              <a:rPr sz="1400" b="0" i="0">
                <a:solidFill>
                  <a:srgbClr val="FFFFFF"/>
                </a:solidFill>
                <a:latin typeface="Calibri"/>
              </a:rPr>
              <a:t>Modelar</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3079817"/>
          </a:xfrm>
          <a:prstGeom prst="rect">
            <a:avLst/>
          </a:prstGeom>
          <a:noFill/>
        </p:spPr>
        <p:txBody>
          <a:bodyPr wrap="square" lIns="73152" tIns="36576" rIns="73152" bIns="36576" anchor="t">
            <a:spAutoFit/>
          </a:bodyPr>
          <a:lstStyle/>
          <a:p>
            <a:pPr algn="l">
              <a:spcAft>
                <a:spcPts val="400"/>
              </a:spcAft>
            </a:pPr>
            <a:r>
              <a:rPr sz="1600" b="1" i="0" dirty="0" err="1">
                <a:solidFill>
                  <a:srgbClr val="007A7A"/>
                </a:solidFill>
                <a:latin typeface="Calibri"/>
              </a:rPr>
              <a:t>Resultado</a:t>
            </a:r>
            <a:r>
              <a:rPr sz="1600" b="1" i="0" dirty="0">
                <a:solidFill>
                  <a:srgbClr val="007A7A"/>
                </a:solidFill>
                <a:latin typeface="Calibri"/>
              </a:rPr>
              <a:t> de la </a:t>
            </a:r>
            <a:r>
              <a:rPr sz="1600" b="1" i="0" dirty="0" err="1">
                <a:solidFill>
                  <a:srgbClr val="007A7A"/>
                </a:solidFill>
                <a:latin typeface="Calibri"/>
              </a:rPr>
              <a:t>unidad</a:t>
            </a:r>
            <a:endParaRPr sz="1600" b="1" i="0" dirty="0">
              <a:solidFill>
                <a:srgbClr val="007A7A"/>
              </a:solidFill>
              <a:latin typeface="Calibri"/>
            </a:endParaRPr>
          </a:p>
          <a:p>
            <a:pPr marL="228600" indent="-182880" algn="l">
              <a:spcAft>
                <a:spcPts val="400"/>
              </a:spcAft>
              <a:buChar char="•"/>
            </a:pPr>
            <a:r>
              <a:rPr sz="1400" b="0" i="0" dirty="0" err="1">
                <a:solidFill>
                  <a:srgbClr val="2E3A40"/>
                </a:solidFill>
                <a:latin typeface="Calibri"/>
              </a:rPr>
              <a:t>Modelar</a:t>
            </a:r>
            <a:r>
              <a:rPr sz="1400" b="0" i="0" dirty="0">
                <a:solidFill>
                  <a:srgbClr val="2E3A40"/>
                </a:solidFill>
                <a:latin typeface="Calibri"/>
              </a:rPr>
              <a:t> </a:t>
            </a:r>
            <a:r>
              <a:rPr sz="1400" b="0" i="0" dirty="0" err="1">
                <a:solidFill>
                  <a:srgbClr val="2E3A40"/>
                </a:solidFill>
                <a:latin typeface="Calibri"/>
              </a:rPr>
              <a:t>los</a:t>
            </a:r>
            <a:r>
              <a:rPr sz="1400" b="0" i="0" dirty="0">
                <a:solidFill>
                  <a:srgbClr val="2E3A40"/>
                </a:solidFill>
                <a:latin typeface="Calibri"/>
              </a:rPr>
              <a:t> </a:t>
            </a:r>
            <a:r>
              <a:rPr sz="1400" b="0" i="0" dirty="0" err="1">
                <a:solidFill>
                  <a:srgbClr val="2E3A40"/>
                </a:solidFill>
                <a:latin typeface="Calibri"/>
              </a:rPr>
              <a:t>requerimientos</a:t>
            </a:r>
            <a:r>
              <a:rPr sz="1400" b="0" i="0" dirty="0">
                <a:solidFill>
                  <a:srgbClr val="2E3A40"/>
                </a:solidFill>
                <a:latin typeface="Calibri"/>
              </a:rPr>
              <a:t> de </a:t>
            </a:r>
            <a:r>
              <a:rPr sz="1400" b="0" i="0" dirty="0" err="1">
                <a:solidFill>
                  <a:srgbClr val="2E3A40"/>
                </a:solidFill>
                <a:latin typeface="Calibri"/>
              </a:rPr>
              <a:t>información</a:t>
            </a:r>
            <a:r>
              <a:rPr sz="1400" b="0" i="0" dirty="0">
                <a:solidFill>
                  <a:srgbClr val="2E3A40"/>
                </a:solidFill>
                <a:latin typeface="Calibri"/>
              </a:rPr>
              <a:t> de un </a:t>
            </a:r>
            <a:r>
              <a:rPr sz="1400" b="0" i="0" dirty="0" err="1">
                <a:solidFill>
                  <a:srgbClr val="2E3A40"/>
                </a:solidFill>
                <a:latin typeface="Calibri"/>
              </a:rPr>
              <a:t>problema</a:t>
            </a:r>
            <a:r>
              <a:rPr sz="1400" b="0" i="0" dirty="0">
                <a:solidFill>
                  <a:srgbClr val="2E3A40"/>
                </a:solidFill>
                <a:latin typeface="Calibri"/>
              </a:rPr>
              <a:t> territorial o </a:t>
            </a:r>
            <a:r>
              <a:rPr sz="1400" b="0" i="0" dirty="0" err="1">
                <a:solidFill>
                  <a:srgbClr val="2E3A40"/>
                </a:solidFill>
                <a:latin typeface="Calibri"/>
              </a:rPr>
              <a:t>medioambiental</a:t>
            </a:r>
            <a:r>
              <a:rPr sz="1400" b="0" i="0" dirty="0">
                <a:solidFill>
                  <a:srgbClr val="2E3A40"/>
                </a:solidFill>
                <a:latin typeface="Calibri"/>
              </a:rPr>
              <a:t> </a:t>
            </a:r>
            <a:r>
              <a:rPr sz="1400" b="0" i="0" dirty="0" err="1">
                <a:solidFill>
                  <a:srgbClr val="2E3A40"/>
                </a:solidFill>
                <a:latin typeface="Calibri"/>
              </a:rPr>
              <a:t>mediante</a:t>
            </a:r>
            <a:r>
              <a:rPr sz="1400" b="0" i="0" dirty="0">
                <a:solidFill>
                  <a:srgbClr val="2E3A40"/>
                </a:solidFill>
                <a:latin typeface="Calibri"/>
              </a:rPr>
              <a:t> </a:t>
            </a:r>
            <a:r>
              <a:rPr sz="1400" b="0" i="0" dirty="0" err="1">
                <a:solidFill>
                  <a:srgbClr val="2E3A40"/>
                </a:solidFill>
                <a:latin typeface="Calibri"/>
              </a:rPr>
              <a:t>esquemas</a:t>
            </a:r>
            <a:r>
              <a:rPr sz="1400" b="0" i="0" dirty="0">
                <a:solidFill>
                  <a:srgbClr val="2E3A40"/>
                </a:solidFill>
                <a:latin typeface="Calibri"/>
              </a:rPr>
              <a:t> </a:t>
            </a:r>
            <a:r>
              <a:rPr sz="1400" b="0" i="0" dirty="0" err="1">
                <a:solidFill>
                  <a:srgbClr val="2E3A40"/>
                </a:solidFill>
                <a:latin typeface="Calibri"/>
              </a:rPr>
              <a:t>conceptuales</a:t>
            </a:r>
            <a:r>
              <a:rPr sz="1400" b="0" i="0" dirty="0">
                <a:solidFill>
                  <a:srgbClr val="2E3A40"/>
                </a:solidFill>
                <a:latin typeface="Calibri"/>
              </a:rPr>
              <a:t> y </a:t>
            </a:r>
            <a:r>
              <a:rPr sz="1400" b="0" i="0" dirty="0" err="1">
                <a:solidFill>
                  <a:srgbClr val="2E3A40"/>
                </a:solidFill>
                <a:latin typeface="Calibri"/>
              </a:rPr>
              <a:t>lógicos</a:t>
            </a:r>
            <a:r>
              <a:rPr sz="1400" b="0" i="0" dirty="0">
                <a:solidFill>
                  <a:srgbClr val="2E3A40"/>
                </a:solidFill>
                <a:latin typeface="Calibri"/>
              </a:rPr>
              <a:t> </a:t>
            </a:r>
            <a:r>
              <a:rPr sz="1400" b="0" i="0" dirty="0" err="1">
                <a:solidFill>
                  <a:srgbClr val="2E3A40"/>
                </a:solidFill>
                <a:latin typeface="Calibri"/>
              </a:rPr>
              <a:t>normalizados</a:t>
            </a:r>
            <a:r>
              <a:rPr sz="1400" b="0" i="0" dirty="0">
                <a:solidFill>
                  <a:srgbClr val="2E3A40"/>
                </a:solidFill>
                <a:latin typeface="Calibri"/>
              </a:rPr>
              <a:t>, con </a:t>
            </a:r>
            <a:r>
              <a:rPr sz="1400" b="0" i="0" dirty="0" err="1">
                <a:solidFill>
                  <a:srgbClr val="2E3A40"/>
                </a:solidFill>
                <a:latin typeface="Calibri"/>
              </a:rPr>
              <a:t>reglas</a:t>
            </a:r>
            <a:r>
              <a:rPr sz="1400" b="0" i="0" dirty="0">
                <a:solidFill>
                  <a:srgbClr val="2E3A40"/>
                </a:solidFill>
                <a:latin typeface="Calibri"/>
              </a:rPr>
              <a:t> de </a:t>
            </a:r>
            <a:r>
              <a:rPr sz="1400" b="0" i="0" dirty="0" err="1">
                <a:solidFill>
                  <a:srgbClr val="2E3A40"/>
                </a:solidFill>
                <a:latin typeface="Calibri"/>
              </a:rPr>
              <a:t>integridad</a:t>
            </a:r>
            <a:r>
              <a:rPr sz="1400" b="0" i="0" dirty="0">
                <a:solidFill>
                  <a:srgbClr val="2E3A40"/>
                </a:solidFill>
                <a:latin typeface="Calibri"/>
              </a:rPr>
              <a:t> </a:t>
            </a:r>
            <a:r>
              <a:rPr sz="1400" b="0" i="0" dirty="0" err="1">
                <a:solidFill>
                  <a:srgbClr val="2E3A40"/>
                </a:solidFill>
                <a:latin typeface="Calibri"/>
              </a:rPr>
              <a:t>explícitas</a:t>
            </a:r>
            <a:r>
              <a:rPr sz="1400" b="0" i="0" dirty="0">
                <a:solidFill>
                  <a:srgbClr val="2E3A40"/>
                </a:solidFill>
                <a:latin typeface="Calibri"/>
              </a:rPr>
              <a:t>.</a:t>
            </a:r>
          </a:p>
          <a:p>
            <a:pPr algn="l">
              <a:spcAft>
                <a:spcPts val="400"/>
              </a:spcAft>
            </a:pPr>
            <a:r>
              <a:rPr sz="1600" b="1" i="0" dirty="0" err="1">
                <a:solidFill>
                  <a:srgbClr val="007A7A"/>
                </a:solidFill>
                <a:latin typeface="Calibri"/>
              </a:rPr>
              <a:t>Contenidos</a:t>
            </a:r>
            <a:endParaRPr sz="1600" b="1" i="0" dirty="0">
              <a:solidFill>
                <a:srgbClr val="007A7A"/>
              </a:solidFill>
              <a:latin typeface="Calibri"/>
            </a:endParaRPr>
          </a:p>
          <a:p>
            <a:pPr marL="228600" indent="-182880" algn="l">
              <a:spcAft>
                <a:spcPts val="400"/>
              </a:spcAft>
              <a:buChar char="•"/>
            </a:pPr>
            <a:r>
              <a:rPr sz="1400" b="0" i="0" dirty="0" err="1">
                <a:solidFill>
                  <a:srgbClr val="2E3A40"/>
                </a:solidFill>
                <a:latin typeface="Calibri"/>
              </a:rPr>
              <a:t>Propósito</a:t>
            </a:r>
            <a:r>
              <a:rPr sz="1400" b="0" i="0" dirty="0">
                <a:solidFill>
                  <a:srgbClr val="2E3A40"/>
                </a:solidFill>
                <a:latin typeface="Calibri"/>
              </a:rPr>
              <a:t> y </a:t>
            </a:r>
            <a:r>
              <a:rPr sz="1400" b="0" i="0" dirty="0" err="1">
                <a:solidFill>
                  <a:srgbClr val="2E3A40"/>
                </a:solidFill>
                <a:latin typeface="Calibri"/>
              </a:rPr>
              <a:t>componentes</a:t>
            </a:r>
            <a:r>
              <a:rPr sz="1400" b="0" i="0" dirty="0">
                <a:solidFill>
                  <a:srgbClr val="2E3A40"/>
                </a:solidFill>
                <a:latin typeface="Calibri"/>
              </a:rPr>
              <a:t> de un </a:t>
            </a:r>
            <a:r>
              <a:rPr sz="1400" b="0" i="0" dirty="0" err="1">
                <a:solidFill>
                  <a:srgbClr val="2E3A40"/>
                </a:solidFill>
                <a:latin typeface="Calibri"/>
              </a:rPr>
              <a:t>sistema</a:t>
            </a:r>
            <a:r>
              <a:rPr sz="1400" b="0" i="0" dirty="0">
                <a:solidFill>
                  <a:srgbClr val="2E3A40"/>
                </a:solidFill>
                <a:latin typeface="Calibri"/>
              </a:rPr>
              <a:t> gestor de bases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niveles</a:t>
            </a:r>
            <a:r>
              <a:rPr sz="1400" b="0" i="0" dirty="0">
                <a:solidFill>
                  <a:srgbClr val="2E3A40"/>
                </a:solidFill>
                <a:latin typeface="Calibri"/>
              </a:rPr>
              <a:t> de </a:t>
            </a:r>
            <a:r>
              <a:rPr sz="1400" b="0" i="0" dirty="0" err="1">
                <a:solidFill>
                  <a:srgbClr val="2E3A40"/>
                </a:solidFill>
                <a:latin typeface="Calibri"/>
              </a:rPr>
              <a:t>abstracción</a:t>
            </a:r>
            <a:r>
              <a:rPr sz="1400" b="0" i="0" dirty="0">
                <a:solidFill>
                  <a:srgbClr val="2E3A40"/>
                </a:solidFill>
                <a:latin typeface="Calibri"/>
              </a:rPr>
              <a:t>, </a:t>
            </a:r>
            <a:r>
              <a:rPr sz="1400" b="0" i="0" dirty="0" err="1">
                <a:solidFill>
                  <a:srgbClr val="2E3A40"/>
                </a:solidFill>
                <a:latin typeface="Calibri"/>
              </a:rPr>
              <a:t>esquemas</a:t>
            </a:r>
            <a:r>
              <a:rPr sz="1400" b="0" i="0" dirty="0">
                <a:solidFill>
                  <a:srgbClr val="2E3A40"/>
                </a:solidFill>
                <a:latin typeface="Calibri"/>
              </a:rPr>
              <a:t>, </a:t>
            </a:r>
            <a:r>
              <a:rPr sz="1400" b="0" i="0" dirty="0" err="1">
                <a:solidFill>
                  <a:srgbClr val="2E3A40"/>
                </a:solidFill>
                <a:latin typeface="Calibri"/>
              </a:rPr>
              <a:t>instancias</a:t>
            </a:r>
            <a:r>
              <a:rPr sz="1400" b="0" i="0" dirty="0">
                <a:solidFill>
                  <a:srgbClr val="2E3A40"/>
                </a:solidFill>
                <a:latin typeface="Calibri"/>
              </a:rPr>
              <a:t> e </a:t>
            </a:r>
            <a:r>
              <a:rPr sz="1400" b="0" i="0" dirty="0" err="1">
                <a:solidFill>
                  <a:srgbClr val="2E3A40"/>
                </a:solidFill>
                <a:latin typeface="Calibri"/>
              </a:rPr>
              <a:t>independencia</a:t>
            </a:r>
            <a:r>
              <a:rPr sz="1400" b="0" i="0" dirty="0">
                <a:solidFill>
                  <a:srgbClr val="2E3A40"/>
                </a:solidFill>
                <a:latin typeface="Calibri"/>
              </a:rPr>
              <a:t> de </a:t>
            </a:r>
            <a:r>
              <a:rPr sz="1400" b="0" i="0" dirty="0" err="1">
                <a:solidFill>
                  <a:srgbClr val="2E3A40"/>
                </a:solidFill>
                <a:latin typeface="Calibri"/>
              </a:rPr>
              <a:t>datos</a:t>
            </a:r>
            <a:r>
              <a:rPr sz="1400" b="0" i="0" dirty="0">
                <a:solidFill>
                  <a:srgbClr val="2E3A40"/>
                </a:solidFill>
                <a:latin typeface="Calibri"/>
              </a:rPr>
              <a:t>.</a:t>
            </a:r>
          </a:p>
          <a:p>
            <a:pPr marL="228600" indent="-182880" algn="l">
              <a:spcAft>
                <a:spcPts val="400"/>
              </a:spcAft>
              <a:buChar char="•"/>
            </a:pPr>
            <a:r>
              <a:rPr sz="1400" b="0" i="0" dirty="0" err="1">
                <a:solidFill>
                  <a:srgbClr val="2E3A40"/>
                </a:solidFill>
                <a:latin typeface="Calibri"/>
              </a:rPr>
              <a:t>Levantamiento</a:t>
            </a:r>
            <a:r>
              <a:rPr sz="1400" b="0" i="0" dirty="0">
                <a:solidFill>
                  <a:srgbClr val="2E3A40"/>
                </a:solidFill>
                <a:latin typeface="Calibri"/>
              </a:rPr>
              <a:t> de </a:t>
            </a:r>
            <a:r>
              <a:rPr sz="1400" b="0" i="0" dirty="0" err="1">
                <a:solidFill>
                  <a:srgbClr val="2E3A40"/>
                </a:solidFill>
                <a:latin typeface="Calibri"/>
              </a:rPr>
              <a:t>requerimientos</a:t>
            </a:r>
            <a:r>
              <a:rPr sz="1400" b="0" i="0" dirty="0">
                <a:solidFill>
                  <a:srgbClr val="2E3A40"/>
                </a:solidFill>
                <a:latin typeface="Calibri"/>
              </a:rPr>
              <a:t>, </a:t>
            </a:r>
            <a:r>
              <a:rPr sz="1400" b="0" i="0" dirty="0" err="1">
                <a:solidFill>
                  <a:srgbClr val="2E3A40"/>
                </a:solidFill>
                <a:latin typeface="Calibri"/>
              </a:rPr>
              <a:t>reglas</a:t>
            </a:r>
            <a:r>
              <a:rPr sz="1400" b="0" i="0" dirty="0">
                <a:solidFill>
                  <a:srgbClr val="2E3A40"/>
                </a:solidFill>
                <a:latin typeface="Calibri"/>
              </a:rPr>
              <a:t> de </a:t>
            </a:r>
            <a:r>
              <a:rPr sz="1400" b="0" i="0" dirty="0" err="1">
                <a:solidFill>
                  <a:srgbClr val="2E3A40"/>
                </a:solidFill>
                <a:latin typeface="Calibri"/>
              </a:rPr>
              <a:t>negocio</a:t>
            </a:r>
            <a:r>
              <a:rPr sz="1400" b="0" i="0" dirty="0">
                <a:solidFill>
                  <a:srgbClr val="2E3A40"/>
                </a:solidFill>
                <a:latin typeface="Calibri"/>
              </a:rPr>
              <a:t>, </a:t>
            </a:r>
            <a:r>
              <a:rPr sz="1400" b="0" i="0" dirty="0" err="1">
                <a:solidFill>
                  <a:srgbClr val="2E3A40"/>
                </a:solidFill>
                <a:latin typeface="Calibri"/>
              </a:rPr>
              <a:t>diccionario</a:t>
            </a:r>
            <a:r>
              <a:rPr sz="1400" b="0" i="0" dirty="0">
                <a:solidFill>
                  <a:srgbClr val="2E3A40"/>
                </a:solidFill>
                <a:latin typeface="Calibri"/>
              </a:rPr>
              <a:t>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usuarios</a:t>
            </a:r>
            <a:r>
              <a:rPr sz="1400" b="0" i="0" dirty="0">
                <a:solidFill>
                  <a:srgbClr val="2E3A40"/>
                </a:solidFill>
                <a:latin typeface="Calibri"/>
              </a:rPr>
              <a:t> y roles.</a:t>
            </a:r>
          </a:p>
          <a:p>
            <a:pPr marL="228600" indent="-182880" algn="l">
              <a:spcAft>
                <a:spcPts val="400"/>
              </a:spcAft>
              <a:buChar char="•"/>
            </a:pPr>
            <a:r>
              <a:rPr sz="1400" b="0" i="0" dirty="0" err="1">
                <a:solidFill>
                  <a:srgbClr val="2E3A40"/>
                </a:solidFill>
                <a:latin typeface="Calibri"/>
              </a:rPr>
              <a:t>Modelado del espacio geográfico: modelo general de entidades y esquema de aplicación (ISO 19109), catálogo de entidades (ISO 19110) y modelos de dominio territorial como referencia (ISO 19152, LADM).</a:t>
            </a:r>
          </a:p>
          <a:p>
            <a:pPr marL="228600" indent="-182880" algn="l">
              <a:spcAft>
                <a:spcPts val="400"/>
              </a:spcAft>
              <a:buChar char="•"/>
            </a:pPr>
            <a:r>
              <a:rPr sz="1400" b="0" i="0" dirty="0" err="1">
                <a:solidFill>
                  <a:srgbClr val="2E3A40"/>
                </a:solidFill>
                <a:latin typeface="Calibri"/>
              </a:rPr>
              <a:t>Modelo</a:t>
            </a:r>
            <a:r>
              <a:rPr sz="1400" b="0" i="0" dirty="0">
                <a:solidFill>
                  <a:srgbClr val="2E3A40"/>
                </a:solidFill>
                <a:latin typeface="Calibri"/>
              </a:rPr>
              <a:t> </a:t>
            </a:r>
            <a:r>
              <a:rPr sz="1400" b="0" i="0" dirty="0" err="1">
                <a:solidFill>
                  <a:srgbClr val="2E3A40"/>
                </a:solidFill>
                <a:latin typeface="Calibri"/>
              </a:rPr>
              <a:t>entidad-relación</a:t>
            </a:r>
            <a:r>
              <a:rPr sz="1400" b="0" i="0" dirty="0">
                <a:solidFill>
                  <a:srgbClr val="2E3A40"/>
                </a:solidFill>
                <a:latin typeface="Calibri"/>
              </a:rPr>
              <a:t> y </a:t>
            </a:r>
            <a:r>
              <a:rPr sz="1400" b="0" i="0" dirty="0" err="1">
                <a:solidFill>
                  <a:srgbClr val="2E3A40"/>
                </a:solidFill>
                <a:latin typeface="Calibri"/>
              </a:rPr>
              <a:t>entidad-relación</a:t>
            </a:r>
            <a:r>
              <a:rPr sz="1400" b="0" i="0" dirty="0">
                <a:solidFill>
                  <a:srgbClr val="2E3A40"/>
                </a:solidFill>
                <a:latin typeface="Calibri"/>
              </a:rPr>
              <a:t> </a:t>
            </a:r>
            <a:r>
              <a:rPr sz="1400" b="0" i="0" dirty="0" err="1">
                <a:solidFill>
                  <a:srgbClr val="2E3A40"/>
                </a:solidFill>
                <a:latin typeface="Calibri"/>
              </a:rPr>
              <a:t>extendido</a:t>
            </a:r>
            <a:r>
              <a:rPr sz="1400" b="0" i="0" dirty="0">
                <a:solidFill>
                  <a:srgbClr val="2E3A40"/>
                </a:solidFill>
                <a:latin typeface="Calibri"/>
              </a:rPr>
              <a:t>: </a:t>
            </a:r>
            <a:r>
              <a:rPr sz="1400" b="0" i="0" dirty="0" err="1">
                <a:solidFill>
                  <a:srgbClr val="2E3A40"/>
                </a:solidFill>
                <a:latin typeface="Calibri"/>
              </a:rPr>
              <a:t>entidades</a:t>
            </a:r>
            <a:r>
              <a:rPr sz="1400" b="0" i="0" dirty="0">
                <a:solidFill>
                  <a:srgbClr val="2E3A40"/>
                </a:solidFill>
                <a:latin typeface="Calibri"/>
              </a:rPr>
              <a:t>, </a:t>
            </a:r>
            <a:r>
              <a:rPr sz="1400" b="0" i="0" dirty="0" err="1">
                <a:solidFill>
                  <a:srgbClr val="2E3A40"/>
                </a:solidFill>
                <a:latin typeface="Calibri"/>
              </a:rPr>
              <a:t>atributos</a:t>
            </a:r>
            <a:r>
              <a:rPr sz="1400" b="0" i="0" dirty="0">
                <a:solidFill>
                  <a:srgbClr val="2E3A40"/>
                </a:solidFill>
                <a:latin typeface="Calibri"/>
              </a:rPr>
              <a:t>, </a:t>
            </a:r>
            <a:r>
              <a:rPr sz="1400" b="0" i="0" dirty="0" err="1">
                <a:solidFill>
                  <a:srgbClr val="2E3A40"/>
                </a:solidFill>
                <a:latin typeface="Calibri"/>
              </a:rPr>
              <a:t>identificadores</a:t>
            </a:r>
            <a:r>
              <a:rPr sz="1400" b="0" i="0" dirty="0">
                <a:solidFill>
                  <a:srgbClr val="2E3A40"/>
                </a:solidFill>
                <a:latin typeface="Calibri"/>
              </a:rPr>
              <a:t>, </a:t>
            </a:r>
            <a:r>
              <a:rPr sz="1400" b="0" i="0" dirty="0" err="1">
                <a:solidFill>
                  <a:srgbClr val="2E3A40"/>
                </a:solidFill>
                <a:latin typeface="Calibri"/>
              </a:rPr>
              <a:t>relaciones</a:t>
            </a:r>
            <a:r>
              <a:rPr sz="1400" b="0" i="0" dirty="0">
                <a:solidFill>
                  <a:srgbClr val="2E3A40"/>
                </a:solidFill>
                <a:latin typeface="Calibri"/>
              </a:rPr>
              <a:t>, </a:t>
            </a:r>
            <a:r>
              <a:rPr sz="1400" b="0" i="0" dirty="0" err="1">
                <a:solidFill>
                  <a:srgbClr val="2E3A40"/>
                </a:solidFill>
                <a:latin typeface="Calibri"/>
              </a:rPr>
              <a:t>cardinalidad</a:t>
            </a:r>
            <a:r>
              <a:rPr sz="1400" b="0" i="0" dirty="0">
                <a:solidFill>
                  <a:srgbClr val="2E3A40"/>
                </a:solidFill>
                <a:latin typeface="Calibri"/>
              </a:rPr>
              <a:t>, </a:t>
            </a:r>
            <a:r>
              <a:rPr sz="1400" b="0" i="0" dirty="0" err="1">
                <a:solidFill>
                  <a:srgbClr val="2E3A40"/>
                </a:solidFill>
                <a:latin typeface="Calibri"/>
              </a:rPr>
              <a:t>participación</a:t>
            </a:r>
            <a:r>
              <a:rPr sz="1400" b="0" i="0" dirty="0">
                <a:solidFill>
                  <a:srgbClr val="2E3A40"/>
                </a:solidFill>
                <a:latin typeface="Calibri"/>
              </a:rPr>
              <a:t> y </a:t>
            </a:r>
            <a:r>
              <a:rPr sz="1400" b="0" i="0" dirty="0" err="1">
                <a:solidFill>
                  <a:srgbClr val="2E3A40"/>
                </a:solidFill>
                <a:latin typeface="Calibri"/>
              </a:rPr>
              <a:t>especialización</a:t>
            </a:r>
            <a:r>
              <a:rPr sz="1400" b="0" i="0" dirty="0">
                <a:solidFill>
                  <a:srgbClr val="2E3A40"/>
                </a:solidFill>
                <a:latin typeface="Calibri"/>
              </a:rPr>
              <a:t>.</a:t>
            </a:r>
          </a:p>
          <a:p>
            <a:pPr marL="228600" indent="-182880" algn="l">
              <a:spcAft>
                <a:spcPts val="400"/>
              </a:spcAft>
              <a:buChar char="•"/>
            </a:pPr>
            <a:r>
              <a:rPr sz="1400" b="0" i="0" dirty="0" err="1">
                <a:solidFill>
                  <a:srgbClr val="2E3A40"/>
                </a:solidFill>
                <a:latin typeface="Calibri"/>
              </a:rPr>
              <a:t>Modelo relacional: relaciones, dominios y tipos de datos, claves, restricciones e integridad referencial.</a:t>
            </a:r>
          </a:p>
          <a:p>
            <a:pPr marL="228600" indent="-182880" algn="l">
              <a:spcAft>
                <a:spcPts val="400"/>
              </a:spcAft>
              <a:buChar char="•"/>
            </a:pPr>
            <a:r>
              <a:rPr sz="1400" b="0" i="0" dirty="0" err="1">
                <a:solidFill>
                  <a:srgbClr val="2E3A40"/>
                </a:solidFill>
                <a:latin typeface="Calibri"/>
              </a:rPr>
              <a:t>Transformación</a:t>
            </a:r>
            <a:r>
              <a:rPr sz="1400" b="0" i="0" dirty="0">
                <a:solidFill>
                  <a:srgbClr val="2E3A40"/>
                </a:solidFill>
                <a:latin typeface="Calibri"/>
              </a:rPr>
              <a:t> del </a:t>
            </a:r>
            <a:r>
              <a:rPr sz="1400" b="0" i="0" dirty="0" err="1">
                <a:solidFill>
                  <a:srgbClr val="2E3A40"/>
                </a:solidFill>
                <a:latin typeface="Calibri"/>
              </a:rPr>
              <a:t>modelo</a:t>
            </a:r>
            <a:r>
              <a:rPr sz="1400" b="0" i="0" dirty="0">
                <a:solidFill>
                  <a:srgbClr val="2E3A40"/>
                </a:solidFill>
                <a:latin typeface="Calibri"/>
              </a:rPr>
              <a:t> conceptual al </a:t>
            </a:r>
            <a:r>
              <a:rPr sz="1400" b="0" i="0" dirty="0" err="1">
                <a:solidFill>
                  <a:srgbClr val="2E3A40"/>
                </a:solidFill>
                <a:latin typeface="Calibri"/>
              </a:rPr>
              <a:t>modelo</a:t>
            </a:r>
            <a:r>
              <a:rPr sz="1400" b="0" i="0" dirty="0">
                <a:solidFill>
                  <a:srgbClr val="2E3A40"/>
                </a:solidFill>
                <a:latin typeface="Calibri"/>
              </a:rPr>
              <a:t> </a:t>
            </a:r>
            <a:r>
              <a:rPr sz="1400" b="0" i="0" dirty="0" err="1">
                <a:solidFill>
                  <a:srgbClr val="2E3A40"/>
                </a:solidFill>
                <a:latin typeface="Calibri"/>
              </a:rPr>
              <a:t>lógico</a:t>
            </a:r>
            <a:r>
              <a:rPr sz="1400" b="0" i="0" dirty="0">
                <a:solidFill>
                  <a:srgbClr val="2E3A40"/>
                </a:solidFill>
                <a:latin typeface="Calibri"/>
              </a:rPr>
              <a:t>; </a:t>
            </a:r>
            <a:r>
              <a:rPr sz="1400" b="0" i="0" dirty="0" err="1">
                <a:solidFill>
                  <a:srgbClr val="2E3A40"/>
                </a:solidFill>
                <a:latin typeface="Calibri"/>
              </a:rPr>
              <a:t>dependencias</a:t>
            </a:r>
            <a:r>
              <a:rPr sz="1400" b="0" i="0" dirty="0">
                <a:solidFill>
                  <a:srgbClr val="2E3A40"/>
                </a:solidFill>
                <a:latin typeface="Calibri"/>
              </a:rPr>
              <a:t> </a:t>
            </a:r>
            <a:r>
              <a:rPr sz="1400" b="0" i="0" dirty="0" err="1">
                <a:solidFill>
                  <a:srgbClr val="2E3A40"/>
                </a:solidFill>
                <a:latin typeface="Calibri"/>
              </a:rPr>
              <a:t>funcionales</a:t>
            </a:r>
            <a:r>
              <a:rPr sz="1400" b="0" i="0" dirty="0">
                <a:solidFill>
                  <a:srgbClr val="2E3A40"/>
                </a:solidFill>
                <a:latin typeface="Calibri"/>
              </a:rPr>
              <a:t> y </a:t>
            </a:r>
            <a:r>
              <a:rPr sz="1400" b="0" i="0" dirty="0" err="1">
                <a:solidFill>
                  <a:srgbClr val="2E3A40"/>
                </a:solidFill>
                <a:latin typeface="Calibri"/>
              </a:rPr>
              <a:t>normalización</a:t>
            </a:r>
            <a:r>
              <a:rPr sz="1400" b="0" i="0" dirty="0">
                <a:solidFill>
                  <a:srgbClr val="2E3A40"/>
                </a:solidFill>
                <a:latin typeface="Calibri"/>
              </a:rPr>
              <a:t> hasta </a:t>
            </a:r>
            <a:r>
              <a:rPr sz="1400" b="0" i="0" dirty="0" err="1">
                <a:solidFill>
                  <a:srgbClr val="2E3A40"/>
                </a:solidFill>
                <a:latin typeface="Calibri"/>
              </a:rPr>
              <a:t>tercera</a:t>
            </a:r>
            <a:r>
              <a:rPr sz="1400" b="0" i="0" dirty="0">
                <a:solidFill>
                  <a:srgbClr val="2E3A40"/>
                </a:solidFill>
                <a:latin typeface="Calibri"/>
              </a:rPr>
              <a:t> forma normal, con </a:t>
            </a:r>
            <a:r>
              <a:rPr sz="1400" b="0" i="0" dirty="0" err="1">
                <a:solidFill>
                  <a:srgbClr val="2E3A40"/>
                </a:solidFill>
                <a:latin typeface="Calibri"/>
              </a:rPr>
              <a:t>noción</a:t>
            </a:r>
            <a:r>
              <a:rPr sz="1400" b="0" i="0" dirty="0">
                <a:solidFill>
                  <a:srgbClr val="2E3A40"/>
                </a:solidFill>
                <a:latin typeface="Calibri"/>
              </a:rPr>
              <a:t> de FNBC.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 ¿Qué es una base de datos?</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3274418"/>
            <a:ext cx="1920240" cy="766364"/>
          </a:xfrm>
          <a:prstGeom prst="rect">
            <a:avLst/>
          </a:prstGeom>
          <a:noFill/>
        </p:spPr>
        <p:txBody>
          <a:bodyPr wrap="square" lIns="73152" tIns="36576" rIns="73152" bIns="36576" anchor="ctr">
            <a:spAutoFit/>
          </a:bodyPr>
          <a:lstStyle/>
          <a:p>
            <a:pPr algn="ctr">
              <a:spcAft>
                <a:spcPts val="600"/>
              </a:spcAft>
            </a:pPr>
            <a:r>
              <a:rPr sz="2000" b="1" i="0" dirty="0">
                <a:solidFill>
                  <a:srgbClr val="FFFFFF"/>
                </a:solidFill>
                <a:latin typeface="Calibri"/>
              </a:rPr>
              <a:t>Base de</a:t>
            </a:r>
          </a:p>
          <a:p>
            <a:pPr algn="ctr">
              <a:spcAft>
                <a:spcPts val="600"/>
              </a:spcAft>
            </a:pPr>
            <a:r>
              <a:rPr sz="2000" b="1" dirty="0" err="1">
                <a:solidFill>
                  <a:srgbClr val="FFFFFF"/>
                </a:solidFill>
                <a:latin typeface="Calibri"/>
              </a:rPr>
              <a:t>datos</a:t>
            </a:r>
            <a:endParaRPr sz="2000" b="1" dirty="0">
              <a:solidFill>
                <a:srgbClr val="FFFFFF"/>
              </a:solidFill>
              <a:latin typeface="Calibri"/>
            </a:endParaRP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3541482"/>
          </a:xfrm>
          <a:prstGeom prst="rect">
            <a:avLst/>
          </a:prstGeom>
          <a:noFill/>
        </p:spPr>
        <p:txBody>
          <a:bodyPr wrap="square" lIns="73152" tIns="36576" rIns="73152" bIns="36576" anchor="t">
            <a:spAutoFit/>
          </a:bodyPr>
          <a:lstStyle/>
          <a:p>
            <a:pPr algn="l">
              <a:spcAft>
                <a:spcPts val="400"/>
              </a:spcAft>
            </a:pPr>
            <a:r>
              <a:rPr sz="1600" b="1" i="0" dirty="0" err="1">
                <a:solidFill>
                  <a:srgbClr val="007A7A"/>
                </a:solidFill>
                <a:latin typeface="Calibri"/>
              </a:rPr>
              <a:t>Definición</a:t>
            </a:r>
            <a:endParaRPr sz="1600" b="1" i="0" dirty="0">
              <a:solidFill>
                <a:srgbClr val="007A7A"/>
              </a:solidFill>
              <a:latin typeface="Calibri"/>
            </a:endParaRPr>
          </a:p>
          <a:p>
            <a:pPr marL="228600" indent="-182880" algn="l">
              <a:spcAft>
                <a:spcPts val="400"/>
              </a:spcAft>
              <a:buChar char="•"/>
            </a:pPr>
            <a:r>
              <a:rPr sz="1400" b="0" i="0" dirty="0">
                <a:solidFill>
                  <a:srgbClr val="2E3A40"/>
                </a:solidFill>
                <a:latin typeface="Calibri"/>
              </a:rPr>
              <a:t>Una base de </a:t>
            </a:r>
            <a:r>
              <a:rPr sz="1400" b="0" i="0" dirty="0" err="1">
                <a:solidFill>
                  <a:srgbClr val="2E3A40"/>
                </a:solidFill>
                <a:latin typeface="Calibri"/>
              </a:rPr>
              <a:t>datos</a:t>
            </a:r>
            <a:r>
              <a:rPr lang="es-CL" sz="1400" b="0" i="0" dirty="0">
                <a:solidFill>
                  <a:srgbClr val="2E3A40"/>
                </a:solidFill>
                <a:latin typeface="Calibri"/>
              </a:rPr>
              <a:t> (BD o DB en inglés)</a:t>
            </a:r>
            <a:r>
              <a:rPr sz="1400" b="0" i="0" dirty="0">
                <a:solidFill>
                  <a:srgbClr val="2E3A40"/>
                </a:solidFill>
                <a:latin typeface="Calibri"/>
              </a:rPr>
              <a:t> es </a:t>
            </a:r>
            <a:r>
              <a:rPr sz="1400" b="0" i="0" dirty="0" err="1">
                <a:solidFill>
                  <a:srgbClr val="2E3A40"/>
                </a:solidFill>
                <a:latin typeface="Calibri"/>
              </a:rPr>
              <a:t>una</a:t>
            </a:r>
            <a:r>
              <a:rPr sz="1400" b="0" i="0" dirty="0">
                <a:solidFill>
                  <a:srgbClr val="2E3A40"/>
                </a:solidFill>
                <a:latin typeface="Calibri"/>
              </a:rPr>
              <a:t> </a:t>
            </a:r>
            <a:r>
              <a:rPr sz="1400" b="0" i="0" dirty="0" err="1">
                <a:solidFill>
                  <a:srgbClr val="2E3A40"/>
                </a:solidFill>
                <a:latin typeface="Calibri"/>
              </a:rPr>
              <a:t>colección</a:t>
            </a:r>
            <a:r>
              <a:rPr sz="1400" b="0" i="0" dirty="0">
                <a:solidFill>
                  <a:srgbClr val="2E3A40"/>
                </a:solidFill>
                <a:latin typeface="Calibri"/>
              </a:rPr>
              <a:t>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relacionados</a:t>
            </a:r>
            <a:r>
              <a:rPr sz="1400" b="0" i="0" dirty="0">
                <a:solidFill>
                  <a:srgbClr val="2E3A40"/>
                </a:solidFill>
                <a:latin typeface="Calibri"/>
              </a:rPr>
              <a:t> entre </a:t>
            </a:r>
            <a:r>
              <a:rPr sz="1400" b="0" i="0" dirty="0" err="1">
                <a:solidFill>
                  <a:srgbClr val="2E3A40"/>
                </a:solidFill>
                <a:latin typeface="Calibri"/>
              </a:rPr>
              <a:t>sí</a:t>
            </a:r>
            <a:r>
              <a:rPr sz="1400" b="0" i="0" dirty="0">
                <a:solidFill>
                  <a:srgbClr val="2E3A40"/>
                </a:solidFill>
                <a:latin typeface="Calibri"/>
              </a:rPr>
              <a:t> que </a:t>
            </a:r>
            <a:r>
              <a:rPr sz="1400" b="0" i="0" dirty="0" err="1">
                <a:solidFill>
                  <a:srgbClr val="2E3A40"/>
                </a:solidFill>
                <a:latin typeface="Calibri"/>
              </a:rPr>
              <a:t>representa</a:t>
            </a:r>
            <a:r>
              <a:rPr sz="1400" b="0" i="0" dirty="0">
                <a:solidFill>
                  <a:srgbClr val="2E3A40"/>
                </a:solidFill>
                <a:latin typeface="Calibri"/>
              </a:rPr>
              <a:t> </a:t>
            </a:r>
            <a:r>
              <a:rPr sz="1400" b="0" i="0" dirty="0" err="1">
                <a:solidFill>
                  <a:srgbClr val="2E3A40"/>
                </a:solidFill>
                <a:latin typeface="Calibri"/>
              </a:rPr>
              <a:t>algún</a:t>
            </a:r>
            <a:r>
              <a:rPr sz="1400" b="0" i="0" dirty="0">
                <a:solidFill>
                  <a:srgbClr val="2E3A40"/>
                </a:solidFill>
                <a:latin typeface="Calibri"/>
              </a:rPr>
              <a:t> </a:t>
            </a:r>
            <a:r>
              <a:rPr sz="1400" b="0" i="0" dirty="0" err="1">
                <a:solidFill>
                  <a:srgbClr val="2E3A40"/>
                </a:solidFill>
                <a:latin typeface="Calibri"/>
              </a:rPr>
              <a:t>aspecto</a:t>
            </a:r>
            <a:r>
              <a:rPr sz="1400" b="0" i="0" dirty="0">
                <a:solidFill>
                  <a:srgbClr val="2E3A40"/>
                </a:solidFill>
                <a:latin typeface="Calibri"/>
              </a:rPr>
              <a:t> del </a:t>
            </a:r>
            <a:r>
              <a:rPr sz="1400" b="0" i="0" dirty="0" err="1">
                <a:solidFill>
                  <a:srgbClr val="2E3A40"/>
                </a:solidFill>
                <a:latin typeface="Calibri"/>
              </a:rPr>
              <a:t>mundo</a:t>
            </a:r>
            <a:r>
              <a:rPr sz="1400" b="0" i="0" dirty="0">
                <a:solidFill>
                  <a:srgbClr val="2E3A40"/>
                </a:solidFill>
                <a:latin typeface="Calibri"/>
              </a:rPr>
              <a:t> real y que se </a:t>
            </a:r>
            <a:r>
              <a:rPr sz="1400" b="0" i="0" dirty="0" err="1">
                <a:solidFill>
                  <a:srgbClr val="2E3A40"/>
                </a:solidFill>
                <a:latin typeface="Calibri"/>
              </a:rPr>
              <a:t>diseña</a:t>
            </a:r>
            <a:r>
              <a:rPr sz="1400" b="0" i="0" dirty="0">
                <a:solidFill>
                  <a:srgbClr val="2E3A40"/>
                </a:solidFill>
                <a:latin typeface="Calibri"/>
              </a:rPr>
              <a:t>, </a:t>
            </a:r>
            <a:r>
              <a:rPr sz="1400" b="0" i="0" dirty="0" err="1">
                <a:solidFill>
                  <a:srgbClr val="2E3A40"/>
                </a:solidFill>
                <a:latin typeface="Calibri"/>
              </a:rPr>
              <a:t>construye</a:t>
            </a:r>
            <a:r>
              <a:rPr sz="1400" b="0" i="0" dirty="0">
                <a:solidFill>
                  <a:srgbClr val="2E3A40"/>
                </a:solidFill>
                <a:latin typeface="Calibri"/>
              </a:rPr>
              <a:t> y </a:t>
            </a:r>
            <a:r>
              <a:rPr sz="1400" b="0" i="0" dirty="0" err="1">
                <a:solidFill>
                  <a:srgbClr val="2E3A40"/>
                </a:solidFill>
                <a:latin typeface="Calibri"/>
              </a:rPr>
              <a:t>puebla</a:t>
            </a:r>
            <a:r>
              <a:rPr sz="1400" b="0" i="0" dirty="0">
                <a:solidFill>
                  <a:srgbClr val="2E3A40"/>
                </a:solidFill>
                <a:latin typeface="Calibri"/>
              </a:rPr>
              <a:t> con </a:t>
            </a:r>
            <a:r>
              <a:rPr sz="1400" b="0" i="0" dirty="0" err="1">
                <a:solidFill>
                  <a:srgbClr val="2E3A40"/>
                </a:solidFill>
                <a:latin typeface="Calibri"/>
              </a:rPr>
              <a:t>datos</a:t>
            </a:r>
            <a:r>
              <a:rPr sz="1400" b="0" i="0" dirty="0">
                <a:solidFill>
                  <a:srgbClr val="2E3A40"/>
                </a:solidFill>
                <a:latin typeface="Calibri"/>
              </a:rPr>
              <a:t> para un </a:t>
            </a:r>
            <a:r>
              <a:rPr sz="1400" b="0" i="0" dirty="0" err="1">
                <a:solidFill>
                  <a:srgbClr val="2E3A40"/>
                </a:solidFill>
                <a:latin typeface="Calibri"/>
              </a:rPr>
              <a:t>propósito</a:t>
            </a:r>
            <a:r>
              <a:rPr sz="1400" b="0" i="0" dirty="0">
                <a:solidFill>
                  <a:srgbClr val="2E3A40"/>
                </a:solidFill>
                <a:latin typeface="Calibri"/>
              </a:rPr>
              <a:t> </a:t>
            </a:r>
            <a:r>
              <a:rPr sz="1400" b="0" i="0" dirty="0" err="1">
                <a:solidFill>
                  <a:srgbClr val="2E3A40"/>
                </a:solidFill>
                <a:latin typeface="Calibri"/>
              </a:rPr>
              <a:t>específico</a:t>
            </a:r>
            <a:r>
              <a:rPr sz="1400" b="0" i="0" dirty="0">
                <a:solidFill>
                  <a:srgbClr val="2E3A40"/>
                </a:solidFill>
                <a:latin typeface="Calibri"/>
              </a:rPr>
              <a:t> (Elmasri y Navathe, 2016).</a:t>
            </a:r>
          </a:p>
          <a:p>
            <a:pPr marL="228600" indent="-182880" algn="l">
              <a:spcAft>
                <a:spcPts val="400"/>
              </a:spcAft>
              <a:buChar char="•"/>
            </a:pPr>
            <a:r>
              <a:rPr sz="1400" b="0" i="0" dirty="0">
                <a:solidFill>
                  <a:srgbClr val="2E3A40"/>
                </a:solidFill>
                <a:latin typeface="Calibri"/>
              </a:rPr>
              <a:t>Es </a:t>
            </a:r>
            <a:r>
              <a:rPr sz="1400" b="0" i="0" dirty="0" err="1">
                <a:solidFill>
                  <a:srgbClr val="2E3A40"/>
                </a:solidFill>
                <a:latin typeface="Calibri"/>
              </a:rPr>
              <a:t>distinta</a:t>
            </a:r>
            <a:r>
              <a:rPr sz="1400" b="0" i="0" dirty="0">
                <a:solidFill>
                  <a:srgbClr val="2E3A40"/>
                </a:solidFill>
                <a:latin typeface="Calibri"/>
              </a:rPr>
              <a:t> del </a:t>
            </a:r>
            <a:r>
              <a:rPr lang="es-CL" sz="1400" b="0" i="0" dirty="0">
                <a:solidFill>
                  <a:srgbClr val="2E3A40"/>
                </a:solidFill>
                <a:latin typeface="Calibri"/>
              </a:rPr>
              <a:t>Sistema de Gestión de Base de datos (</a:t>
            </a:r>
            <a:r>
              <a:rPr sz="1400" b="0" i="0" dirty="0">
                <a:solidFill>
                  <a:srgbClr val="2E3A40"/>
                </a:solidFill>
                <a:latin typeface="Calibri"/>
              </a:rPr>
              <a:t>SGBD</a:t>
            </a:r>
            <a:r>
              <a:rPr lang="es-CL" sz="1400" b="0" i="0" dirty="0">
                <a:solidFill>
                  <a:srgbClr val="2E3A40"/>
                </a:solidFill>
                <a:latin typeface="Calibri"/>
              </a:rPr>
              <a:t> o DBMS en inglés)</a:t>
            </a:r>
            <a:r>
              <a:rPr sz="1400" b="0" i="0" dirty="0">
                <a:solidFill>
                  <a:srgbClr val="2E3A40"/>
                </a:solidFill>
                <a:latin typeface="Calibri"/>
              </a:rPr>
              <a:t>: la base de </a:t>
            </a:r>
            <a:r>
              <a:rPr sz="1400" b="0" i="0" dirty="0" err="1">
                <a:solidFill>
                  <a:srgbClr val="2E3A40"/>
                </a:solidFill>
                <a:latin typeface="Calibri"/>
              </a:rPr>
              <a:t>datos</a:t>
            </a:r>
            <a:r>
              <a:rPr sz="1400" b="0" i="0" dirty="0">
                <a:solidFill>
                  <a:srgbClr val="2E3A40"/>
                </a:solidFill>
                <a:latin typeface="Calibri"/>
              </a:rPr>
              <a:t> es </a:t>
            </a:r>
            <a:r>
              <a:rPr sz="1400" b="0" i="0" dirty="0" err="1">
                <a:solidFill>
                  <a:srgbClr val="2E3A40"/>
                </a:solidFill>
                <a:latin typeface="Calibri"/>
              </a:rPr>
              <a:t>el</a:t>
            </a:r>
            <a:r>
              <a:rPr sz="1400" b="0" i="0" dirty="0">
                <a:solidFill>
                  <a:srgbClr val="2E3A40"/>
                </a:solidFill>
                <a:latin typeface="Calibri"/>
              </a:rPr>
              <a:t> conjunto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en</a:t>
            </a:r>
            <a:r>
              <a:rPr sz="1400" b="0" i="0" dirty="0">
                <a:solidFill>
                  <a:srgbClr val="2E3A40"/>
                </a:solidFill>
                <a:latin typeface="Calibri"/>
              </a:rPr>
              <a:t> </a:t>
            </a:r>
            <a:r>
              <a:rPr sz="1400" b="0" i="0" dirty="0" err="1">
                <a:solidFill>
                  <a:srgbClr val="2E3A40"/>
                </a:solidFill>
                <a:latin typeface="Calibri"/>
              </a:rPr>
              <a:t>sí</a:t>
            </a:r>
            <a:r>
              <a:rPr sz="1400" b="0" i="0" dirty="0">
                <a:solidFill>
                  <a:srgbClr val="2E3A40"/>
                </a:solidFill>
                <a:latin typeface="Calibri"/>
              </a:rPr>
              <a:t>; </a:t>
            </a:r>
            <a:r>
              <a:rPr sz="1400" b="0" i="0" dirty="0" err="1">
                <a:solidFill>
                  <a:srgbClr val="2E3A40"/>
                </a:solidFill>
                <a:latin typeface="Calibri"/>
              </a:rPr>
              <a:t>el</a:t>
            </a:r>
            <a:r>
              <a:rPr sz="1400" b="0" i="0" dirty="0">
                <a:solidFill>
                  <a:srgbClr val="2E3A40"/>
                </a:solidFill>
                <a:latin typeface="Calibri"/>
              </a:rPr>
              <a:t> SGBD es </a:t>
            </a:r>
            <a:r>
              <a:rPr sz="1400" b="0" i="0" dirty="0" err="1">
                <a:solidFill>
                  <a:srgbClr val="2E3A40"/>
                </a:solidFill>
                <a:latin typeface="Calibri"/>
              </a:rPr>
              <a:t>el</a:t>
            </a:r>
            <a:r>
              <a:rPr sz="1400" b="0" i="0" dirty="0">
                <a:solidFill>
                  <a:srgbClr val="2E3A40"/>
                </a:solidFill>
                <a:latin typeface="Calibri"/>
              </a:rPr>
              <a:t> software que la </a:t>
            </a:r>
            <a:r>
              <a:rPr sz="1400" b="0" i="0" dirty="0" err="1">
                <a:solidFill>
                  <a:srgbClr val="2E3A40"/>
                </a:solidFill>
                <a:latin typeface="Calibri"/>
              </a:rPr>
              <a:t>crea</a:t>
            </a:r>
            <a:r>
              <a:rPr sz="1400" b="0" i="0" dirty="0">
                <a:solidFill>
                  <a:srgbClr val="2E3A40"/>
                </a:solidFill>
                <a:latin typeface="Calibri"/>
              </a:rPr>
              <a:t>, </a:t>
            </a:r>
            <a:r>
              <a:rPr sz="1400" b="0" i="0" dirty="0" err="1">
                <a:solidFill>
                  <a:srgbClr val="2E3A40"/>
                </a:solidFill>
                <a:latin typeface="Calibri"/>
              </a:rPr>
              <a:t>administra</a:t>
            </a:r>
            <a:r>
              <a:rPr sz="1400" b="0" i="0" dirty="0">
                <a:solidFill>
                  <a:srgbClr val="2E3A40"/>
                </a:solidFill>
                <a:latin typeface="Calibri"/>
              </a:rPr>
              <a:t> y protege (Silberschatz, Korth y Sudarshan, 2020).</a:t>
            </a:r>
          </a:p>
          <a:p>
            <a:pPr algn="l">
              <a:spcAft>
                <a:spcPts val="400"/>
              </a:spcAft>
            </a:pPr>
            <a:r>
              <a:rPr sz="1600" b="1" i="0" dirty="0">
                <a:solidFill>
                  <a:srgbClr val="007A7A"/>
                </a:solidFill>
                <a:latin typeface="Calibri"/>
              </a:rPr>
              <a:t>En </a:t>
            </a:r>
            <a:r>
              <a:rPr sz="1600" b="1" i="0" dirty="0" err="1">
                <a:solidFill>
                  <a:srgbClr val="007A7A"/>
                </a:solidFill>
                <a:latin typeface="Calibri"/>
              </a:rPr>
              <a:t>el</a:t>
            </a:r>
            <a:r>
              <a:rPr sz="1600" b="1" i="0" dirty="0">
                <a:solidFill>
                  <a:srgbClr val="007A7A"/>
                </a:solidFill>
                <a:latin typeface="Calibri"/>
              </a:rPr>
              <a:t> </a:t>
            </a:r>
            <a:r>
              <a:rPr sz="1600" b="1" i="0" dirty="0" err="1">
                <a:solidFill>
                  <a:srgbClr val="007A7A"/>
                </a:solidFill>
                <a:latin typeface="Calibri"/>
              </a:rPr>
              <a:t>caso</a:t>
            </a:r>
            <a:r>
              <a:rPr sz="1600" b="1" i="0" dirty="0">
                <a:solidFill>
                  <a:srgbClr val="007A7A"/>
                </a:solidFill>
                <a:latin typeface="Calibri"/>
              </a:rPr>
              <a:t> del </a:t>
            </a:r>
            <a:r>
              <a:rPr sz="1600" b="1" i="0" dirty="0" err="1">
                <a:solidFill>
                  <a:srgbClr val="007A7A"/>
                </a:solidFill>
                <a:latin typeface="Calibri"/>
              </a:rPr>
              <a:t>registro</a:t>
            </a:r>
            <a:r>
              <a:rPr sz="1600" b="1" i="0" dirty="0">
                <a:solidFill>
                  <a:srgbClr val="007A7A"/>
                </a:solidFill>
                <a:latin typeface="Calibri"/>
              </a:rPr>
              <a:t> </a:t>
            </a:r>
            <a:r>
              <a:rPr sz="1600" b="1" i="0" dirty="0" err="1">
                <a:solidFill>
                  <a:srgbClr val="007A7A"/>
                </a:solidFill>
                <a:latin typeface="Calibri"/>
              </a:rPr>
              <a:t>académico</a:t>
            </a:r>
            <a:endParaRPr sz="1600" b="1" i="0" dirty="0">
              <a:solidFill>
                <a:srgbClr val="007A7A"/>
              </a:solidFill>
              <a:latin typeface="Calibri"/>
            </a:endParaRPr>
          </a:p>
          <a:p>
            <a:pPr marL="228600" indent="-182880" algn="l">
              <a:spcAft>
                <a:spcPts val="400"/>
              </a:spcAft>
              <a:buChar char="•"/>
            </a:pPr>
            <a:r>
              <a:rPr sz="1400" b="0" i="0" dirty="0">
                <a:solidFill>
                  <a:srgbClr val="2E3A40"/>
                </a:solidFill>
                <a:latin typeface="Calibri"/>
              </a:rPr>
              <a:t>La base de </a:t>
            </a:r>
            <a:r>
              <a:rPr sz="1400" b="0" i="0" dirty="0" err="1">
                <a:solidFill>
                  <a:srgbClr val="2E3A40"/>
                </a:solidFill>
                <a:latin typeface="Calibri"/>
              </a:rPr>
              <a:t>datos</a:t>
            </a:r>
            <a:r>
              <a:rPr sz="1400" b="0" i="0" dirty="0">
                <a:solidFill>
                  <a:srgbClr val="2E3A40"/>
                </a:solidFill>
                <a:latin typeface="Calibri"/>
              </a:rPr>
              <a:t> es </a:t>
            </a:r>
            <a:r>
              <a:rPr sz="1400" b="0" i="0" dirty="0" err="1">
                <a:solidFill>
                  <a:srgbClr val="2E3A40"/>
                </a:solidFill>
                <a:latin typeface="Calibri"/>
              </a:rPr>
              <a:t>el</a:t>
            </a:r>
            <a:r>
              <a:rPr sz="1400" b="0" i="0" dirty="0">
                <a:solidFill>
                  <a:srgbClr val="2E3A40"/>
                </a:solidFill>
                <a:latin typeface="Calibri"/>
              </a:rPr>
              <a:t> conjunto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sobre</a:t>
            </a:r>
            <a:r>
              <a:rPr sz="1400" b="0" i="0" dirty="0">
                <a:solidFill>
                  <a:srgbClr val="2E3A40"/>
                </a:solidFill>
                <a:latin typeface="Calibri"/>
              </a:rPr>
              <a:t> personas, </a:t>
            </a:r>
            <a:r>
              <a:rPr sz="1400" b="0" i="0" dirty="0" err="1">
                <a:solidFill>
                  <a:srgbClr val="2E3A40"/>
                </a:solidFill>
                <a:latin typeface="Calibri"/>
              </a:rPr>
              <a:t>asignaturas</a:t>
            </a:r>
            <a:r>
              <a:rPr sz="1400" b="0" i="0" dirty="0">
                <a:solidFill>
                  <a:srgbClr val="2E3A40"/>
                </a:solidFill>
                <a:latin typeface="Calibri"/>
              </a:rPr>
              <a:t>, </a:t>
            </a:r>
            <a:r>
              <a:rPr sz="1400" b="0" i="0" dirty="0" err="1">
                <a:solidFill>
                  <a:srgbClr val="2E3A40"/>
                </a:solidFill>
                <a:latin typeface="Calibri"/>
              </a:rPr>
              <a:t>secciones</a:t>
            </a:r>
            <a:r>
              <a:rPr sz="1400" b="0" i="0" dirty="0">
                <a:solidFill>
                  <a:srgbClr val="2E3A40"/>
                </a:solidFill>
                <a:latin typeface="Calibri"/>
              </a:rPr>
              <a:t> e </a:t>
            </a:r>
            <a:r>
              <a:rPr sz="1400" b="0" i="0" dirty="0" err="1">
                <a:solidFill>
                  <a:srgbClr val="2E3A40"/>
                </a:solidFill>
                <a:latin typeface="Calibri"/>
              </a:rPr>
              <a:t>inscripciones</a:t>
            </a:r>
            <a:r>
              <a:rPr sz="1400" b="0" i="0" dirty="0">
                <a:solidFill>
                  <a:srgbClr val="2E3A40"/>
                </a:solidFill>
                <a:latin typeface="Calibri"/>
              </a:rPr>
              <a:t>; </a:t>
            </a:r>
            <a:r>
              <a:rPr sz="1400" b="0" i="0" dirty="0" err="1">
                <a:solidFill>
                  <a:srgbClr val="2E3A40"/>
                </a:solidFill>
                <a:latin typeface="Calibri"/>
              </a:rPr>
              <a:t>existe</a:t>
            </a:r>
            <a:r>
              <a:rPr sz="1400" b="0" i="0" dirty="0">
                <a:solidFill>
                  <a:srgbClr val="2E3A40"/>
                </a:solidFill>
                <a:latin typeface="Calibri"/>
              </a:rPr>
              <a:t> </a:t>
            </a:r>
            <a:r>
              <a:rPr sz="1400" b="0" i="0" dirty="0" err="1">
                <a:solidFill>
                  <a:srgbClr val="2E3A40"/>
                </a:solidFill>
                <a:latin typeface="Calibri"/>
              </a:rPr>
              <a:t>como</a:t>
            </a:r>
            <a:r>
              <a:rPr sz="1400" b="0" i="0" dirty="0">
                <a:solidFill>
                  <a:srgbClr val="2E3A40"/>
                </a:solidFill>
                <a:latin typeface="Calibri"/>
              </a:rPr>
              <a:t> </a:t>
            </a:r>
            <a:r>
              <a:rPr sz="1400" b="0" i="0" dirty="0" err="1">
                <a:solidFill>
                  <a:srgbClr val="2E3A40"/>
                </a:solidFill>
                <a:latin typeface="Calibri"/>
              </a:rPr>
              <a:t>concepto</a:t>
            </a:r>
            <a:r>
              <a:rPr sz="1400" b="0" i="0" dirty="0">
                <a:solidFill>
                  <a:srgbClr val="2E3A40"/>
                </a:solidFill>
                <a:latin typeface="Calibri"/>
              </a:rPr>
              <a:t> </a:t>
            </a:r>
            <a:r>
              <a:rPr sz="1400" b="0" i="0" dirty="0" err="1">
                <a:solidFill>
                  <a:srgbClr val="2E3A40"/>
                </a:solidFill>
                <a:latin typeface="Calibri"/>
              </a:rPr>
              <a:t>independiente</a:t>
            </a:r>
            <a:r>
              <a:rPr sz="1400" b="0" i="0" dirty="0">
                <a:solidFill>
                  <a:srgbClr val="2E3A40"/>
                </a:solidFill>
                <a:latin typeface="Calibri"/>
              </a:rPr>
              <a:t> del software que la </a:t>
            </a:r>
            <a:r>
              <a:rPr sz="1400" b="0" i="0" dirty="0" err="1">
                <a:solidFill>
                  <a:srgbClr val="2E3A40"/>
                </a:solidFill>
                <a:latin typeface="Calibri"/>
              </a:rPr>
              <a:t>administre</a:t>
            </a:r>
            <a:r>
              <a:rPr sz="1400" b="0" i="0" dirty="0">
                <a:solidFill>
                  <a:srgbClr val="2E3A40"/>
                </a:solidFill>
                <a:latin typeface="Calibri"/>
              </a:rPr>
              <a:t>.</a:t>
            </a:r>
          </a:p>
          <a:p>
            <a:pPr marL="228600" indent="-182880" algn="l">
              <a:spcAft>
                <a:spcPts val="400"/>
              </a:spcAft>
              <a:buChar char="•"/>
            </a:pPr>
            <a:r>
              <a:rPr sz="1400" b="0" i="0" dirty="0">
                <a:solidFill>
                  <a:srgbClr val="2E3A40"/>
                </a:solidFill>
                <a:latin typeface="Calibri"/>
              </a:rPr>
              <a:t>PostgreSQL es </a:t>
            </a:r>
            <a:r>
              <a:rPr sz="1400" b="0" i="0" dirty="0" err="1">
                <a:solidFill>
                  <a:srgbClr val="2E3A40"/>
                </a:solidFill>
                <a:latin typeface="Calibri"/>
              </a:rPr>
              <a:t>el</a:t>
            </a:r>
            <a:r>
              <a:rPr sz="1400" b="0" i="0" dirty="0">
                <a:solidFill>
                  <a:srgbClr val="2E3A40"/>
                </a:solidFill>
                <a:latin typeface="Calibri"/>
              </a:rPr>
              <a:t> SGBD que </a:t>
            </a:r>
            <a:r>
              <a:rPr sz="1400" b="0" i="0" dirty="0" err="1">
                <a:solidFill>
                  <a:srgbClr val="2E3A40"/>
                </a:solidFill>
                <a:latin typeface="Calibri"/>
              </a:rPr>
              <a:t>este</a:t>
            </a:r>
            <a:r>
              <a:rPr sz="1400" b="0" i="0" dirty="0">
                <a:solidFill>
                  <a:srgbClr val="2E3A40"/>
                </a:solidFill>
                <a:latin typeface="Calibri"/>
              </a:rPr>
              <a:t> </a:t>
            </a:r>
            <a:r>
              <a:rPr sz="1400" b="0" i="0" dirty="0" err="1">
                <a:solidFill>
                  <a:srgbClr val="2E3A40"/>
                </a:solidFill>
                <a:latin typeface="Calibri"/>
              </a:rPr>
              <a:t>curso</a:t>
            </a:r>
            <a:r>
              <a:rPr sz="1400" b="0" i="0" dirty="0">
                <a:solidFill>
                  <a:srgbClr val="2E3A40"/>
                </a:solidFill>
                <a:latin typeface="Calibri"/>
              </a:rPr>
              <a:t> </a:t>
            </a:r>
            <a:r>
              <a:rPr sz="1400" b="0" i="0" dirty="0" err="1">
                <a:solidFill>
                  <a:srgbClr val="2E3A40"/>
                </a:solidFill>
                <a:latin typeface="Calibri"/>
              </a:rPr>
              <a:t>usa</a:t>
            </a:r>
            <a:r>
              <a:rPr sz="1400" b="0" i="0" dirty="0">
                <a:solidFill>
                  <a:srgbClr val="2E3A40"/>
                </a:solidFill>
                <a:latin typeface="Calibri"/>
              </a:rPr>
              <a:t> para </a:t>
            </a:r>
            <a:r>
              <a:rPr sz="1400" b="0" i="0" dirty="0" err="1">
                <a:solidFill>
                  <a:srgbClr val="2E3A40"/>
                </a:solidFill>
                <a:latin typeface="Calibri"/>
              </a:rPr>
              <a:t>crear</a:t>
            </a:r>
            <a:r>
              <a:rPr sz="1400" b="0" i="0" dirty="0">
                <a:solidFill>
                  <a:srgbClr val="2E3A40"/>
                </a:solidFill>
                <a:latin typeface="Calibri"/>
              </a:rPr>
              <a:t>, </a:t>
            </a:r>
            <a:r>
              <a:rPr sz="1400" b="0" i="0" dirty="0" err="1">
                <a:solidFill>
                  <a:srgbClr val="2E3A40"/>
                </a:solidFill>
                <a:latin typeface="Calibri"/>
              </a:rPr>
              <a:t>consultar</a:t>
            </a:r>
            <a:r>
              <a:rPr sz="1400" b="0" i="0" dirty="0">
                <a:solidFill>
                  <a:srgbClr val="2E3A40"/>
                </a:solidFill>
                <a:latin typeface="Calibri"/>
              </a:rPr>
              <a:t> y </a:t>
            </a:r>
            <a:r>
              <a:rPr sz="1400" b="0" i="0" dirty="0" err="1">
                <a:solidFill>
                  <a:srgbClr val="2E3A40"/>
                </a:solidFill>
                <a:latin typeface="Calibri"/>
              </a:rPr>
              <a:t>proteger</a:t>
            </a:r>
            <a:r>
              <a:rPr sz="1400" b="0" i="0" dirty="0">
                <a:solidFill>
                  <a:srgbClr val="2E3A40"/>
                </a:solidFill>
                <a:latin typeface="Calibri"/>
              </a:rPr>
              <a:t> </a:t>
            </a:r>
            <a:r>
              <a:rPr sz="1400" b="0" i="0" dirty="0" err="1">
                <a:solidFill>
                  <a:srgbClr val="2E3A40"/>
                </a:solidFill>
                <a:latin typeface="Calibri"/>
              </a:rPr>
              <a:t>esa</a:t>
            </a:r>
            <a:r>
              <a:rPr sz="1400" b="0" i="0" dirty="0">
                <a:solidFill>
                  <a:srgbClr val="2E3A40"/>
                </a:solidFill>
                <a:latin typeface="Calibri"/>
              </a:rPr>
              <a:t> base de </a:t>
            </a:r>
            <a:r>
              <a:rPr sz="1400" b="0" i="0" dirty="0" err="1">
                <a:solidFill>
                  <a:srgbClr val="2E3A40"/>
                </a:solidFill>
                <a:latin typeface="Calibri"/>
              </a:rPr>
              <a:t>datos</a:t>
            </a:r>
            <a:r>
              <a:rPr sz="1400" b="0" i="0" dirty="0">
                <a:solidFill>
                  <a:srgbClr val="2E3A40"/>
                </a:solidFill>
                <a:latin typeface="Calibri"/>
              </a:rPr>
              <a:t>.</a:t>
            </a:r>
          </a:p>
          <a:p>
            <a:pPr algn="l">
              <a:spcAft>
                <a:spcPts val="400"/>
              </a:spcAft>
            </a:pPr>
            <a:r>
              <a:rPr sz="1600" b="1" i="0" dirty="0" err="1">
                <a:solidFill>
                  <a:srgbClr val="007A7A"/>
                </a:solidFill>
                <a:latin typeface="Calibri"/>
              </a:rPr>
              <a:t>Propiedades</a:t>
            </a:r>
            <a:r>
              <a:rPr sz="1600" b="1" i="0" dirty="0">
                <a:solidFill>
                  <a:srgbClr val="007A7A"/>
                </a:solidFill>
                <a:latin typeface="Calibri"/>
              </a:rPr>
              <a:t> </a:t>
            </a:r>
            <a:r>
              <a:rPr sz="1600" b="1" i="0" dirty="0" err="1">
                <a:solidFill>
                  <a:srgbClr val="007A7A"/>
                </a:solidFill>
                <a:latin typeface="Calibri"/>
              </a:rPr>
              <a:t>esperadas</a:t>
            </a:r>
            <a:endParaRPr sz="1600" b="1" i="0" dirty="0">
              <a:solidFill>
                <a:srgbClr val="007A7A"/>
              </a:solidFill>
              <a:latin typeface="Calibri"/>
            </a:endParaRPr>
          </a:p>
          <a:p>
            <a:pPr marL="228600" indent="-182880" algn="l">
              <a:spcAft>
                <a:spcPts val="400"/>
              </a:spcAft>
              <a:buChar char="•"/>
            </a:pPr>
            <a:r>
              <a:rPr sz="1400" b="0" i="0" dirty="0" err="1">
                <a:solidFill>
                  <a:srgbClr val="2E3A40"/>
                </a:solidFill>
                <a:latin typeface="Calibri"/>
              </a:rPr>
              <a:t>Autodescriptiva</a:t>
            </a:r>
            <a:r>
              <a:rPr sz="1400" b="0" i="0" dirty="0">
                <a:solidFill>
                  <a:srgbClr val="2E3A40"/>
                </a:solidFill>
                <a:latin typeface="Calibri"/>
              </a:rPr>
              <a:t> (</a:t>
            </a:r>
            <a:r>
              <a:rPr sz="1400" b="0" i="0" dirty="0" err="1">
                <a:solidFill>
                  <a:srgbClr val="2E3A40"/>
                </a:solidFill>
                <a:latin typeface="Calibri"/>
              </a:rPr>
              <a:t>su</a:t>
            </a:r>
            <a:r>
              <a:rPr sz="1400" b="0" i="0" dirty="0">
                <a:solidFill>
                  <a:srgbClr val="2E3A40"/>
                </a:solidFill>
                <a:latin typeface="Calibri"/>
              </a:rPr>
              <a:t> </a:t>
            </a:r>
            <a:r>
              <a:rPr sz="1400" b="0" i="0" dirty="0" err="1">
                <a:solidFill>
                  <a:srgbClr val="2E3A40"/>
                </a:solidFill>
                <a:latin typeface="Calibri"/>
              </a:rPr>
              <a:t>propio</a:t>
            </a:r>
            <a:r>
              <a:rPr sz="1400" b="0" i="0" dirty="0">
                <a:solidFill>
                  <a:srgbClr val="2E3A40"/>
                </a:solidFill>
                <a:latin typeface="Calibri"/>
              </a:rPr>
              <a:t> </a:t>
            </a:r>
            <a:r>
              <a:rPr sz="1400" b="0" i="0" dirty="0" err="1">
                <a:solidFill>
                  <a:srgbClr val="2E3A40"/>
                </a:solidFill>
                <a:latin typeface="Calibri"/>
              </a:rPr>
              <a:t>esquema</a:t>
            </a:r>
            <a:r>
              <a:rPr sz="1400" b="0" i="0" dirty="0">
                <a:solidFill>
                  <a:srgbClr val="2E3A40"/>
                </a:solidFill>
                <a:latin typeface="Calibri"/>
              </a:rPr>
              <a:t> describe </a:t>
            </a:r>
            <a:r>
              <a:rPr sz="1400" b="0" i="0" dirty="0" err="1">
                <a:solidFill>
                  <a:srgbClr val="2E3A40"/>
                </a:solidFill>
                <a:latin typeface="Calibri"/>
              </a:rPr>
              <a:t>su</a:t>
            </a:r>
            <a:r>
              <a:rPr sz="1400" b="0" i="0" dirty="0">
                <a:solidFill>
                  <a:srgbClr val="2E3A40"/>
                </a:solidFill>
                <a:latin typeface="Calibri"/>
              </a:rPr>
              <a:t> </a:t>
            </a:r>
            <a:r>
              <a:rPr sz="1400" b="0" i="0" dirty="0" err="1">
                <a:solidFill>
                  <a:srgbClr val="2E3A40"/>
                </a:solidFill>
                <a:latin typeface="Calibri"/>
              </a:rPr>
              <a:t>estructura</a:t>
            </a:r>
            <a:r>
              <a:rPr sz="1400" b="0" i="0" dirty="0">
                <a:solidFill>
                  <a:srgbClr val="2E3A40"/>
                </a:solidFill>
                <a:latin typeface="Calibri"/>
              </a:rPr>
              <a:t>), con </a:t>
            </a:r>
            <a:r>
              <a:rPr sz="1400" b="0" i="0" dirty="0" err="1">
                <a:solidFill>
                  <a:srgbClr val="2E3A40"/>
                </a:solidFill>
                <a:latin typeface="Calibri"/>
              </a:rPr>
              <a:t>abstracción</a:t>
            </a:r>
            <a:r>
              <a:rPr sz="1400" b="0" i="0" dirty="0">
                <a:solidFill>
                  <a:srgbClr val="2E3A40"/>
                </a:solidFill>
                <a:latin typeface="Calibri"/>
              </a:rPr>
              <a:t> de </a:t>
            </a:r>
            <a:r>
              <a:rPr sz="1400" b="0" i="0" dirty="0" err="1">
                <a:solidFill>
                  <a:srgbClr val="2E3A40"/>
                </a:solidFill>
                <a:latin typeface="Calibri"/>
              </a:rPr>
              <a:t>datos</a:t>
            </a:r>
            <a:r>
              <a:rPr sz="1400" b="0" i="0" dirty="0">
                <a:solidFill>
                  <a:srgbClr val="2E3A40"/>
                </a:solidFill>
                <a:latin typeface="Calibri"/>
              </a:rPr>
              <a:t>, </a:t>
            </a:r>
            <a:r>
              <a:rPr sz="1400" b="0" i="0" dirty="0" err="1">
                <a:solidFill>
                  <a:srgbClr val="2E3A40"/>
                </a:solidFill>
                <a:latin typeface="Calibri"/>
              </a:rPr>
              <a:t>múltiples</a:t>
            </a:r>
            <a:r>
              <a:rPr sz="1400" b="0" i="0" dirty="0">
                <a:solidFill>
                  <a:srgbClr val="2E3A40"/>
                </a:solidFill>
                <a:latin typeface="Calibri"/>
              </a:rPr>
              <a:t> vistas para </a:t>
            </a:r>
            <a:r>
              <a:rPr sz="1400" b="0" i="0" dirty="0" err="1">
                <a:solidFill>
                  <a:srgbClr val="2E3A40"/>
                </a:solidFill>
                <a:latin typeface="Calibri"/>
              </a:rPr>
              <a:t>distintos</a:t>
            </a:r>
            <a:r>
              <a:rPr sz="1400" b="0" i="0" dirty="0">
                <a:solidFill>
                  <a:srgbClr val="2E3A40"/>
                </a:solidFill>
                <a:latin typeface="Calibri"/>
              </a:rPr>
              <a:t> </a:t>
            </a:r>
            <a:r>
              <a:rPr sz="1400" b="0" i="0" dirty="0" err="1">
                <a:solidFill>
                  <a:srgbClr val="2E3A40"/>
                </a:solidFill>
                <a:latin typeface="Calibri"/>
              </a:rPr>
              <a:t>usuarios</a:t>
            </a:r>
            <a:r>
              <a:rPr sz="1400" b="0" i="0" dirty="0">
                <a:solidFill>
                  <a:srgbClr val="2E3A40"/>
                </a:solidFill>
                <a:latin typeface="Calibri"/>
              </a:rPr>
              <a:t>, y </a:t>
            </a:r>
            <a:r>
              <a:rPr sz="1400" b="0" i="0" dirty="0" err="1">
                <a:solidFill>
                  <a:srgbClr val="2E3A40"/>
                </a:solidFill>
                <a:latin typeface="Calibri"/>
              </a:rPr>
              <a:t>compartida</a:t>
            </a:r>
            <a:r>
              <a:rPr sz="1400" b="0" i="0" dirty="0">
                <a:solidFill>
                  <a:srgbClr val="2E3A40"/>
                </a:solidFill>
                <a:latin typeface="Calibri"/>
              </a:rPr>
              <a:t> de forma </a:t>
            </a:r>
            <a:r>
              <a:rPr sz="1400" b="0" i="0" dirty="0" err="1">
                <a:solidFill>
                  <a:srgbClr val="2E3A40"/>
                </a:solidFill>
                <a:latin typeface="Calibri"/>
              </a:rPr>
              <a:t>controlada</a:t>
            </a:r>
            <a:r>
              <a:rPr sz="1400" b="0" i="0" dirty="0">
                <a:solidFill>
                  <a:srgbClr val="2E3A40"/>
                </a:solidFill>
                <a:latin typeface="Calibri"/>
              </a:rPr>
              <a:t> entre </a:t>
            </a:r>
            <a:r>
              <a:rPr sz="1400" b="0" i="0" dirty="0" err="1">
                <a:solidFill>
                  <a:srgbClr val="2E3A40"/>
                </a:solidFill>
                <a:latin typeface="Calibri"/>
              </a:rPr>
              <a:t>aplicaciones</a:t>
            </a:r>
            <a:r>
              <a:rPr sz="1400" b="0" i="0" dirty="0">
                <a:solidFill>
                  <a:srgbClr val="2E3A40"/>
                </a:solidFill>
                <a:latin typeface="Calibri"/>
              </a:rPr>
              <a:t> y personas.</a:t>
            </a:r>
          </a:p>
        </p:txBody>
      </p:sp>
      <p:sp>
        <p:nvSpPr>
          <p:cNvPr id="8" name="TextBox 7"/>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Elmasri y Navathe (2016), cap. 1; Silberschatz, Korth y Sudarshan (2020), cap.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3. Un SGBD resuelve lo que las planillas no pueden</a:t>
            </a:r>
          </a:p>
        </p:txBody>
      </p:sp>
      <p:graphicFrame>
        <p:nvGraphicFramePr>
          <p:cNvPr id="4" name="Table 3"/>
          <p:cNvGraphicFramePr>
            <a:graphicFrameLocks noGrp="1"/>
          </p:cNvGraphicFramePr>
          <p:nvPr/>
        </p:nvGraphicFramePr>
        <p:xfrm>
          <a:off x="1325880" y="1417320"/>
          <a:ext cx="10863071" cy="2420112"/>
        </p:xfrm>
        <a:graphic>
          <a:graphicData uri="http://schemas.openxmlformats.org/drawingml/2006/table">
            <a:tbl>
              <a:tblPr firstRow="1" bandRow="1">
                <a:tableStyleId>{5C22544A-7EE6-4342-B048-85BDC9FD1C3A}</a:tableStyleId>
              </a:tblPr>
              <a:tblGrid>
                <a:gridCol w="2343015">
                  <a:extLst>
                    <a:ext uri="{9D8B030D-6E8A-4147-A177-3AD203B41FA5}">
                      <a16:colId xmlns:a16="http://schemas.microsoft.com/office/drawing/2014/main" val="20000"/>
                    </a:ext>
                  </a:extLst>
                </a:gridCol>
                <a:gridCol w="4686031">
                  <a:extLst>
                    <a:ext uri="{9D8B030D-6E8A-4147-A177-3AD203B41FA5}">
                      <a16:colId xmlns:a16="http://schemas.microsoft.com/office/drawing/2014/main" val="20001"/>
                    </a:ext>
                  </a:extLst>
                </a:gridCol>
                <a:gridCol w="3834025">
                  <a:extLst>
                    <a:ext uri="{9D8B030D-6E8A-4147-A177-3AD203B41FA5}">
                      <a16:colId xmlns:a16="http://schemas.microsoft.com/office/drawing/2014/main" val="20002"/>
                    </a:ext>
                  </a:extLst>
                </a:gridCol>
              </a:tblGrid>
              <a:tr h="384048">
                <a:tc>
                  <a:txBody>
                    <a:bodyPr/>
                    <a:lstStyle/>
                    <a:p>
                      <a:r>
                        <a:rPr sz="1400" b="1">
                          <a:solidFill>
                            <a:srgbClr val="FFFFFF"/>
                          </a:solidFill>
                          <a:latin typeface="Calibri"/>
                        </a:rPr>
                        <a:t>Problema con planillas</a:t>
                      </a:r>
                    </a:p>
                  </a:txBody>
                  <a:tcPr marL="73152" marR="73152" marT="36576" marB="36576">
                    <a:solidFill>
                      <a:srgbClr val="007A7A"/>
                    </a:solidFill>
                  </a:tcPr>
                </a:tc>
                <a:tc>
                  <a:txBody>
                    <a:bodyPr/>
                    <a:lstStyle/>
                    <a:p>
                      <a:r>
                        <a:rPr sz="1400" b="1">
                          <a:solidFill>
                            <a:srgbClr val="FFFFFF"/>
                          </a:solidFill>
                          <a:latin typeface="Calibri"/>
                        </a:rPr>
                        <a:t>Ejemplo en el registro académico</a:t>
                      </a:r>
                    </a:p>
                  </a:txBody>
                  <a:tcPr marL="73152" marR="73152" marT="36576" marB="36576">
                    <a:solidFill>
                      <a:srgbClr val="007A7A"/>
                    </a:solidFill>
                  </a:tcPr>
                </a:tc>
                <a:tc>
                  <a:txBody>
                    <a:bodyPr/>
                    <a:lstStyle/>
                    <a:p>
                      <a:r>
                        <a:rPr sz="1400" b="1">
                          <a:solidFill>
                            <a:srgbClr val="FFFFFF"/>
                          </a:solidFill>
                          <a:latin typeface="Calibri"/>
                        </a:rPr>
                        <a:t>Respuesta del SGBD</a:t>
                      </a:r>
                    </a:p>
                  </a:txBody>
                  <a:tcPr marL="73152" marR="73152" marT="36576" marB="36576">
                    <a:solidFill>
                      <a:srgbClr val="007A7A"/>
                    </a:solidFill>
                  </a:tcPr>
                </a:tc>
                <a:extLst>
                  <a:ext uri="{0D108BD9-81ED-4DB2-BD59-A6C34878D82A}">
                    <a16:rowId xmlns:a16="http://schemas.microsoft.com/office/drawing/2014/main" val="10000"/>
                  </a:ext>
                </a:extLst>
              </a:tr>
              <a:tr h="384048">
                <a:tc>
                  <a:txBody>
                    <a:bodyPr/>
                    <a:lstStyle/>
                    <a:p>
                      <a:r>
                        <a:rPr sz="1400" b="0">
                          <a:solidFill>
                            <a:srgbClr val="2E3A40"/>
                          </a:solidFill>
                          <a:latin typeface="Calibri"/>
                        </a:rPr>
                        <a:t>Redundancia</a:t>
                      </a:r>
                    </a:p>
                  </a:txBody>
                  <a:tcPr marL="73152" marR="73152" marT="36576" marB="36576">
                    <a:solidFill>
                      <a:srgbClr val="FFFFFF"/>
                    </a:solidFill>
                  </a:tcPr>
                </a:tc>
                <a:tc>
                  <a:txBody>
                    <a:bodyPr/>
                    <a:lstStyle/>
                    <a:p>
                      <a:r>
                        <a:rPr sz="1400" b="0">
                          <a:solidFill>
                            <a:srgbClr val="2E3A40"/>
                          </a:solidFill>
                          <a:latin typeface="Calibri"/>
                        </a:rPr>
                        <a:t>Los datos del estudiante se repiten en la planilla de cada asignatura</a:t>
                      </a:r>
                    </a:p>
                  </a:txBody>
                  <a:tcPr marL="73152" marR="73152" marT="36576" marB="36576">
                    <a:solidFill>
                      <a:srgbClr val="FFFFFF"/>
                    </a:solidFill>
                  </a:tcPr>
                </a:tc>
                <a:tc>
                  <a:txBody>
                    <a:bodyPr/>
                    <a:lstStyle/>
                    <a:p>
                      <a:r>
                        <a:rPr sz="1400" b="0">
                          <a:solidFill>
                            <a:srgbClr val="2E3A40"/>
                          </a:solidFill>
                          <a:latin typeface="Calibri"/>
                        </a:rPr>
                        <a:t>Un dato, un lugar; referencias por clave</a:t>
                      </a:r>
                    </a:p>
                  </a:txBody>
                  <a:tcPr marL="73152" marR="73152" marT="36576" marB="36576">
                    <a:solidFill>
                      <a:srgbClr val="FFFFFF"/>
                    </a:solidFill>
                  </a:tcPr>
                </a:tc>
                <a:extLst>
                  <a:ext uri="{0D108BD9-81ED-4DB2-BD59-A6C34878D82A}">
                    <a16:rowId xmlns:a16="http://schemas.microsoft.com/office/drawing/2014/main" val="10001"/>
                  </a:ext>
                </a:extLst>
              </a:tr>
              <a:tr h="384048">
                <a:tc>
                  <a:txBody>
                    <a:bodyPr/>
                    <a:lstStyle/>
                    <a:p>
                      <a:r>
                        <a:rPr sz="1400" b="0">
                          <a:solidFill>
                            <a:srgbClr val="2E3A40"/>
                          </a:solidFill>
                          <a:latin typeface="Calibri"/>
                        </a:rPr>
                        <a:t>Inconsistencia</a:t>
                      </a:r>
                    </a:p>
                  </a:txBody>
                  <a:tcPr marL="73152" marR="73152" marT="36576" marB="36576">
                    <a:solidFill>
                      <a:srgbClr val="E8F7F6"/>
                    </a:solidFill>
                  </a:tcPr>
                </a:tc>
                <a:tc>
                  <a:txBody>
                    <a:bodyPr/>
                    <a:lstStyle/>
                    <a:p>
                      <a:r>
                        <a:rPr sz="1400" b="0">
                          <a:solidFill>
                            <a:srgbClr val="2E3A40"/>
                          </a:solidFill>
                          <a:latin typeface="Calibri"/>
                        </a:rPr>
                        <a:t>“ICTM”, “Ing. Territorio” y “Territorio y MA”</a:t>
                      </a:r>
                    </a:p>
                  </a:txBody>
                  <a:tcPr marL="73152" marR="73152" marT="36576" marB="36576">
                    <a:solidFill>
                      <a:srgbClr val="E8F7F6"/>
                    </a:solidFill>
                  </a:tcPr>
                </a:tc>
                <a:tc>
                  <a:txBody>
                    <a:bodyPr/>
                    <a:lstStyle/>
                    <a:p>
                      <a:r>
                        <a:rPr sz="1400" b="0">
                          <a:solidFill>
                            <a:srgbClr val="2E3A40"/>
                          </a:solidFill>
                          <a:latin typeface="Calibri"/>
                        </a:rPr>
                        <a:t>Catálogos y claves foráneas</a:t>
                      </a:r>
                    </a:p>
                  </a:txBody>
                  <a:tcPr marL="73152" marR="73152" marT="36576" marB="36576">
                    <a:solidFill>
                      <a:srgbClr val="E8F7F6"/>
                    </a:solidFill>
                  </a:tcPr>
                </a:tc>
                <a:extLst>
                  <a:ext uri="{0D108BD9-81ED-4DB2-BD59-A6C34878D82A}">
                    <a16:rowId xmlns:a16="http://schemas.microsoft.com/office/drawing/2014/main" val="10002"/>
                  </a:ext>
                </a:extLst>
              </a:tr>
              <a:tr h="384048">
                <a:tc>
                  <a:txBody>
                    <a:bodyPr/>
                    <a:lstStyle/>
                    <a:p>
                      <a:r>
                        <a:rPr sz="1400" b="0">
                          <a:solidFill>
                            <a:srgbClr val="2E3A40"/>
                          </a:solidFill>
                          <a:latin typeface="Calibri"/>
                        </a:rPr>
                        <a:t>Acceso concurrente</a:t>
                      </a:r>
                    </a:p>
                  </a:txBody>
                  <a:tcPr marL="73152" marR="73152" marT="36576" marB="36576">
                    <a:solidFill>
                      <a:srgbClr val="FFFFFF"/>
                    </a:solidFill>
                  </a:tcPr>
                </a:tc>
                <a:tc>
                  <a:txBody>
                    <a:bodyPr/>
                    <a:lstStyle/>
                    <a:p>
                      <a:r>
                        <a:rPr sz="1400" b="0">
                          <a:solidFill>
                            <a:srgbClr val="2E3A40"/>
                          </a:solidFill>
                          <a:latin typeface="Calibri"/>
                        </a:rPr>
                        <a:t>Dos secretarías inscriben en la última vacante</a:t>
                      </a:r>
                    </a:p>
                  </a:txBody>
                  <a:tcPr marL="73152" marR="73152" marT="36576" marB="36576">
                    <a:solidFill>
                      <a:srgbClr val="FFFFFF"/>
                    </a:solidFill>
                  </a:tcPr>
                </a:tc>
                <a:tc>
                  <a:txBody>
                    <a:bodyPr/>
                    <a:lstStyle/>
                    <a:p>
                      <a:r>
                        <a:rPr sz="1400" b="0">
                          <a:solidFill>
                            <a:srgbClr val="2E3A40"/>
                          </a:solidFill>
                          <a:latin typeface="Calibri"/>
                        </a:rPr>
                        <a:t>Transacciones con aislamiento</a:t>
                      </a:r>
                    </a:p>
                  </a:txBody>
                  <a:tcPr marL="73152" marR="73152" marT="36576" marB="36576">
                    <a:solidFill>
                      <a:srgbClr val="FFFFFF"/>
                    </a:solidFill>
                  </a:tcPr>
                </a:tc>
                <a:extLst>
                  <a:ext uri="{0D108BD9-81ED-4DB2-BD59-A6C34878D82A}">
                    <a16:rowId xmlns:a16="http://schemas.microsoft.com/office/drawing/2014/main" val="10003"/>
                  </a:ext>
                </a:extLst>
              </a:tr>
              <a:tr h="384048">
                <a:tc>
                  <a:txBody>
                    <a:bodyPr/>
                    <a:lstStyle/>
                    <a:p>
                      <a:r>
                        <a:rPr sz="1400" b="0">
                          <a:solidFill>
                            <a:srgbClr val="2E3A40"/>
                          </a:solidFill>
                          <a:latin typeface="Calibri"/>
                        </a:rPr>
                        <a:t>Seguridad</a:t>
                      </a:r>
                    </a:p>
                  </a:txBody>
                  <a:tcPr marL="73152" marR="73152" marT="36576" marB="36576">
                    <a:solidFill>
                      <a:srgbClr val="E8F7F6"/>
                    </a:solidFill>
                  </a:tcPr>
                </a:tc>
                <a:tc>
                  <a:txBody>
                    <a:bodyPr/>
                    <a:lstStyle/>
                    <a:p>
                      <a:r>
                        <a:rPr sz="1400" b="0">
                          <a:solidFill>
                            <a:srgbClr val="2E3A40"/>
                          </a:solidFill>
                          <a:latin typeface="Calibri"/>
                        </a:rPr>
                        <a:t>Un estudiante podría cambiar su propia nota</a:t>
                      </a:r>
                    </a:p>
                  </a:txBody>
                  <a:tcPr marL="73152" marR="73152" marT="36576" marB="36576">
                    <a:solidFill>
                      <a:srgbClr val="E8F7F6"/>
                    </a:solidFill>
                  </a:tcPr>
                </a:tc>
                <a:tc>
                  <a:txBody>
                    <a:bodyPr/>
                    <a:lstStyle/>
                    <a:p>
                      <a:r>
                        <a:rPr sz="1400" b="0">
                          <a:solidFill>
                            <a:srgbClr val="2E3A40"/>
                          </a:solidFill>
                          <a:latin typeface="Calibri"/>
                        </a:rPr>
                        <a:t>Roles y privilegios por objeto</a:t>
                      </a:r>
                    </a:p>
                  </a:txBody>
                  <a:tcPr marL="73152" marR="73152" marT="36576" marB="36576">
                    <a:solidFill>
                      <a:srgbClr val="E8F7F6"/>
                    </a:solidFill>
                  </a:tcPr>
                </a:tc>
                <a:extLst>
                  <a:ext uri="{0D108BD9-81ED-4DB2-BD59-A6C34878D82A}">
                    <a16:rowId xmlns:a16="http://schemas.microsoft.com/office/drawing/2014/main" val="10004"/>
                  </a:ext>
                </a:extLst>
              </a:tr>
              <a:tr h="384048">
                <a:tc>
                  <a:txBody>
                    <a:bodyPr/>
                    <a:lstStyle/>
                    <a:p>
                      <a:r>
                        <a:rPr sz="1400" b="0">
                          <a:solidFill>
                            <a:srgbClr val="2E3A40"/>
                          </a:solidFill>
                          <a:latin typeface="Calibri"/>
                        </a:rPr>
                        <a:t>Integridad</a:t>
                      </a:r>
                    </a:p>
                  </a:txBody>
                  <a:tcPr marL="73152" marR="73152" marT="36576" marB="36576">
                    <a:solidFill>
                      <a:srgbClr val="FFFFFF"/>
                    </a:solidFill>
                  </a:tcPr>
                </a:tc>
                <a:tc>
                  <a:txBody>
                    <a:bodyPr/>
                    <a:lstStyle/>
                    <a:p>
                      <a:r>
                        <a:rPr sz="1400" b="0">
                          <a:solidFill>
                            <a:srgbClr val="2E3A40"/>
                          </a:solidFill>
                          <a:latin typeface="Calibri"/>
                        </a:rPr>
                        <a:t>Una nota 8,5 o una fecha de nacimiento futura</a:t>
                      </a:r>
                    </a:p>
                  </a:txBody>
                  <a:tcPr marL="73152" marR="73152" marT="36576" marB="36576">
                    <a:solidFill>
                      <a:srgbClr val="FFFFFF"/>
                    </a:solidFill>
                  </a:tcPr>
                </a:tc>
                <a:tc>
                  <a:txBody>
                    <a:bodyPr/>
                    <a:lstStyle/>
                    <a:p>
                      <a:r>
                        <a:rPr sz="1400" b="0">
                          <a:solidFill>
                            <a:srgbClr val="2E3A40"/>
                          </a:solidFill>
                          <a:latin typeface="Calibri"/>
                        </a:rPr>
                        <a:t>Dominios y restricciones CHECK</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argumento clásico contra sistemas de archivos, Elmasri y Navathe (2016), cap. 1; Silberschatz, Korth y Sudarshan (2020), cap.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4. Tres niveles de abstracción (ANSI/SPARC)</a:t>
            </a:r>
          </a:p>
        </p:txBody>
      </p:sp>
      <p:sp>
        <p:nvSpPr>
          <p:cNvPr id="4" name="TextBox 3"/>
          <p:cNvSpPr txBox="1"/>
          <p:nvPr/>
        </p:nvSpPr>
        <p:spPr>
          <a:xfrm>
            <a:off x="1325880" y="1371600"/>
            <a:ext cx="10863072" cy="640080"/>
          </a:xfrm>
          <a:prstGeom prst="rect">
            <a:avLst/>
          </a:prstGeom>
          <a:noFill/>
        </p:spPr>
        <p:txBody>
          <a:bodyPr wrap="square" lIns="73152" tIns="36576" rIns="73152" bIns="36576" anchor="t">
            <a:spAutoFit/>
          </a:bodyPr>
          <a:lstStyle/>
          <a:p>
            <a:pPr algn="l">
              <a:spcAft>
                <a:spcPts val="600"/>
              </a:spcAft>
            </a:pPr>
            <a:r>
              <a:rPr sz="1500" b="0" i="0">
                <a:solidFill>
                  <a:srgbClr val="5A676E"/>
                </a:solidFill>
                <a:latin typeface="Calibri"/>
              </a:rPr>
              <a:t>Independencia lógica: cambiar el esquema sin romper las vistas. Independencia física: cambiar el almacenamiento sin tocar el esquema.</a:t>
            </a:r>
          </a:p>
        </p:txBody>
      </p:sp>
      <p:sp>
        <p:nvSpPr>
          <p:cNvPr id="5" name="Rounded Rectangle 4"/>
          <p:cNvSpPr/>
          <p:nvPr/>
        </p:nvSpPr>
        <p:spPr>
          <a:xfrm>
            <a:off x="1325880" y="2057400"/>
            <a:ext cx="3468624"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08760"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8" name="TextBox 7"/>
          <p:cNvSpPr txBox="1"/>
          <p:nvPr/>
        </p:nvSpPr>
        <p:spPr>
          <a:xfrm>
            <a:off x="1984248" y="2221992"/>
            <a:ext cx="2645664"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Nivel externo</a:t>
            </a:r>
          </a:p>
        </p:txBody>
      </p:sp>
      <p:sp>
        <p:nvSpPr>
          <p:cNvPr id="9" name="TextBox 8"/>
          <p:cNvSpPr txBox="1"/>
          <p:nvPr/>
        </p:nvSpPr>
        <p:spPr>
          <a:xfrm>
            <a:off x="1508760" y="2788920"/>
            <a:ext cx="3102864"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Vistas por usuario: el estudiante ve su avance; la jefatura de carrera, tasas de aprobación.</a:t>
            </a:r>
          </a:p>
        </p:txBody>
      </p:sp>
      <p:sp>
        <p:nvSpPr>
          <p:cNvPr id="10" name="Rounded Rectangle 9"/>
          <p:cNvSpPr/>
          <p:nvPr/>
        </p:nvSpPr>
        <p:spPr>
          <a:xfrm>
            <a:off x="5023104" y="2057400"/>
            <a:ext cx="3468624"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205984"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05984"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3" name="TextBox 12"/>
          <p:cNvSpPr txBox="1"/>
          <p:nvPr/>
        </p:nvSpPr>
        <p:spPr>
          <a:xfrm>
            <a:off x="5681472" y="2221992"/>
            <a:ext cx="2645664"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Nivel conceptual</a:t>
            </a:r>
          </a:p>
        </p:txBody>
      </p:sp>
      <p:sp>
        <p:nvSpPr>
          <p:cNvPr id="14" name="TextBox 13"/>
          <p:cNvSpPr txBox="1"/>
          <p:nvPr/>
        </p:nvSpPr>
        <p:spPr>
          <a:xfrm>
            <a:off x="5205984" y="2788920"/>
            <a:ext cx="3102864"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Entidades, atributos, relaciones y reglas: ESTUDIANTE, ASIGNATURA, SECCIÓN, INSCRIPCIÓN.</a:t>
            </a:r>
          </a:p>
        </p:txBody>
      </p:sp>
      <p:sp>
        <p:nvSpPr>
          <p:cNvPr id="15" name="Rounded Rectangle 14"/>
          <p:cNvSpPr/>
          <p:nvPr/>
        </p:nvSpPr>
        <p:spPr>
          <a:xfrm>
            <a:off x="8720327" y="2057400"/>
            <a:ext cx="3468624"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03207"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03207"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8" name="TextBox 17"/>
          <p:cNvSpPr txBox="1"/>
          <p:nvPr/>
        </p:nvSpPr>
        <p:spPr>
          <a:xfrm>
            <a:off x="9378696" y="2221992"/>
            <a:ext cx="2645664"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Nivel interno</a:t>
            </a:r>
          </a:p>
        </p:txBody>
      </p:sp>
      <p:sp>
        <p:nvSpPr>
          <p:cNvPr id="19" name="TextBox 18"/>
          <p:cNvSpPr txBox="1"/>
          <p:nvPr/>
        </p:nvSpPr>
        <p:spPr>
          <a:xfrm>
            <a:off x="8903207" y="2788920"/>
            <a:ext cx="3102864"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Archivos, páginas e índices. Crear un índice no cambia el esquema.</a:t>
            </a:r>
          </a:p>
        </p:txBody>
      </p:sp>
      <p:sp>
        <p:nvSpPr>
          <p:cNvPr id="20" name="TextBox 19"/>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ANSI/X3/SPARC Study Group (1975); Tsichritzis y Klug (1978).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5. Del relato del cliente a reglas de negocio</a:t>
            </a:r>
          </a:p>
        </p:txBody>
      </p:sp>
      <p:sp>
        <p:nvSpPr>
          <p:cNvPr id="4" name="Rectangle 3"/>
          <p:cNvSpPr/>
          <p:nvPr/>
        </p:nvSpPr>
        <p:spPr>
          <a:xfrm>
            <a:off x="1325880" y="1417320"/>
            <a:ext cx="5312664" cy="54864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Relato de Registro Curricular</a:t>
            </a:r>
          </a:p>
        </p:txBody>
      </p:sp>
      <p:sp>
        <p:nvSpPr>
          <p:cNvPr id="6" name="Rectangle 5"/>
          <p:cNvSpPr/>
          <p:nvPr/>
        </p:nvSpPr>
        <p:spPr>
          <a:xfrm>
            <a:off x="1325880"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103120"/>
            <a:ext cx="4937760" cy="3749039"/>
          </a:xfrm>
          <a:prstGeom prst="rect">
            <a:avLst/>
          </a:prstGeom>
          <a:noFill/>
        </p:spPr>
        <p:txBody>
          <a:bodyPr wrap="square" lIns="73152" tIns="36576" rIns="73152" bIns="36576" anchor="t">
            <a:spAutoFit/>
          </a:bodyPr>
          <a:lstStyle/>
          <a:p>
            <a:pPr marL="228600" indent="-182880" algn="l">
              <a:spcAft>
                <a:spcPts val="600"/>
              </a:spcAft>
              <a:buChar char="•"/>
            </a:pPr>
            <a:r>
              <a:rPr sz="1400" b="0" i="0">
                <a:solidFill>
                  <a:srgbClr val="2E3A40"/>
                </a:solidFill>
                <a:latin typeface="Calibri"/>
              </a:rPr>
              <a:t>Los departamentos dictan asignaturas y administran carreras.</a:t>
            </a:r>
          </a:p>
          <a:p>
            <a:pPr marL="228600" indent="-182880" algn="l">
              <a:spcAft>
                <a:spcPts val="600"/>
              </a:spcAft>
              <a:buChar char="•"/>
            </a:pPr>
            <a:r>
              <a:rPr sz="1400" b="0" i="0">
                <a:solidFill>
                  <a:srgbClr val="2E3A40"/>
                </a:solidFill>
                <a:latin typeface="Calibri"/>
              </a:rPr>
              <a:t>Cada estudiante pertenece a una carrera.</a:t>
            </a:r>
          </a:p>
          <a:p>
            <a:pPr marL="228600" indent="-182880" algn="l">
              <a:spcAft>
                <a:spcPts val="600"/>
              </a:spcAft>
              <a:buChar char="•"/>
            </a:pPr>
            <a:r>
              <a:rPr sz="1400" b="0" i="0">
                <a:solidFill>
                  <a:srgbClr val="2E3A40"/>
                </a:solidFill>
                <a:latin typeface="Calibri"/>
              </a:rPr>
              <a:t>Una asignatura puede exigir otras como prerrequisito.</a:t>
            </a:r>
          </a:p>
          <a:p>
            <a:pPr marL="228600" indent="-182880" algn="l">
              <a:spcAft>
                <a:spcPts val="600"/>
              </a:spcAft>
              <a:buChar char="•"/>
            </a:pPr>
            <a:r>
              <a:rPr sz="1400" b="0" i="0">
                <a:solidFill>
                  <a:srgbClr val="2E3A40"/>
                </a:solidFill>
                <a:latin typeface="Calibri"/>
              </a:rPr>
              <a:t>Cada período se abren secciones con profesor, cupo y sala.</a:t>
            </a:r>
          </a:p>
          <a:p>
            <a:pPr marL="228600" indent="-182880" algn="l">
              <a:spcAft>
                <a:spcPts val="600"/>
              </a:spcAft>
              <a:buChar char="•"/>
            </a:pPr>
            <a:r>
              <a:rPr sz="1400" b="0" i="0">
                <a:solidFill>
                  <a:srgbClr val="2E3A40"/>
                </a:solidFill>
                <a:latin typeface="Calibri"/>
              </a:rPr>
              <a:t>El estudiante se inscribe en una sección y obtiene una nota de 1,0 a 7,0.</a:t>
            </a:r>
          </a:p>
        </p:txBody>
      </p:sp>
      <p:sp>
        <p:nvSpPr>
          <p:cNvPr id="8" name="Rectangle 7"/>
          <p:cNvSpPr/>
          <p:nvPr/>
        </p:nvSpPr>
        <p:spPr>
          <a:xfrm>
            <a:off x="6876288" y="1417320"/>
            <a:ext cx="5312664" cy="548640"/>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Reglas verificables</a:t>
            </a:r>
          </a:p>
        </p:txBody>
      </p:sp>
      <p:sp>
        <p:nvSpPr>
          <p:cNvPr id="10" name="Rectangle 9"/>
          <p:cNvSpPr/>
          <p:nvPr/>
        </p:nvSpPr>
        <p:spPr>
          <a:xfrm>
            <a:off x="6876288"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2103120"/>
            <a:ext cx="4937760" cy="3749039"/>
          </a:xfrm>
          <a:prstGeom prst="rect">
            <a:avLst/>
          </a:prstGeom>
          <a:noFill/>
        </p:spPr>
        <p:txBody>
          <a:bodyPr wrap="square" lIns="73152" tIns="36576" rIns="73152" bIns="36576" anchor="t">
            <a:spAutoFit/>
          </a:bodyPr>
          <a:lstStyle/>
          <a:p>
            <a:pPr marL="228600" indent="-182880" algn="l">
              <a:spcAft>
                <a:spcPts val="600"/>
              </a:spcAft>
              <a:buChar char="•"/>
            </a:pPr>
            <a:r>
              <a:rPr sz="1400" b="0" i="0">
                <a:solidFill>
                  <a:srgbClr val="2E3A40"/>
                </a:solidFill>
                <a:latin typeface="Calibri"/>
              </a:rPr>
              <a:t>RN-01 Todo estudiante pertenece a exactamente una carrera.</a:t>
            </a:r>
          </a:p>
          <a:p>
            <a:pPr marL="228600" indent="-182880" algn="l">
              <a:spcAft>
                <a:spcPts val="600"/>
              </a:spcAft>
              <a:buChar char="•"/>
            </a:pPr>
            <a:r>
              <a:rPr sz="1400" b="0" i="0">
                <a:solidFill>
                  <a:srgbClr val="2E3A40"/>
                </a:solidFill>
                <a:latin typeface="Calibri"/>
              </a:rPr>
              <a:t>RN-02 Una asignatura no es prerrequisito de sí misma.</a:t>
            </a:r>
          </a:p>
          <a:p>
            <a:pPr marL="228600" indent="-182880" algn="l">
              <a:spcAft>
                <a:spcPts val="600"/>
              </a:spcAft>
              <a:buChar char="•"/>
            </a:pPr>
            <a:r>
              <a:rPr sz="1400" b="0" i="0">
                <a:solidFill>
                  <a:srgbClr val="2E3A40"/>
                </a:solidFill>
                <a:latin typeface="Calibri"/>
              </a:rPr>
              <a:t>RN-03 A lo más una sección por asignatura y período.</a:t>
            </a:r>
          </a:p>
          <a:p>
            <a:pPr marL="228600" indent="-182880" algn="l">
              <a:spcAft>
                <a:spcPts val="600"/>
              </a:spcAft>
              <a:buChar char="•"/>
            </a:pPr>
            <a:r>
              <a:rPr sz="1400" b="0" i="0">
                <a:solidFill>
                  <a:srgbClr val="2E3A40"/>
                </a:solidFill>
                <a:latin typeface="Calibri"/>
              </a:rPr>
              <a:t>RN-04 La nota va de 1,0 a 7,0; se aprueba con 4,0.</a:t>
            </a:r>
          </a:p>
          <a:p>
            <a:pPr marL="228600" indent="-182880" algn="l">
              <a:spcAft>
                <a:spcPts val="600"/>
              </a:spcAft>
              <a:buChar char="•"/>
            </a:pPr>
            <a:r>
              <a:rPr sz="1400" b="0" i="0">
                <a:solidFill>
                  <a:srgbClr val="2E3A40"/>
                </a:solidFill>
                <a:latin typeface="Calibri"/>
              </a:rPr>
              <a:t>RN-05 Una sección se identifica por asignatura, período y número.</a:t>
            </a:r>
          </a:p>
          <a:p>
            <a:pPr marL="228600" indent="-182880" algn="l">
              <a:spcAft>
                <a:spcPts val="600"/>
              </a:spcAft>
              <a:buChar char="•"/>
            </a:pPr>
            <a:r>
              <a:rPr sz="1400" b="0" i="0">
                <a:solidFill>
                  <a:srgbClr val="2E3A40"/>
                </a:solidFill>
                <a:latin typeface="Calibri"/>
              </a:rPr>
              <a:t>RN-06 Los inscritos no superan el cupo.</a:t>
            </a:r>
          </a:p>
        </p:txBody>
      </p:sp>
      <p:sp>
        <p:nvSpPr>
          <p:cNvPr id="12" name="TextBox 1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ISO/IEC 11179-1:2015 (registros de metadatos).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6. El diccionario de datos es el contrato del equipo</a:t>
            </a:r>
          </a:p>
        </p:txBody>
      </p:sp>
      <p:sp>
        <p:nvSpPr>
          <p:cNvPr id="4" name="TextBox 3"/>
          <p:cNvSpPr txBox="1"/>
          <p:nvPr/>
        </p:nvSpPr>
        <p:spPr>
          <a:xfrm>
            <a:off x="1325880" y="1325880"/>
            <a:ext cx="10863072" cy="548640"/>
          </a:xfrm>
          <a:prstGeom prst="rect">
            <a:avLst/>
          </a:prstGeom>
          <a:noFill/>
        </p:spPr>
        <p:txBody>
          <a:bodyPr wrap="square" lIns="73152" tIns="36576" rIns="73152" bIns="36576" anchor="t">
            <a:spAutoFit/>
          </a:bodyPr>
          <a:lstStyle/>
          <a:p>
            <a:pPr algn="l">
              <a:spcAft>
                <a:spcPts val="600"/>
              </a:spcAft>
            </a:pPr>
            <a:r>
              <a:rPr sz="1500" b="0" i="0">
                <a:solidFill>
                  <a:srgbClr val="5A676E"/>
                </a:solidFill>
                <a:latin typeface="Calibri"/>
              </a:rPr>
              <a:t>Entidad INSCRIPCIÓN</a:t>
            </a:r>
          </a:p>
        </p:txBody>
      </p:sp>
      <p:graphicFrame>
        <p:nvGraphicFramePr>
          <p:cNvPr id="5" name="Table 4"/>
          <p:cNvGraphicFramePr>
            <a:graphicFrameLocks noGrp="1"/>
          </p:cNvGraphicFramePr>
          <p:nvPr/>
        </p:nvGraphicFramePr>
        <p:xfrm>
          <a:off x="1325880" y="1920240"/>
          <a:ext cx="10863070" cy="2304288"/>
        </p:xfrm>
        <a:graphic>
          <a:graphicData uri="http://schemas.openxmlformats.org/drawingml/2006/table">
            <a:tbl>
              <a:tblPr firstRow="1" bandRow="1">
                <a:tableStyleId>{5C22544A-7EE6-4342-B048-85BDC9FD1C3A}</a:tableStyleId>
              </a:tblPr>
              <a:tblGrid>
                <a:gridCol w="2715768">
                  <a:extLst>
                    <a:ext uri="{9D8B030D-6E8A-4147-A177-3AD203B41FA5}">
                      <a16:colId xmlns:a16="http://schemas.microsoft.com/office/drawing/2014/main" val="20000"/>
                    </a:ext>
                  </a:extLst>
                </a:gridCol>
                <a:gridCol w="2715768">
                  <a:extLst>
                    <a:ext uri="{9D8B030D-6E8A-4147-A177-3AD203B41FA5}">
                      <a16:colId xmlns:a16="http://schemas.microsoft.com/office/drawing/2014/main" val="20001"/>
                    </a:ext>
                  </a:extLst>
                </a:gridCol>
                <a:gridCol w="835620">
                  <a:extLst>
                    <a:ext uri="{9D8B030D-6E8A-4147-A177-3AD203B41FA5}">
                      <a16:colId xmlns:a16="http://schemas.microsoft.com/office/drawing/2014/main" val="20002"/>
                    </a:ext>
                  </a:extLst>
                </a:gridCol>
                <a:gridCol w="2924673">
                  <a:extLst>
                    <a:ext uri="{9D8B030D-6E8A-4147-A177-3AD203B41FA5}">
                      <a16:colId xmlns:a16="http://schemas.microsoft.com/office/drawing/2014/main" val="20003"/>
                    </a:ext>
                  </a:extLst>
                </a:gridCol>
                <a:gridCol w="1671241">
                  <a:extLst>
                    <a:ext uri="{9D8B030D-6E8A-4147-A177-3AD203B41FA5}">
                      <a16:colId xmlns:a16="http://schemas.microsoft.com/office/drawing/2014/main" val="20004"/>
                    </a:ext>
                  </a:extLst>
                </a:gridCol>
              </a:tblGrid>
              <a:tr h="384048">
                <a:tc>
                  <a:txBody>
                    <a:bodyPr/>
                    <a:lstStyle/>
                    <a:p>
                      <a:r>
                        <a:rPr sz="1300" b="1">
                          <a:solidFill>
                            <a:srgbClr val="FFFFFF"/>
                          </a:solidFill>
                          <a:latin typeface="Calibri"/>
                        </a:rPr>
                        <a:t>Atributo</a:t>
                      </a:r>
                    </a:p>
                  </a:txBody>
                  <a:tcPr marL="73152" marR="73152" marT="36576" marB="36576">
                    <a:solidFill>
                      <a:srgbClr val="007A7A"/>
                    </a:solidFill>
                  </a:tcPr>
                </a:tc>
                <a:tc>
                  <a:txBody>
                    <a:bodyPr/>
                    <a:lstStyle/>
                    <a:p>
                      <a:r>
                        <a:rPr sz="1300" b="1">
                          <a:solidFill>
                            <a:srgbClr val="FFFFFF"/>
                          </a:solidFill>
                          <a:latin typeface="Calibri"/>
                        </a:rPr>
                        <a:t>Tipo / dominio</a:t>
                      </a:r>
                    </a:p>
                  </a:txBody>
                  <a:tcPr marL="73152" marR="73152" marT="36576" marB="36576">
                    <a:solidFill>
                      <a:srgbClr val="007A7A"/>
                    </a:solidFill>
                  </a:tcPr>
                </a:tc>
                <a:tc>
                  <a:txBody>
                    <a:bodyPr/>
                    <a:lstStyle/>
                    <a:p>
                      <a:r>
                        <a:rPr sz="1300" b="1">
                          <a:solidFill>
                            <a:srgbClr val="FFFFFF"/>
                          </a:solidFill>
                          <a:latin typeface="Calibri"/>
                        </a:rPr>
                        <a:t>Oblig.</a:t>
                      </a:r>
                    </a:p>
                  </a:txBody>
                  <a:tcPr marL="73152" marR="73152" marT="36576" marB="36576">
                    <a:solidFill>
                      <a:srgbClr val="007A7A"/>
                    </a:solidFill>
                  </a:tcPr>
                </a:tc>
                <a:tc>
                  <a:txBody>
                    <a:bodyPr/>
                    <a:lstStyle/>
                    <a:p>
                      <a:r>
                        <a:rPr sz="1300" b="1">
                          <a:solidFill>
                            <a:srgbClr val="FFFFFF"/>
                          </a:solidFill>
                          <a:latin typeface="Calibri"/>
                        </a:rPr>
                        <a:t>Regla</a:t>
                      </a:r>
                    </a:p>
                  </a:txBody>
                  <a:tcPr marL="73152" marR="73152" marT="36576" marB="36576">
                    <a:solidFill>
                      <a:srgbClr val="007A7A"/>
                    </a:solidFill>
                  </a:tcPr>
                </a:tc>
                <a:tc>
                  <a:txBody>
                    <a:bodyPr/>
                    <a:lstStyle/>
                    <a:p>
                      <a:r>
                        <a:rPr sz="1300" b="1">
                          <a:solidFill>
                            <a:srgbClr val="FFFFFF"/>
                          </a:solidFill>
                          <a:latin typeface="Calibri"/>
                        </a:rPr>
                        <a:t>Fuente</a:t>
                      </a:r>
                    </a:p>
                  </a:txBody>
                  <a:tcPr marL="73152" marR="73152" marT="36576" marB="36576">
                    <a:solidFill>
                      <a:srgbClr val="007A7A"/>
                    </a:solidFill>
                  </a:tcPr>
                </a:tc>
                <a:extLst>
                  <a:ext uri="{0D108BD9-81ED-4DB2-BD59-A6C34878D82A}">
                    <a16:rowId xmlns:a16="http://schemas.microsoft.com/office/drawing/2014/main" val="10000"/>
                  </a:ext>
                </a:extLst>
              </a:tr>
              <a:tr h="384048">
                <a:tc>
                  <a:txBody>
                    <a:bodyPr/>
                    <a:lstStyle/>
                    <a:p>
                      <a:r>
                        <a:rPr sz="1300" b="0">
                          <a:solidFill>
                            <a:srgbClr val="2E3A40"/>
                          </a:solidFill>
                          <a:latin typeface="Calibri"/>
                        </a:rPr>
                        <a:t>rut_estudiante</a:t>
                      </a:r>
                    </a:p>
                  </a:txBody>
                  <a:tcPr marL="73152" marR="73152" marT="36576" marB="36576">
                    <a:solidFill>
                      <a:srgbClr val="FFFFFF"/>
                    </a:solidFill>
                  </a:tcPr>
                </a:tc>
                <a:tc>
                  <a:txBody>
                    <a:bodyPr/>
                    <a:lstStyle/>
                    <a:p>
                      <a:r>
                        <a:rPr sz="1300" b="0">
                          <a:solidFill>
                            <a:srgbClr val="2E3A40"/>
                          </a:solidFill>
                          <a:latin typeface="Calibri"/>
                        </a:rPr>
                        <a:t>d_rut (formato 12345678-9)</a:t>
                      </a:r>
                    </a:p>
                  </a:txBody>
                  <a:tcPr marL="73152" marR="73152" marT="36576" marB="36576">
                    <a:solidFill>
                      <a:srgbClr val="FFFFFF"/>
                    </a:solidFill>
                  </a:tcPr>
                </a:tc>
                <a:tc>
                  <a:txBody>
                    <a:bodyPr/>
                    <a:lstStyle/>
                    <a:p>
                      <a:r>
                        <a:rPr sz="1300" b="0">
                          <a:solidFill>
                            <a:srgbClr val="2E3A40"/>
                          </a:solidFill>
                          <a:latin typeface="Calibri"/>
                        </a:rPr>
                        <a:t>Sí</a:t>
                      </a:r>
                    </a:p>
                  </a:txBody>
                  <a:tcPr marL="73152" marR="73152" marT="36576" marB="36576">
                    <a:solidFill>
                      <a:srgbClr val="FFFFFF"/>
                    </a:solidFill>
                  </a:tcPr>
                </a:tc>
                <a:tc>
                  <a:txBody>
                    <a:bodyPr/>
                    <a:lstStyle/>
                    <a:p>
                      <a:r>
                        <a:rPr sz="1300" b="0">
                          <a:solidFill>
                            <a:srgbClr val="2E3A40"/>
                          </a:solidFill>
                          <a:latin typeface="Calibri"/>
                        </a:rPr>
                        <a:t>FK a estudiante</a:t>
                      </a:r>
                    </a:p>
                  </a:txBody>
                  <a:tcPr marL="73152" marR="73152" marT="36576" marB="36576">
                    <a:solidFill>
                      <a:srgbClr val="FFFFFF"/>
                    </a:solidFill>
                  </a:tcPr>
                </a:tc>
                <a:tc>
                  <a:txBody>
                    <a:bodyPr/>
                    <a:lstStyle/>
                    <a:p>
                      <a:r>
                        <a:rPr sz="1300" b="0">
                          <a:solidFill>
                            <a:srgbClr val="2E3A40"/>
                          </a:solidFill>
                          <a:latin typeface="Calibri"/>
                        </a:rPr>
                        <a:t>Registro Curricular</a:t>
                      </a:r>
                    </a:p>
                  </a:txBody>
                  <a:tcPr marL="73152" marR="73152" marT="36576" marB="36576">
                    <a:solidFill>
                      <a:srgbClr val="FFFFFF"/>
                    </a:solidFill>
                  </a:tcPr>
                </a:tc>
                <a:extLst>
                  <a:ext uri="{0D108BD9-81ED-4DB2-BD59-A6C34878D82A}">
                    <a16:rowId xmlns:a16="http://schemas.microsoft.com/office/drawing/2014/main" val="10001"/>
                  </a:ext>
                </a:extLst>
              </a:tr>
              <a:tr h="384048">
                <a:tc>
                  <a:txBody>
                    <a:bodyPr/>
                    <a:lstStyle/>
                    <a:p>
                      <a:r>
                        <a:rPr sz="1300" b="0">
                          <a:solidFill>
                            <a:srgbClr val="2E3A40"/>
                          </a:solidFill>
                          <a:latin typeface="Calibri"/>
                        </a:rPr>
                        <a:t>cod_asig, periodo, num_seccion</a:t>
                      </a:r>
                    </a:p>
                  </a:txBody>
                  <a:tcPr marL="73152" marR="73152" marT="36576" marB="36576">
                    <a:solidFill>
                      <a:srgbClr val="E8F7F6"/>
                    </a:solidFill>
                  </a:tcPr>
                </a:tc>
                <a:tc>
                  <a:txBody>
                    <a:bodyPr/>
                    <a:lstStyle/>
                    <a:p>
                      <a:r>
                        <a:rPr sz="1300" b="0">
                          <a:solidFill>
                            <a:srgbClr val="2E3A40"/>
                          </a:solidFill>
                          <a:latin typeface="Calibri"/>
                        </a:rPr>
                        <a:t>varchar, d_periodo, smallint</a:t>
                      </a:r>
                    </a:p>
                  </a:txBody>
                  <a:tcPr marL="73152" marR="73152" marT="36576" marB="36576">
                    <a:solidFill>
                      <a:srgbClr val="E8F7F6"/>
                    </a:solidFill>
                  </a:tcPr>
                </a:tc>
                <a:tc>
                  <a:txBody>
                    <a:bodyPr/>
                    <a:lstStyle/>
                    <a:p>
                      <a:r>
                        <a:rPr sz="1300" b="0">
                          <a:solidFill>
                            <a:srgbClr val="2E3A40"/>
                          </a:solidFill>
                          <a:latin typeface="Calibri"/>
                        </a:rPr>
                        <a:t>Sí</a:t>
                      </a:r>
                    </a:p>
                  </a:txBody>
                  <a:tcPr marL="73152" marR="73152" marT="36576" marB="36576">
                    <a:solidFill>
                      <a:srgbClr val="E8F7F6"/>
                    </a:solidFill>
                  </a:tcPr>
                </a:tc>
                <a:tc>
                  <a:txBody>
                    <a:bodyPr/>
                    <a:lstStyle/>
                    <a:p>
                      <a:r>
                        <a:rPr sz="1300" b="0">
                          <a:solidFill>
                            <a:srgbClr val="2E3A40"/>
                          </a:solidFill>
                          <a:latin typeface="Calibri"/>
                        </a:rPr>
                        <a:t>FK a sección (RN-05)</a:t>
                      </a:r>
                    </a:p>
                  </a:txBody>
                  <a:tcPr marL="73152" marR="73152" marT="36576" marB="36576">
                    <a:solidFill>
                      <a:srgbClr val="E8F7F6"/>
                    </a:solidFill>
                  </a:tcPr>
                </a:tc>
                <a:tc>
                  <a:txBody>
                    <a:bodyPr/>
                    <a:lstStyle/>
                    <a:p>
                      <a:r>
                        <a:rPr sz="1300" b="0">
                          <a:solidFill>
                            <a:srgbClr val="2E3A40"/>
                          </a:solidFill>
                          <a:latin typeface="Calibri"/>
                        </a:rPr>
                        <a:t>Programación docente</a:t>
                      </a:r>
                    </a:p>
                  </a:txBody>
                  <a:tcPr marL="73152" marR="73152" marT="36576" marB="36576">
                    <a:solidFill>
                      <a:srgbClr val="E8F7F6"/>
                    </a:solidFill>
                  </a:tcPr>
                </a:tc>
                <a:extLst>
                  <a:ext uri="{0D108BD9-81ED-4DB2-BD59-A6C34878D82A}">
                    <a16:rowId xmlns:a16="http://schemas.microsoft.com/office/drawing/2014/main" val="10002"/>
                  </a:ext>
                </a:extLst>
              </a:tr>
              <a:tr h="384048">
                <a:tc>
                  <a:txBody>
                    <a:bodyPr/>
                    <a:lstStyle/>
                    <a:p>
                      <a:r>
                        <a:rPr sz="1300" b="0">
                          <a:solidFill>
                            <a:srgbClr val="2E3A40"/>
                          </a:solidFill>
                          <a:latin typeface="Calibri"/>
                        </a:rPr>
                        <a:t>nota</a:t>
                      </a:r>
                    </a:p>
                  </a:txBody>
                  <a:tcPr marL="73152" marR="73152" marT="36576" marB="36576">
                    <a:solidFill>
                      <a:srgbClr val="FFFFFF"/>
                    </a:solidFill>
                  </a:tcPr>
                </a:tc>
                <a:tc>
                  <a:txBody>
                    <a:bodyPr/>
                    <a:lstStyle/>
                    <a:p>
                      <a:r>
                        <a:rPr sz="1300" b="0">
                          <a:solidFill>
                            <a:srgbClr val="2E3A40"/>
                          </a:solidFill>
                          <a:latin typeface="Calibri"/>
                        </a:rPr>
                        <a:t>d_nota (1,0–7,0)</a:t>
                      </a:r>
                    </a:p>
                  </a:txBody>
                  <a:tcPr marL="73152" marR="73152" marT="36576" marB="36576">
                    <a:solidFill>
                      <a:srgbClr val="FFFFFF"/>
                    </a:solidFill>
                  </a:tcPr>
                </a:tc>
                <a:tc>
                  <a:txBody>
                    <a:bodyPr/>
                    <a:lstStyle/>
                    <a:p>
                      <a:r>
                        <a:rPr sz="1300" b="0">
                          <a:solidFill>
                            <a:srgbClr val="2E3A40"/>
                          </a:solidFill>
                          <a:latin typeface="Calibri"/>
                        </a:rPr>
                        <a:t>No</a:t>
                      </a:r>
                    </a:p>
                  </a:txBody>
                  <a:tcPr marL="73152" marR="73152" marT="36576" marB="36576">
                    <a:solidFill>
                      <a:srgbClr val="FFFFFF"/>
                    </a:solidFill>
                  </a:tcPr>
                </a:tc>
                <a:tc>
                  <a:txBody>
                    <a:bodyPr/>
                    <a:lstStyle/>
                    <a:p>
                      <a:r>
                        <a:rPr sz="1300" b="0">
                          <a:solidFill>
                            <a:srgbClr val="2E3A40"/>
                          </a:solidFill>
                          <a:latin typeface="Calibri"/>
                        </a:rPr>
                        <a:t>NULL mientras está en curso (RN-04)</a:t>
                      </a:r>
                    </a:p>
                  </a:txBody>
                  <a:tcPr marL="73152" marR="73152" marT="36576" marB="36576">
                    <a:solidFill>
                      <a:srgbClr val="FFFFFF"/>
                    </a:solidFill>
                  </a:tcPr>
                </a:tc>
                <a:tc>
                  <a:txBody>
                    <a:bodyPr/>
                    <a:lstStyle/>
                    <a:p>
                      <a:r>
                        <a:rPr sz="1300" b="0">
                          <a:solidFill>
                            <a:srgbClr val="2E3A40"/>
                          </a:solidFill>
                          <a:latin typeface="Calibri"/>
                        </a:rPr>
                        <a:t>Acta del profesor</a:t>
                      </a:r>
                    </a:p>
                  </a:txBody>
                  <a:tcPr marL="73152" marR="73152" marT="36576" marB="36576">
                    <a:solidFill>
                      <a:srgbClr val="FFFFFF"/>
                    </a:solidFill>
                  </a:tcPr>
                </a:tc>
                <a:extLst>
                  <a:ext uri="{0D108BD9-81ED-4DB2-BD59-A6C34878D82A}">
                    <a16:rowId xmlns:a16="http://schemas.microsoft.com/office/drawing/2014/main" val="10003"/>
                  </a:ext>
                </a:extLst>
              </a:tr>
              <a:tr h="384048">
                <a:tc>
                  <a:txBody>
                    <a:bodyPr/>
                    <a:lstStyle/>
                    <a:p>
                      <a:r>
                        <a:rPr sz="1300" b="0">
                          <a:solidFill>
                            <a:srgbClr val="2E3A40"/>
                          </a:solidFill>
                          <a:latin typeface="Calibri"/>
                        </a:rPr>
                        <a:t>estado</a:t>
                      </a:r>
                    </a:p>
                  </a:txBody>
                  <a:tcPr marL="73152" marR="73152" marT="36576" marB="36576">
                    <a:solidFill>
                      <a:srgbClr val="E8F7F6"/>
                    </a:solidFill>
                  </a:tcPr>
                </a:tc>
                <a:tc>
                  <a:txBody>
                    <a:bodyPr/>
                    <a:lstStyle/>
                    <a:p>
                      <a:r>
                        <a:rPr sz="1300" b="0">
                          <a:solidFill>
                            <a:srgbClr val="2E3A40"/>
                          </a:solidFill>
                          <a:latin typeface="Calibri"/>
                        </a:rPr>
                        <a:t>4 valores</a:t>
                      </a:r>
                    </a:p>
                  </a:txBody>
                  <a:tcPr marL="73152" marR="73152" marT="36576" marB="36576">
                    <a:solidFill>
                      <a:srgbClr val="E8F7F6"/>
                    </a:solidFill>
                  </a:tcPr>
                </a:tc>
                <a:tc>
                  <a:txBody>
                    <a:bodyPr/>
                    <a:lstStyle/>
                    <a:p>
                      <a:r>
                        <a:rPr sz="1300" b="0">
                          <a:solidFill>
                            <a:srgbClr val="2E3A40"/>
                          </a:solidFill>
                          <a:latin typeface="Calibri"/>
                        </a:rPr>
                        <a:t>Sí</a:t>
                      </a:r>
                    </a:p>
                  </a:txBody>
                  <a:tcPr marL="73152" marR="73152" marT="36576" marB="36576">
                    <a:solidFill>
                      <a:srgbClr val="E8F7F6"/>
                    </a:solidFill>
                  </a:tcPr>
                </a:tc>
                <a:tc>
                  <a:txBody>
                    <a:bodyPr/>
                    <a:lstStyle/>
                    <a:p>
                      <a:r>
                        <a:rPr sz="1300" b="0">
                          <a:solidFill>
                            <a:srgbClr val="2E3A40"/>
                          </a:solidFill>
                          <a:latin typeface="Calibri"/>
                        </a:rPr>
                        <a:t>Coherente con la nota</a:t>
                      </a:r>
                    </a:p>
                  </a:txBody>
                  <a:tcPr marL="73152" marR="73152" marT="36576" marB="36576">
                    <a:solidFill>
                      <a:srgbClr val="E8F7F6"/>
                    </a:solidFill>
                  </a:tcPr>
                </a:tc>
                <a:tc>
                  <a:txBody>
                    <a:bodyPr/>
                    <a:lstStyle/>
                    <a:p>
                      <a:r>
                        <a:rPr sz="1300" b="0">
                          <a:solidFill>
                            <a:srgbClr val="2E3A40"/>
                          </a:solidFill>
                          <a:latin typeface="Calibri"/>
                        </a:rPr>
                        <a:t>Registro Curricular</a:t>
                      </a:r>
                    </a:p>
                  </a:txBody>
                  <a:tcPr marL="73152" marR="73152" marT="36576" marB="36576">
                    <a:solidFill>
                      <a:srgbClr val="E8F7F6"/>
                    </a:solidFill>
                  </a:tcPr>
                </a:tc>
                <a:extLst>
                  <a:ext uri="{0D108BD9-81ED-4DB2-BD59-A6C34878D82A}">
                    <a16:rowId xmlns:a16="http://schemas.microsoft.com/office/drawing/2014/main" val="10004"/>
                  </a:ext>
                </a:extLst>
              </a:tr>
              <a:tr h="384048">
                <a:tc>
                  <a:txBody>
                    <a:bodyPr/>
                    <a:lstStyle/>
                    <a:p>
                      <a:r>
                        <a:rPr sz="1300" b="0">
                          <a:solidFill>
                            <a:srgbClr val="2E3A40"/>
                          </a:solidFill>
                          <a:latin typeface="Calibri"/>
                        </a:rPr>
                        <a:t>fecha_inscripcion</a:t>
                      </a:r>
                    </a:p>
                  </a:txBody>
                  <a:tcPr marL="73152" marR="73152" marT="36576" marB="36576">
                    <a:solidFill>
                      <a:srgbClr val="FFFFFF"/>
                    </a:solidFill>
                  </a:tcPr>
                </a:tc>
                <a:tc>
                  <a:txBody>
                    <a:bodyPr/>
                    <a:lstStyle/>
                    <a:p>
                      <a:r>
                        <a:rPr sz="1300" b="0">
                          <a:solidFill>
                            <a:srgbClr val="2E3A40"/>
                          </a:solidFill>
                          <a:latin typeface="Calibri"/>
                        </a:rPr>
                        <a:t>date</a:t>
                      </a:r>
                    </a:p>
                  </a:txBody>
                  <a:tcPr marL="73152" marR="73152" marT="36576" marB="36576">
                    <a:solidFill>
                      <a:srgbClr val="FFFFFF"/>
                    </a:solidFill>
                  </a:tcPr>
                </a:tc>
                <a:tc>
                  <a:txBody>
                    <a:bodyPr/>
                    <a:lstStyle/>
                    <a:p>
                      <a:r>
                        <a:rPr sz="1300" b="0">
                          <a:solidFill>
                            <a:srgbClr val="2E3A40"/>
                          </a:solidFill>
                          <a:latin typeface="Calibri"/>
                        </a:rPr>
                        <a:t>Sí</a:t>
                      </a:r>
                    </a:p>
                  </a:txBody>
                  <a:tcPr marL="73152" marR="73152" marT="36576" marB="36576">
                    <a:solidFill>
                      <a:srgbClr val="FFFFFF"/>
                    </a:solidFill>
                  </a:tcPr>
                </a:tc>
                <a:tc>
                  <a:txBody>
                    <a:bodyPr/>
                    <a:lstStyle/>
                    <a:p>
                      <a:r>
                        <a:rPr sz="1300" b="0">
                          <a:solidFill>
                            <a:srgbClr val="2E3A40"/>
                          </a:solidFill>
                          <a:latin typeface="Calibri"/>
                        </a:rPr>
                        <a:t>Por defecto, la fecha del día</a:t>
                      </a:r>
                    </a:p>
                  </a:txBody>
                  <a:tcPr marL="73152" marR="73152" marT="36576" marB="36576">
                    <a:solidFill>
                      <a:srgbClr val="FFFFFF"/>
                    </a:solidFill>
                  </a:tcPr>
                </a:tc>
                <a:tc>
                  <a:txBody>
                    <a:bodyPr/>
                    <a:lstStyle/>
                    <a:p>
                      <a:r>
                        <a:rPr sz="1300" b="0">
                          <a:solidFill>
                            <a:srgbClr val="2E3A40"/>
                          </a:solidFill>
                          <a:latin typeface="Calibri"/>
                        </a:rPr>
                        <a:t>Sistema</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DAMA International (2017), DAMA-DMBOK, cap. 2; ISO/IEC 11179-1:2015.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7. Modelar el espacio geográfico (ISO 19109 · ISO 19110)</a:t>
            </a:r>
          </a:p>
        </p:txBody>
      </p:sp>
      <p:sp>
        <p:nvSpPr>
          <p:cNvPr id="4" name="Rounded Rectangle 3"/>
          <p:cNvSpPr/>
          <p:nvPr/>
        </p:nvSpPr>
        <p:spPr>
          <a:xfrm>
            <a:off x="1325880"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508760"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08760"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7" name="TextBox 6"/>
          <p:cNvSpPr txBox="1"/>
          <p:nvPr/>
        </p:nvSpPr>
        <p:spPr>
          <a:xfrm>
            <a:off x="1984248"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Objeto geográfico</a:t>
            </a:r>
          </a:p>
        </p:txBody>
      </p:sp>
      <p:sp>
        <p:nvSpPr>
          <p:cNvPr id="8" name="TextBox 7"/>
          <p:cNvSpPr txBox="1"/>
          <p:nvPr/>
        </p:nvSpPr>
        <p:spPr>
          <a:xfrm>
            <a:off x="1508760"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Tiene identidad, atributos, geometría y relaciones: el modelo general de ISO 19109.</a:t>
            </a:r>
          </a:p>
        </p:txBody>
      </p:sp>
      <p:sp>
        <p:nvSpPr>
          <p:cNvPr id="9" name="Rounded Rectangle 8"/>
          <p:cNvSpPr/>
          <p:nvPr/>
        </p:nvSpPr>
        <p:spPr>
          <a:xfrm>
            <a:off x="6871716"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054596"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4596"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2" name="TextBox 11"/>
          <p:cNvSpPr txBox="1"/>
          <p:nvPr/>
        </p:nvSpPr>
        <p:spPr>
          <a:xfrm>
            <a:off x="7530084"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Catálogo de entidades</a:t>
            </a:r>
          </a:p>
        </p:txBody>
      </p:sp>
      <p:sp>
        <p:nvSpPr>
          <p:cNvPr id="13" name="TextBox 12"/>
          <p:cNvSpPr txBox="1"/>
          <p:nvPr/>
        </p:nvSpPr>
        <p:spPr>
          <a:xfrm>
            <a:off x="7054596"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El diccionario llevado al territorio: definición y tipo de geometría (ISO 19110).</a:t>
            </a:r>
          </a:p>
        </p:txBody>
      </p:sp>
      <p:sp>
        <p:nvSpPr>
          <p:cNvPr id="14" name="Rounded Rectangle 13"/>
          <p:cNvSpPr/>
          <p:nvPr/>
        </p:nvSpPr>
        <p:spPr>
          <a:xfrm>
            <a:off x="1325880"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508760"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8760"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7" name="TextBox 16"/>
          <p:cNvSpPr txBox="1"/>
          <p:nvPr/>
        </p:nvSpPr>
        <p:spPr>
          <a:xfrm>
            <a:off x="1984248"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Geometría según la escala</a:t>
            </a:r>
          </a:p>
        </p:txBody>
      </p:sp>
      <p:sp>
        <p:nvSpPr>
          <p:cNvPr id="18" name="TextBox 17"/>
          <p:cNvSpPr txBox="1"/>
          <p:nvPr/>
        </p:nvSpPr>
        <p:spPr>
          <a:xfrm>
            <a:off x="1508760"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Un campus es un punto a escala regional y un polígono a escala de barrio.</a:t>
            </a:r>
          </a:p>
        </p:txBody>
      </p:sp>
      <p:sp>
        <p:nvSpPr>
          <p:cNvPr id="19" name="Rounded Rectangle 18"/>
          <p:cNvSpPr/>
          <p:nvPr/>
        </p:nvSpPr>
        <p:spPr>
          <a:xfrm>
            <a:off x="6871716"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54596"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54596"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4</a:t>
            </a:r>
          </a:p>
        </p:txBody>
      </p:sp>
      <p:sp>
        <p:nvSpPr>
          <p:cNvPr id="22" name="TextBox 21"/>
          <p:cNvSpPr txBox="1"/>
          <p:nvPr/>
        </p:nvSpPr>
        <p:spPr>
          <a:xfrm>
            <a:off x="7530084"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Modelos estándar</a:t>
            </a:r>
          </a:p>
        </p:txBody>
      </p:sp>
      <p:sp>
        <p:nvSpPr>
          <p:cNvPr id="23" name="TextBox 22"/>
          <p:cNvSpPr txBox="1"/>
          <p:nvPr/>
        </p:nvSpPr>
        <p:spPr>
          <a:xfrm>
            <a:off x="7054596"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LADM (ISO 19152) separa el predio de su representación espacial.</a:t>
            </a:r>
          </a:p>
        </p:txBody>
      </p:sp>
      <p:sp>
        <p:nvSpPr>
          <p:cNvPr id="24" name="TextBox 23"/>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ISO 19109:2025; ISO 19110:2016; ISO 19152-1:2024.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Idea clave</a:t>
            </a:r>
          </a:p>
        </p:txBody>
      </p:sp>
      <p:sp>
        <p:nvSpPr>
          <p:cNvPr id="4" name="Rectangle 3"/>
          <p:cNvSpPr/>
          <p:nvPr/>
        </p:nvSpPr>
        <p:spPr>
          <a:xfrm>
            <a:off x="1325880" y="1828800"/>
            <a:ext cx="10863072" cy="329184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2103120"/>
            <a:ext cx="9966960" cy="2011680"/>
          </a:xfrm>
          <a:prstGeom prst="rect">
            <a:avLst/>
          </a:prstGeom>
          <a:noFill/>
        </p:spPr>
        <p:txBody>
          <a:bodyPr wrap="square" lIns="73152" tIns="36576" rIns="73152" bIns="36576" anchor="ctr">
            <a:spAutoFit/>
          </a:bodyPr>
          <a:lstStyle/>
          <a:p>
            <a:pPr algn="l">
              <a:spcAft>
                <a:spcPts val="600"/>
              </a:spcAft>
            </a:pPr>
            <a:r>
              <a:rPr sz="3000" b="1" i="0">
                <a:solidFill>
                  <a:srgbClr val="007A7A"/>
                </a:solidFill>
                <a:latin typeface="Calibri"/>
              </a:rPr>
              <a:t>Modelar es decidir qué parte de la realidad merece existir en la base.</a:t>
            </a:r>
          </a:p>
        </p:txBody>
      </p:sp>
      <p:sp>
        <p:nvSpPr>
          <p:cNvPr id="6" name="TextBox 5"/>
          <p:cNvSpPr txBox="1"/>
          <p:nvPr/>
        </p:nvSpPr>
        <p:spPr>
          <a:xfrm>
            <a:off x="1828800" y="4114800"/>
            <a:ext cx="9966960" cy="822960"/>
          </a:xfrm>
          <a:prstGeom prst="rect">
            <a:avLst/>
          </a:prstGeom>
          <a:noFill/>
        </p:spPr>
        <p:txBody>
          <a:bodyPr wrap="square" lIns="73152" tIns="36576" rIns="73152" bIns="36576" anchor="t">
            <a:spAutoFit/>
          </a:bodyPr>
          <a:lstStyle/>
          <a:p>
            <a:pPr algn="l">
              <a:spcAft>
                <a:spcPts val="600"/>
              </a:spcAft>
            </a:pPr>
            <a:r>
              <a:rPr sz="1700" b="0" i="0">
                <a:solidFill>
                  <a:srgbClr val="5A676E"/>
                </a:solidFill>
                <a:latin typeface="Calibri"/>
              </a:rPr>
              <a:t>Primero con un caso que todos conocen; después, con el territorio.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8. Modelo conceptual: entidades, atributos y relaciones</a:t>
            </a:r>
          </a:p>
        </p:txBody>
      </p:sp>
      <p:sp>
        <p:nvSpPr>
          <p:cNvPr id="4" name="TextBox 3"/>
          <p:cNvSpPr txBox="1"/>
          <p:nvPr/>
        </p:nvSpPr>
        <p:spPr>
          <a:xfrm>
            <a:off x="1325880" y="1371600"/>
            <a:ext cx="10863072" cy="640080"/>
          </a:xfrm>
          <a:prstGeom prst="rect">
            <a:avLst/>
          </a:prstGeom>
          <a:noFill/>
        </p:spPr>
        <p:txBody>
          <a:bodyPr wrap="square" lIns="73152" tIns="36576" rIns="73152" bIns="36576" anchor="t">
            <a:spAutoFit/>
          </a:bodyPr>
          <a:lstStyle/>
          <a:p>
            <a:pPr algn="l">
              <a:spcAft>
                <a:spcPts val="600"/>
              </a:spcAft>
            </a:pPr>
            <a:r>
              <a:rPr sz="1500" b="0" i="0">
                <a:solidFill>
                  <a:srgbClr val="5A676E"/>
                </a:solidFill>
                <a:latin typeface="Calibri"/>
              </a:rPr>
              <a:t>Primero qué existe, qué lo describe y cómo se relaciona; las cardinalidades y las claves vienen después.</a:t>
            </a:r>
          </a:p>
        </p:txBody>
      </p:sp>
      <p:sp>
        <p:nvSpPr>
          <p:cNvPr id="5" name="Rounded Rectangle 4"/>
          <p:cNvSpPr/>
          <p:nvPr/>
        </p:nvSpPr>
        <p:spPr>
          <a:xfrm>
            <a:off x="1325880"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08760"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8" name="TextBox 7"/>
          <p:cNvSpPr txBox="1"/>
          <p:nvPr/>
        </p:nvSpPr>
        <p:spPr>
          <a:xfrm>
            <a:off x="1984248"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Entidad</a:t>
            </a:r>
          </a:p>
        </p:txBody>
      </p:sp>
      <p:sp>
        <p:nvSpPr>
          <p:cNvPr id="9" name="TextBox 8"/>
          <p:cNvSpPr txBox="1"/>
          <p:nvPr/>
        </p:nvSpPr>
        <p:spPr>
          <a:xfrm>
            <a:off x="1508760"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Objeto distinguible: concreto (sala) o abstracto (inscripción).</a:t>
            </a:r>
          </a:p>
        </p:txBody>
      </p:sp>
      <p:sp>
        <p:nvSpPr>
          <p:cNvPr id="10" name="Rounded Rectangle 9"/>
          <p:cNvSpPr/>
          <p:nvPr/>
        </p:nvSpPr>
        <p:spPr>
          <a:xfrm>
            <a:off x="4098798"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281678"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81678"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3" name="TextBox 12"/>
          <p:cNvSpPr txBox="1"/>
          <p:nvPr/>
        </p:nvSpPr>
        <p:spPr>
          <a:xfrm>
            <a:off x="4757166"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Atributo</a:t>
            </a:r>
          </a:p>
        </p:txBody>
      </p:sp>
      <p:sp>
        <p:nvSpPr>
          <p:cNvPr id="14" name="TextBox 13"/>
          <p:cNvSpPr txBox="1"/>
          <p:nvPr/>
        </p:nvSpPr>
        <p:spPr>
          <a:xfrm>
            <a:off x="4281678"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Propiedad con dominio: simple o compuesto, multivalorado, derivado.</a:t>
            </a:r>
          </a:p>
        </p:txBody>
      </p:sp>
      <p:sp>
        <p:nvSpPr>
          <p:cNvPr id="15" name="Rounded Rectangle 14"/>
          <p:cNvSpPr/>
          <p:nvPr/>
        </p:nvSpPr>
        <p:spPr>
          <a:xfrm>
            <a:off x="6871716"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054596"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4596"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8" name="TextBox 17"/>
          <p:cNvSpPr txBox="1"/>
          <p:nvPr/>
        </p:nvSpPr>
        <p:spPr>
          <a:xfrm>
            <a:off x="7530084"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Relación</a:t>
            </a:r>
          </a:p>
        </p:txBody>
      </p:sp>
      <p:sp>
        <p:nvSpPr>
          <p:cNvPr id="19" name="TextBox 18"/>
          <p:cNvSpPr txBox="1"/>
          <p:nvPr/>
        </p:nvSpPr>
        <p:spPr>
          <a:xfrm>
            <a:off x="7054596"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Se lee como frase: el estudiante se inscribe en una sección.</a:t>
            </a:r>
          </a:p>
        </p:txBody>
      </p:sp>
      <p:sp>
        <p:nvSpPr>
          <p:cNvPr id="20" name="Rounded Rectangle 19"/>
          <p:cNvSpPr/>
          <p:nvPr/>
        </p:nvSpPr>
        <p:spPr>
          <a:xfrm>
            <a:off x="9644634"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27513"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7513"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4</a:t>
            </a:r>
          </a:p>
        </p:txBody>
      </p:sp>
      <p:sp>
        <p:nvSpPr>
          <p:cNvPr id="23" name="TextBox 22"/>
          <p:cNvSpPr txBox="1"/>
          <p:nvPr/>
        </p:nvSpPr>
        <p:spPr>
          <a:xfrm>
            <a:off x="10303002"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Identificador</a:t>
            </a:r>
          </a:p>
        </p:txBody>
      </p:sp>
      <p:sp>
        <p:nvSpPr>
          <p:cNvPr id="24" name="TextBox 23"/>
          <p:cNvSpPr txBox="1"/>
          <p:nvPr/>
        </p:nvSpPr>
        <p:spPr>
          <a:xfrm>
            <a:off x="9827513"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El dato que distingue a cada entidad: el RUT de una persona.</a:t>
            </a:r>
          </a:p>
        </p:txBody>
      </p:sp>
      <p:sp>
        <p:nvSpPr>
          <p:cNvPr id="25" name="TextBox 2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Chen (1976); Elmasri y Navathe (2016), cap. 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9. Modelo ER del registro académico</a:t>
            </a:r>
          </a:p>
        </p:txBody>
      </p:sp>
      <p:sp>
        <p:nvSpPr>
          <p:cNvPr id="4" name="Rectangle 3"/>
          <p:cNvSpPr/>
          <p:nvPr/>
        </p:nvSpPr>
        <p:spPr>
          <a:xfrm>
            <a:off x="1463040" y="1554480"/>
            <a:ext cx="237744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463040" y="1554480"/>
            <a:ext cx="237744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1554480"/>
            <a:ext cx="237744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DEPARTAMENTO</a:t>
            </a:r>
          </a:p>
        </p:txBody>
      </p:sp>
      <p:sp>
        <p:nvSpPr>
          <p:cNvPr id="7" name="TextBox 6"/>
          <p:cNvSpPr txBox="1"/>
          <p:nvPr/>
        </p:nvSpPr>
        <p:spPr>
          <a:xfrm>
            <a:off x="1508760" y="1965960"/>
            <a:ext cx="228600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cod_depto · nombre</a:t>
            </a:r>
          </a:p>
        </p:txBody>
      </p:sp>
      <p:sp>
        <p:nvSpPr>
          <p:cNvPr id="8" name="Rectangle 7"/>
          <p:cNvSpPr/>
          <p:nvPr/>
        </p:nvSpPr>
        <p:spPr>
          <a:xfrm>
            <a:off x="4572000" y="1554480"/>
            <a:ext cx="265176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0" y="1554480"/>
            <a:ext cx="265176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554480"/>
            <a:ext cx="265176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CARRERA</a:t>
            </a:r>
          </a:p>
        </p:txBody>
      </p:sp>
      <p:sp>
        <p:nvSpPr>
          <p:cNvPr id="11" name="TextBox 10"/>
          <p:cNvSpPr txBox="1"/>
          <p:nvPr/>
        </p:nvSpPr>
        <p:spPr>
          <a:xfrm>
            <a:off x="4617720" y="1965960"/>
            <a:ext cx="256032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cod_carrera · nombre · duración</a:t>
            </a:r>
          </a:p>
        </p:txBody>
      </p:sp>
      <p:sp>
        <p:nvSpPr>
          <p:cNvPr id="12" name="Rectangle 11"/>
          <p:cNvSpPr/>
          <p:nvPr/>
        </p:nvSpPr>
        <p:spPr>
          <a:xfrm>
            <a:off x="7955279" y="1554480"/>
            <a:ext cx="265176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55279" y="1554480"/>
            <a:ext cx="265176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79" y="1554480"/>
            <a:ext cx="265176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ESTUDIANTE</a:t>
            </a:r>
          </a:p>
        </p:txBody>
      </p:sp>
      <p:sp>
        <p:nvSpPr>
          <p:cNvPr id="15" name="TextBox 14"/>
          <p:cNvSpPr txBox="1"/>
          <p:nvPr/>
        </p:nvSpPr>
        <p:spPr>
          <a:xfrm>
            <a:off x="8001000" y="1965960"/>
            <a:ext cx="256032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rut · año de ingreso</a:t>
            </a:r>
          </a:p>
        </p:txBody>
      </p:sp>
      <p:sp>
        <p:nvSpPr>
          <p:cNvPr id="16" name="Rectangle 15"/>
          <p:cNvSpPr/>
          <p:nvPr/>
        </p:nvSpPr>
        <p:spPr>
          <a:xfrm>
            <a:off x="1463040" y="4023360"/>
            <a:ext cx="237744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463040" y="4023360"/>
            <a:ext cx="237744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4023360"/>
            <a:ext cx="237744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PROFESOR</a:t>
            </a:r>
          </a:p>
        </p:txBody>
      </p:sp>
      <p:sp>
        <p:nvSpPr>
          <p:cNvPr id="19" name="TextBox 18"/>
          <p:cNvSpPr txBox="1"/>
          <p:nvPr/>
        </p:nvSpPr>
        <p:spPr>
          <a:xfrm>
            <a:off x="1508760" y="4434840"/>
            <a:ext cx="228600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rut · jerarquía</a:t>
            </a:r>
          </a:p>
        </p:txBody>
      </p:sp>
      <p:sp>
        <p:nvSpPr>
          <p:cNvPr id="20" name="Rectangle 19"/>
          <p:cNvSpPr/>
          <p:nvPr/>
        </p:nvSpPr>
        <p:spPr>
          <a:xfrm>
            <a:off x="4572000" y="4023360"/>
            <a:ext cx="265176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023360"/>
            <a:ext cx="265176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0" y="4023360"/>
            <a:ext cx="265176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ASIGNATURA</a:t>
            </a:r>
          </a:p>
        </p:txBody>
      </p:sp>
      <p:sp>
        <p:nvSpPr>
          <p:cNvPr id="23" name="TextBox 22"/>
          <p:cNvSpPr txBox="1"/>
          <p:nvPr/>
        </p:nvSpPr>
        <p:spPr>
          <a:xfrm>
            <a:off x="4617720" y="4434840"/>
            <a:ext cx="256032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cod_asig · nombre · créditos</a:t>
            </a:r>
          </a:p>
        </p:txBody>
      </p:sp>
      <p:sp>
        <p:nvSpPr>
          <p:cNvPr id="24" name="Rectangle 23"/>
          <p:cNvSpPr/>
          <p:nvPr/>
        </p:nvSpPr>
        <p:spPr>
          <a:xfrm>
            <a:off x="7955279" y="4023360"/>
            <a:ext cx="2651760" cy="109728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955279" y="4023360"/>
            <a:ext cx="265176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5279" y="4023360"/>
            <a:ext cx="265176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SECCIÓN (débil)</a:t>
            </a:r>
          </a:p>
        </p:txBody>
      </p:sp>
      <p:sp>
        <p:nvSpPr>
          <p:cNvPr id="27" name="TextBox 26"/>
          <p:cNvSpPr txBox="1"/>
          <p:nvPr/>
        </p:nvSpPr>
        <p:spPr>
          <a:xfrm>
            <a:off x="8001000" y="4434840"/>
            <a:ext cx="2560320" cy="64008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período · número · cupo · sala</a:t>
            </a:r>
          </a:p>
        </p:txBody>
      </p:sp>
      <p:sp>
        <p:nvSpPr>
          <p:cNvPr id="28" name="Rectangle 27"/>
          <p:cNvSpPr/>
          <p:nvPr/>
        </p:nvSpPr>
        <p:spPr>
          <a:xfrm>
            <a:off x="10927080" y="2788920"/>
            <a:ext cx="1188720" cy="914400"/>
          </a:xfrm>
          <a:prstGeom prst="rect">
            <a:avLst/>
          </a:prstGeom>
          <a:solidFill>
            <a:srgbClr val="FFFFFF"/>
          </a:solidFill>
          <a:ln w="12700">
            <a:solidFill>
              <a:srgbClr val="EA7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927080" y="2788920"/>
            <a:ext cx="1188720" cy="384048"/>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927080" y="2788920"/>
            <a:ext cx="118872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INSCRIBE</a:t>
            </a:r>
          </a:p>
        </p:txBody>
      </p:sp>
      <p:sp>
        <p:nvSpPr>
          <p:cNvPr id="31" name="TextBox 30"/>
          <p:cNvSpPr txBox="1"/>
          <p:nvPr/>
        </p:nvSpPr>
        <p:spPr>
          <a:xfrm>
            <a:off x="10972800" y="3200400"/>
            <a:ext cx="1097280" cy="45720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nota · estado</a:t>
            </a:r>
          </a:p>
        </p:txBody>
      </p:sp>
      <p:cxnSp>
        <p:nvCxnSpPr>
          <p:cNvPr id="32" name="Connector 31"/>
          <p:cNvCxnSpPr/>
          <p:nvPr/>
        </p:nvCxnSpPr>
        <p:spPr>
          <a:xfrm>
            <a:off x="3840480" y="2103120"/>
            <a:ext cx="731520"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749039" y="173736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1 : N</a:t>
            </a:r>
          </a:p>
        </p:txBody>
      </p:sp>
      <p:cxnSp>
        <p:nvCxnSpPr>
          <p:cNvPr id="34" name="Connector 33"/>
          <p:cNvCxnSpPr/>
          <p:nvPr/>
        </p:nvCxnSpPr>
        <p:spPr>
          <a:xfrm>
            <a:off x="7223760" y="2103120"/>
            <a:ext cx="731519"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132320" y="173736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1 : N</a:t>
            </a:r>
          </a:p>
        </p:txBody>
      </p:sp>
      <p:cxnSp>
        <p:nvCxnSpPr>
          <p:cNvPr id="36" name="Connector 35"/>
          <p:cNvCxnSpPr/>
          <p:nvPr/>
        </p:nvCxnSpPr>
        <p:spPr>
          <a:xfrm>
            <a:off x="2651760" y="2651760"/>
            <a:ext cx="0" cy="137160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697480" y="315468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1 : N</a:t>
            </a:r>
          </a:p>
        </p:txBody>
      </p:sp>
      <p:cxnSp>
        <p:nvCxnSpPr>
          <p:cNvPr id="38" name="Connector 37"/>
          <p:cNvCxnSpPr/>
          <p:nvPr/>
        </p:nvCxnSpPr>
        <p:spPr>
          <a:xfrm>
            <a:off x="3840480" y="2560320"/>
            <a:ext cx="731520" cy="146304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429000" y="315468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1 : N</a:t>
            </a:r>
          </a:p>
        </p:txBody>
      </p:sp>
      <p:cxnSp>
        <p:nvCxnSpPr>
          <p:cNvPr id="40" name="Connector 39"/>
          <p:cNvCxnSpPr/>
          <p:nvPr/>
        </p:nvCxnSpPr>
        <p:spPr>
          <a:xfrm>
            <a:off x="7223760" y="4572000"/>
            <a:ext cx="731519"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132320" y="420624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1 : N</a:t>
            </a:r>
          </a:p>
        </p:txBody>
      </p:sp>
      <p:cxnSp>
        <p:nvCxnSpPr>
          <p:cNvPr id="42" name="Connector 41"/>
          <p:cNvCxnSpPr/>
          <p:nvPr/>
        </p:nvCxnSpPr>
        <p:spPr>
          <a:xfrm>
            <a:off x="2651760" y="5120640"/>
            <a:ext cx="0" cy="18288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651760" y="5303520"/>
            <a:ext cx="6629400"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281160" y="5120640"/>
            <a:ext cx="0" cy="18288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394960" y="530352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dicta 1 : N</a:t>
            </a:r>
          </a:p>
        </p:txBody>
      </p:sp>
      <p:cxnSp>
        <p:nvCxnSpPr>
          <p:cNvPr id="46" name="Connector 45"/>
          <p:cNvCxnSpPr/>
          <p:nvPr/>
        </p:nvCxnSpPr>
        <p:spPr>
          <a:xfrm>
            <a:off x="10607040" y="2103120"/>
            <a:ext cx="914400"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521440" y="2103120"/>
            <a:ext cx="0" cy="68580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521440" y="3703320"/>
            <a:ext cx="0" cy="86868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607040" y="4572000"/>
            <a:ext cx="914400"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698480" y="1737360"/>
            <a:ext cx="914400" cy="320040"/>
          </a:xfrm>
          <a:prstGeom prst="rect">
            <a:avLst/>
          </a:prstGeom>
          <a:noFill/>
        </p:spPr>
        <p:txBody>
          <a:bodyPr wrap="square" lIns="73152" tIns="36576" rIns="73152" bIns="36576" anchor="t">
            <a:spAutoFit/>
          </a:bodyPr>
          <a:lstStyle/>
          <a:p>
            <a:pPr algn="ctr">
              <a:spcAft>
                <a:spcPts val="600"/>
              </a:spcAft>
            </a:pPr>
            <a:r>
              <a:rPr sz="1200" b="1" i="0">
                <a:solidFill>
                  <a:srgbClr val="EA7600"/>
                </a:solidFill>
                <a:latin typeface="Calibri"/>
              </a:rPr>
              <a:t>N : M</a:t>
            </a:r>
          </a:p>
        </p:txBody>
      </p:sp>
      <p:cxnSp>
        <p:nvCxnSpPr>
          <p:cNvPr id="51" name="Connector 50"/>
          <p:cNvCxnSpPr/>
          <p:nvPr/>
        </p:nvCxnSpPr>
        <p:spPr>
          <a:xfrm flipV="1">
            <a:off x="5120640" y="3429000"/>
            <a:ext cx="0" cy="59436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120640" y="3429000"/>
            <a:ext cx="914400" cy="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035040" y="3429000"/>
            <a:ext cx="0" cy="59436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074920" y="2971800"/>
            <a:ext cx="2103120" cy="365760"/>
          </a:xfrm>
          <a:prstGeom prst="rect">
            <a:avLst/>
          </a:prstGeom>
          <a:noFill/>
        </p:spPr>
        <p:txBody>
          <a:bodyPr wrap="square" lIns="73152" tIns="36576" rIns="73152" bIns="36576" anchor="t">
            <a:spAutoFit/>
          </a:bodyPr>
          <a:lstStyle/>
          <a:p>
            <a:pPr algn="l">
              <a:spcAft>
                <a:spcPts val="600"/>
              </a:spcAft>
            </a:pPr>
            <a:r>
              <a:rPr sz="1200" b="1" i="0">
                <a:solidFill>
                  <a:srgbClr val="EA7600"/>
                </a:solidFill>
                <a:latin typeface="Calibri"/>
              </a:rPr>
              <a:t>prerrequisito N : M</a:t>
            </a:r>
          </a:p>
        </p:txBody>
      </p:sp>
      <p:sp>
        <p:nvSpPr>
          <p:cNvPr id="55" name="TextBox 54"/>
          <p:cNvSpPr txBox="1"/>
          <p:nvPr/>
        </p:nvSpPr>
        <p:spPr>
          <a:xfrm>
            <a:off x="1463040" y="5577840"/>
            <a:ext cx="10058400" cy="365760"/>
          </a:xfrm>
          <a:prstGeom prst="rect">
            <a:avLst/>
          </a:prstGeom>
          <a:noFill/>
        </p:spPr>
        <p:txBody>
          <a:bodyPr wrap="square" lIns="73152" tIns="36576" rIns="73152" bIns="36576" anchor="t">
            <a:spAutoFit/>
          </a:bodyPr>
          <a:lstStyle/>
          <a:p>
            <a:pPr algn="l">
              <a:spcAft>
                <a:spcPts val="600"/>
              </a:spcAft>
            </a:pPr>
            <a:r>
              <a:rPr sz="1200" b="0" i="0">
                <a:solidFill>
                  <a:srgbClr val="5A676E"/>
                </a:solidFill>
                <a:latin typeface="Calibri"/>
              </a:rPr>
              <a:t>SECCIÓN es débil: se identifica por la asignatura + período + número. INSCRIBE relaciona estudiantes con secciones y guarda la nota.</a:t>
            </a:r>
          </a:p>
        </p:txBody>
      </p:sp>
      <p:sp>
        <p:nvSpPr>
          <p:cNvPr id="56" name="TextBox 55"/>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Chen (1976), ACM Transactions on Database Systems, 1(1), 9-36.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10. EER: especialización de persona</a:t>
            </a:r>
          </a:p>
        </p:txBody>
      </p:sp>
      <p:sp>
        <p:nvSpPr>
          <p:cNvPr id="4" name="Rectangle 3"/>
          <p:cNvSpPr/>
          <p:nvPr/>
        </p:nvSpPr>
        <p:spPr>
          <a:xfrm>
            <a:off x="4754880" y="1508760"/>
            <a:ext cx="2743200" cy="100584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754880" y="1508760"/>
            <a:ext cx="274320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54880" y="1508760"/>
            <a:ext cx="274320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PERSONA</a:t>
            </a:r>
          </a:p>
        </p:txBody>
      </p:sp>
      <p:sp>
        <p:nvSpPr>
          <p:cNvPr id="7" name="TextBox 6"/>
          <p:cNvSpPr txBox="1"/>
          <p:nvPr/>
        </p:nvSpPr>
        <p:spPr>
          <a:xfrm>
            <a:off x="4800600" y="1920240"/>
            <a:ext cx="2651760" cy="54864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rut · nombres · apellidos · email</a:t>
            </a:r>
          </a:p>
        </p:txBody>
      </p:sp>
      <p:sp>
        <p:nvSpPr>
          <p:cNvPr id="8" name="Oval 7"/>
          <p:cNvSpPr/>
          <p:nvPr/>
        </p:nvSpPr>
        <p:spPr>
          <a:xfrm>
            <a:off x="5897880" y="2834640"/>
            <a:ext cx="457200" cy="457200"/>
          </a:xfrm>
          <a:prstGeom prst="ellipse">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97880" y="2834640"/>
            <a:ext cx="457200" cy="45720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o</a:t>
            </a:r>
          </a:p>
        </p:txBody>
      </p:sp>
      <p:cxnSp>
        <p:nvCxnSpPr>
          <p:cNvPr id="10" name="Connector 9"/>
          <p:cNvCxnSpPr/>
          <p:nvPr/>
        </p:nvCxnSpPr>
        <p:spPr>
          <a:xfrm>
            <a:off x="6126480" y="2514600"/>
            <a:ext cx="0" cy="32004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651760" y="3931920"/>
            <a:ext cx="2743200" cy="100584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651760" y="3931920"/>
            <a:ext cx="274320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51760" y="3931920"/>
            <a:ext cx="274320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ESTUDIANTE</a:t>
            </a:r>
          </a:p>
        </p:txBody>
      </p:sp>
      <p:sp>
        <p:nvSpPr>
          <p:cNvPr id="14" name="TextBox 13"/>
          <p:cNvSpPr txBox="1"/>
          <p:nvPr/>
        </p:nvSpPr>
        <p:spPr>
          <a:xfrm>
            <a:off x="2697479" y="4343400"/>
            <a:ext cx="2651760" cy="54864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carrera · año de ingreso</a:t>
            </a:r>
          </a:p>
        </p:txBody>
      </p:sp>
      <p:cxnSp>
        <p:nvCxnSpPr>
          <p:cNvPr id="15" name="Connector 14"/>
          <p:cNvCxnSpPr/>
          <p:nvPr/>
        </p:nvCxnSpPr>
        <p:spPr>
          <a:xfrm flipH="1">
            <a:off x="4023360" y="3291840"/>
            <a:ext cx="2103120" cy="64008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858000" y="3931920"/>
            <a:ext cx="2743200" cy="1005840"/>
          </a:xfrm>
          <a:prstGeom prst="rect">
            <a:avLst/>
          </a:prstGeom>
          <a:solidFill>
            <a:srgbClr val="FFFFFF"/>
          </a:solidFill>
          <a:ln w="12700">
            <a:solidFill>
              <a:srgbClr val="00A4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0" y="3931920"/>
            <a:ext cx="2743200" cy="384048"/>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3931920"/>
            <a:ext cx="2743200"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PROFESOR</a:t>
            </a:r>
          </a:p>
        </p:txBody>
      </p:sp>
      <p:sp>
        <p:nvSpPr>
          <p:cNvPr id="19" name="TextBox 18"/>
          <p:cNvSpPr txBox="1"/>
          <p:nvPr/>
        </p:nvSpPr>
        <p:spPr>
          <a:xfrm>
            <a:off x="6903720" y="4343400"/>
            <a:ext cx="2651760" cy="548640"/>
          </a:xfrm>
          <a:prstGeom prst="rect">
            <a:avLst/>
          </a:prstGeom>
          <a:noFill/>
        </p:spPr>
        <p:txBody>
          <a:bodyPr wrap="square" lIns="73152" tIns="36576" rIns="73152" bIns="36576" anchor="t">
            <a:spAutoFit/>
          </a:bodyPr>
          <a:lstStyle/>
          <a:p>
            <a:pPr algn="ctr">
              <a:spcAft>
                <a:spcPts val="600"/>
              </a:spcAft>
            </a:pPr>
            <a:r>
              <a:rPr sz="1100" b="0" i="0">
                <a:solidFill>
                  <a:srgbClr val="2E3A40"/>
                </a:solidFill>
                <a:latin typeface="Calibri"/>
              </a:rPr>
              <a:t>departamento · jerarquía</a:t>
            </a:r>
          </a:p>
        </p:txBody>
      </p:sp>
      <p:cxnSp>
        <p:nvCxnSpPr>
          <p:cNvPr id="20" name="Connector 19"/>
          <p:cNvCxnSpPr/>
          <p:nvPr/>
        </p:nvCxnSpPr>
        <p:spPr>
          <a:xfrm>
            <a:off x="6126480" y="3291840"/>
            <a:ext cx="2103120" cy="640080"/>
          </a:xfrm>
          <a:prstGeom prst="line">
            <a:avLst/>
          </a:prstGeom>
          <a:ln w="25400">
            <a:solidFill>
              <a:srgbClr val="2E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63040" y="5212080"/>
            <a:ext cx="10515600" cy="731520"/>
          </a:xfrm>
          <a:prstGeom prst="rect">
            <a:avLst/>
          </a:prstGeom>
          <a:noFill/>
        </p:spPr>
        <p:txBody>
          <a:bodyPr wrap="square" lIns="73152" tIns="36576" rIns="73152" bIns="36576" anchor="t">
            <a:spAutoFit/>
          </a:bodyPr>
          <a:lstStyle/>
          <a:p>
            <a:pPr algn="l">
              <a:spcAft>
                <a:spcPts val="600"/>
              </a:spcAft>
            </a:pPr>
            <a:r>
              <a:rPr sz="1300" b="1" i="0">
                <a:solidFill>
                  <a:srgbClr val="2E3A40"/>
                </a:solidFill>
                <a:latin typeface="Calibri"/>
              </a:rPr>
              <a:t>Solapada (o):</a:t>
            </a:r>
            <a:r>
              <a:rPr sz="1300" b="0" i="0">
                <a:solidFill>
                  <a:srgbClr val="2E3A40"/>
                </a:solidFill>
                <a:latin typeface="Calibri"/>
              </a:rPr>
              <a:t> una persona puede ser estudiante y profesor a la vez (magíster que hace clases por horas). </a:t>
            </a:r>
            <a:r>
              <a:rPr sz="1300" b="1" i="0">
                <a:solidFill>
                  <a:srgbClr val="2E3A40"/>
                </a:solidFill>
                <a:latin typeface="Calibri"/>
              </a:rPr>
              <a:t>Total:</a:t>
            </a:r>
            <a:r>
              <a:rPr sz="1300" b="0" i="0">
                <a:solidFill>
                  <a:srgbClr val="2E3A40"/>
                </a:solidFill>
                <a:latin typeface="Calibri"/>
              </a:rPr>
              <a:t> toda persona es al menos una de las dos. En SQL: tabla PERSONA + tablas ESTUDIANTE y PROFESOR con la misma PK (rut). En la geodatabase, la idea equivalente son los subtipos.</a:t>
            </a:r>
          </a:p>
        </p:txBody>
      </p:sp>
      <p:sp>
        <p:nvSpPr>
          <p:cNvPr id="22" name="TextBox 2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Elmasri y Navathe (2016), cap. 4; Chen (1976).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14. Algoritmo de transformación ER → relacional</a:t>
            </a:r>
          </a:p>
        </p:txBody>
      </p:sp>
      <p:sp>
        <p:nvSpPr>
          <p:cNvPr id="5" name="TextBox 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Elmasri y Navathe (2016), cap. 9, pasos 1–7 (ER) y 8 (EER); Codd (1970).</a:t>
            </a:r>
          </a:p>
        </p:txBody>
      </p:sp>
      <p:graphicFrame>
        <p:nvGraphicFramePr>
          <p:cNvPr id="6" name="Table 5"/>
          <p:cNvGraphicFramePr>
            <a:graphicFrameLocks noGrp="1"/>
          </p:cNvGraphicFramePr>
          <p:nvPr/>
        </p:nvGraphicFramePr>
        <p:xfrm>
          <a:off x="1325880" y="1417320"/>
          <a:ext cx="10863070" cy="4191000"/>
        </p:xfrm>
        <a:graphic>
          <a:graphicData uri="http://schemas.openxmlformats.org/drawingml/2006/table">
            <a:tbl>
              <a:tblPr firstRow="1" bandRow="1">
                <a:tableStyleId>{5C22544A-7EE6-4342-B048-85BDC9FD1C3A}</a:tableStyleId>
              </a:tblPr>
              <a:tblGrid>
                <a:gridCol w="640000"/>
                <a:gridCol w="2150000"/>
                <a:gridCol w="4600000"/>
                <a:gridCol w="3473070"/>
              </a:tblGrid>
              <a:tr h="289560">
                <a:tc>
                  <a:txBody>
                    <a:bodyPr/>
                    <a:lstStyle/>
                    <a:p>
                      <a:r>
                        <a:rPr sz="1400" b="1">
                          <a:solidFill>
                            <a:srgbClr val="FFFFFF"/>
                          </a:solidFill>
                          <a:latin typeface="Calibri"/>
                        </a:rPr>
                        <a:t>Paso</a:t>
                      </a:r>
                    </a:p>
                  </a:txBody>
                  <a:tcPr marL="73152" marR="73152" marT="36576" marB="36576">
                    <a:solidFill>
                      <a:srgbClr val="007A7A"/>
                    </a:solidFill>
                  </a:tcPr>
                </a:tc>
                <a:tc>
                  <a:txBody>
                    <a:bodyPr/>
                    <a:lstStyle/>
                    <a:p>
                      <a:r>
                        <a:rPr sz="1400" b="1">
                          <a:solidFill>
                            <a:srgbClr val="FFFFFF"/>
                          </a:solidFill>
                          <a:latin typeface="Calibri"/>
                        </a:rPr>
                        <a:t>Construcción ER</a:t>
                      </a:r>
                    </a:p>
                  </a:txBody>
                  <a:tcPr marL="73152" marR="73152" marT="36576" marB="36576">
                    <a:solidFill>
                      <a:srgbClr val="007A7A"/>
                    </a:solidFill>
                  </a:tcPr>
                </a:tc>
                <a:tc>
                  <a:txBody>
                    <a:bodyPr/>
                    <a:lstStyle/>
                    <a:p>
                      <a:r>
                        <a:rPr sz="1400" b="1">
                          <a:solidFill>
                            <a:srgbClr val="FFFFFF"/>
                          </a:solidFill>
                          <a:latin typeface="Calibri"/>
                        </a:rPr>
                        <a:t>Regla de transformación</a:t>
                      </a:r>
                    </a:p>
                  </a:txBody>
                  <a:tcPr marL="73152" marR="73152" marT="36576" marB="36576">
                    <a:solidFill>
                      <a:srgbClr val="007A7A"/>
                    </a:solidFill>
                  </a:tcPr>
                </a:tc>
                <a:tc>
                  <a:txBody>
                    <a:bodyPr/>
                    <a:lstStyle/>
                    <a:p>
                      <a:r>
                        <a:rPr sz="1400" b="1">
                          <a:solidFill>
                            <a:srgbClr val="FFFFFF"/>
                          </a:solidFill>
                          <a:latin typeface="Calibri"/>
                        </a:rPr>
                        <a:t>En el caso</a:t>
                      </a:r>
                    </a:p>
                  </a:txBody>
                  <a:tcPr marL="73152" marR="73152" marT="36576" marB="36576">
                    <a:solidFill>
                      <a:srgbClr val="007A7A"/>
                    </a:solidFill>
                  </a:tcPr>
                </a:tc>
              </a:tr>
              <a:tr h="487680">
                <a:tc>
                  <a:txBody>
                    <a:bodyPr/>
                    <a:lstStyle/>
                    <a:p>
                      <a:r>
                        <a:rPr sz="1300" b="0">
                          <a:solidFill>
                            <a:srgbClr val="2E3A40"/>
                          </a:solidFill>
                          <a:latin typeface="Calibri"/>
                        </a:rPr>
                        <a:t>1</a:t>
                      </a:r>
                    </a:p>
                  </a:txBody>
                  <a:tcPr marL="73152" marR="73152" marT="36576" marB="36576">
                    <a:solidFill>
                      <a:srgbClr val="FFFFFF"/>
                    </a:solidFill>
                  </a:tcPr>
                </a:tc>
                <a:tc>
                  <a:txBody>
                    <a:bodyPr/>
                    <a:lstStyle/>
                    <a:p>
                      <a:r>
                        <a:rPr sz="1300" b="0">
                          <a:solidFill>
                            <a:srgbClr val="2E3A40"/>
                          </a:solidFill>
                          <a:latin typeface="Calibri"/>
                        </a:rPr>
                        <a:t>Entidad fuerte</a:t>
                      </a:r>
                    </a:p>
                  </a:txBody>
                  <a:tcPr marL="73152" marR="73152" marT="36576" marB="36576">
                    <a:solidFill>
                      <a:srgbClr val="FFFFFF"/>
                    </a:solidFill>
                  </a:tcPr>
                </a:tc>
                <a:tc>
                  <a:txBody>
                    <a:bodyPr/>
                    <a:lstStyle/>
                    <a:p>
                      <a:r>
                        <a:rPr sz="1300" b="0">
                          <a:solidFill>
                            <a:srgbClr val="2E3A40"/>
                          </a:solidFill>
                          <a:latin typeface="Calibri"/>
                        </a:rPr>
                        <a:t>Tabla con sus atributos simples; el identificador pasa a ser la PK</a:t>
                      </a:r>
                    </a:p>
                  </a:txBody>
                  <a:tcPr marL="73152" marR="73152" marT="36576" marB="36576">
                    <a:solidFill>
                      <a:srgbClr val="FFFFFF"/>
                    </a:solidFill>
                  </a:tcPr>
                </a:tc>
                <a:tc>
                  <a:txBody>
                    <a:bodyPr/>
                    <a:lstStyle/>
                    <a:p>
                      <a:r>
                        <a:rPr sz="1300" b="0">
                          <a:solidFill>
                            <a:srgbClr val="2E3A40"/>
                          </a:solidFill>
                          <a:latin typeface="Calibri"/>
                        </a:rPr>
                        <a:t>asignatura(cod_asig, nombre, creditos)</a:t>
                      </a:r>
                    </a:p>
                  </a:txBody>
                  <a:tcPr marL="73152" marR="73152" marT="36576" marB="36576">
                    <a:solidFill>
                      <a:srgbClr val="FFFFFF"/>
                    </a:solidFill>
                  </a:tcPr>
                </a:tc>
              </a:tr>
              <a:tr h="487680">
                <a:tc>
                  <a:txBody>
                    <a:bodyPr/>
                    <a:lstStyle/>
                    <a:p>
                      <a:r>
                        <a:rPr sz="1300" b="0">
                          <a:solidFill>
                            <a:srgbClr val="2E3A40"/>
                          </a:solidFill>
                          <a:latin typeface="Calibri"/>
                        </a:rPr>
                        <a:t>2</a:t>
                      </a:r>
                    </a:p>
                  </a:txBody>
                  <a:tcPr marL="73152" marR="73152" marT="36576" marB="36576">
                    <a:solidFill>
                      <a:srgbClr val="E8F7F6"/>
                    </a:solidFill>
                  </a:tcPr>
                </a:tc>
                <a:tc>
                  <a:txBody>
                    <a:bodyPr/>
                    <a:lstStyle/>
                    <a:p>
                      <a:r>
                        <a:rPr sz="1300" b="0">
                          <a:solidFill>
                            <a:srgbClr val="2E3A40"/>
                          </a:solidFill>
                          <a:latin typeface="Calibri"/>
                        </a:rPr>
                        <a:t>Entidad débil</a:t>
                      </a:r>
                    </a:p>
                  </a:txBody>
                  <a:tcPr marL="73152" marR="73152" marT="36576" marB="36576">
                    <a:solidFill>
                      <a:srgbClr val="E8F7F6"/>
                    </a:solidFill>
                  </a:tcPr>
                </a:tc>
                <a:tc>
                  <a:txBody>
                    <a:bodyPr/>
                    <a:lstStyle/>
                    <a:p>
                      <a:r>
                        <a:rPr sz="1300" b="0">
                          <a:solidFill>
                            <a:srgbClr val="2E3A40"/>
                          </a:solidFill>
                          <a:latin typeface="Calibri"/>
                        </a:rPr>
                        <a:t>Tabla cuya PK = PK del dueño + identificador parcial; FK al dueño</a:t>
                      </a:r>
                    </a:p>
                  </a:txBody>
                  <a:tcPr marL="73152" marR="73152" marT="36576" marB="36576">
                    <a:solidFill>
                      <a:srgbClr val="E8F7F6"/>
                    </a:solidFill>
                  </a:tcPr>
                </a:tc>
                <a:tc>
                  <a:txBody>
                    <a:bodyPr/>
                    <a:lstStyle/>
                    <a:p>
                      <a:r>
                        <a:rPr sz="1300" b="0">
                          <a:solidFill>
                            <a:srgbClr val="2E3A40"/>
                          </a:solidFill>
                          <a:latin typeface="Calibri"/>
                        </a:rPr>
                        <a:t>seccion(cod_asig, periodo, num_seccion)</a:t>
                      </a:r>
                    </a:p>
                  </a:txBody>
                  <a:tcPr marL="73152" marR="73152" marT="36576" marB="36576">
                    <a:solidFill>
                      <a:srgbClr val="E8F7F6"/>
                    </a:solidFill>
                  </a:tcPr>
                </a:tc>
              </a:tr>
              <a:tr h="487680">
                <a:tc>
                  <a:txBody>
                    <a:bodyPr/>
                    <a:lstStyle/>
                    <a:p>
                      <a:r>
                        <a:rPr sz="1300" b="0">
                          <a:solidFill>
                            <a:srgbClr val="2E3A40"/>
                          </a:solidFill>
                          <a:latin typeface="Calibri"/>
                        </a:rPr>
                        <a:t>3</a:t>
                      </a:r>
                    </a:p>
                  </a:txBody>
                  <a:tcPr marL="73152" marR="73152" marT="36576" marB="36576">
                    <a:solidFill>
                      <a:srgbClr val="FFFFFF"/>
                    </a:solidFill>
                  </a:tcPr>
                </a:tc>
                <a:tc>
                  <a:txBody>
                    <a:bodyPr/>
                    <a:lstStyle/>
                    <a:p>
                      <a:r>
                        <a:rPr sz="1300" b="0">
                          <a:solidFill>
                            <a:srgbClr val="2E3A40"/>
                          </a:solidFill>
                          <a:latin typeface="Calibri"/>
                        </a:rPr>
                        <a:t>Relación 1:1</a:t>
                      </a:r>
                    </a:p>
                  </a:txBody>
                  <a:tcPr marL="73152" marR="73152" marT="36576" marB="36576">
                    <a:solidFill>
                      <a:srgbClr val="FFFFFF"/>
                    </a:solidFill>
                  </a:tcPr>
                </a:tc>
                <a:tc>
                  <a:txBody>
                    <a:bodyPr/>
                    <a:lstStyle/>
                    <a:p>
                      <a:r>
                        <a:rPr sz="1300" b="0">
                          <a:solidFill>
                            <a:srgbClr val="2E3A40"/>
                          </a:solidFill>
                          <a:latin typeface="Calibri"/>
                        </a:rPr>
                        <a:t>FK en el lado de participación total, con UNIQUE (o PK compartida)</a:t>
                      </a:r>
                    </a:p>
                  </a:txBody>
                  <a:tcPr marL="73152" marR="73152" marT="36576" marB="36576">
                    <a:solidFill>
                      <a:srgbClr val="FFFFFF"/>
                    </a:solidFill>
                  </a:tcPr>
                </a:tc>
                <a:tc>
                  <a:txBody>
                    <a:bodyPr/>
                    <a:lstStyle/>
                    <a:p>
                      <a:r>
                        <a:rPr sz="1300" b="0">
                          <a:solidFill>
                            <a:srgbClr val="2E3A40"/>
                          </a:solidFill>
                          <a:latin typeface="Calibri"/>
                        </a:rPr>
                        <a:t>domicilio.rut → persona</a:t>
                      </a:r>
                    </a:p>
                  </a:txBody>
                  <a:tcPr marL="73152" marR="73152" marT="36576" marB="36576">
                    <a:solidFill>
                      <a:srgbClr val="FFFFFF"/>
                    </a:solidFill>
                  </a:tcPr>
                </a:tc>
              </a:tr>
              <a:tr h="487680">
                <a:tc>
                  <a:txBody>
                    <a:bodyPr/>
                    <a:lstStyle/>
                    <a:p>
                      <a:r>
                        <a:rPr sz="1300" b="0">
                          <a:solidFill>
                            <a:srgbClr val="2E3A40"/>
                          </a:solidFill>
                          <a:latin typeface="Calibri"/>
                        </a:rPr>
                        <a:t>4</a:t>
                      </a:r>
                    </a:p>
                  </a:txBody>
                  <a:tcPr marL="73152" marR="73152" marT="36576" marB="36576">
                    <a:solidFill>
                      <a:srgbClr val="E8F7F6"/>
                    </a:solidFill>
                  </a:tcPr>
                </a:tc>
                <a:tc>
                  <a:txBody>
                    <a:bodyPr/>
                    <a:lstStyle/>
                    <a:p>
                      <a:r>
                        <a:rPr sz="1300" b="0">
                          <a:solidFill>
                            <a:srgbClr val="2E3A40"/>
                          </a:solidFill>
                          <a:latin typeface="Calibri"/>
                        </a:rPr>
                        <a:t>Relación 1:N</a:t>
                      </a:r>
                    </a:p>
                  </a:txBody>
                  <a:tcPr marL="73152" marR="73152" marT="36576" marB="36576">
                    <a:solidFill>
                      <a:srgbClr val="E8F7F6"/>
                    </a:solidFill>
                  </a:tcPr>
                </a:tc>
                <a:tc>
                  <a:txBody>
                    <a:bodyPr/>
                    <a:lstStyle/>
                    <a:p>
                      <a:r>
                        <a:rPr sz="1300" b="0">
                          <a:solidFill>
                            <a:srgbClr val="2E3A40"/>
                          </a:solidFill>
                          <a:latin typeface="Calibri"/>
                        </a:rPr>
                        <a:t>FK en la tabla del lado N; NOT NULL si su participación es total</a:t>
                      </a:r>
                    </a:p>
                  </a:txBody>
                  <a:tcPr marL="73152" marR="73152" marT="36576" marB="36576">
                    <a:solidFill>
                      <a:srgbClr val="E8F7F6"/>
                    </a:solidFill>
                  </a:tcPr>
                </a:tc>
                <a:tc>
                  <a:txBody>
                    <a:bodyPr/>
                    <a:lstStyle/>
                    <a:p>
                      <a:r>
                        <a:rPr sz="1300" b="0">
                          <a:solidFill>
                            <a:srgbClr val="2E3A40"/>
                          </a:solidFill>
                          <a:latin typeface="Calibri"/>
                        </a:rPr>
                        <a:t>estudiante.cod_carrera → carrera</a:t>
                      </a:r>
                    </a:p>
                  </a:txBody>
                  <a:tcPr marL="73152" marR="73152" marT="36576" marB="36576">
                    <a:solidFill>
                      <a:srgbClr val="E8F7F6"/>
                    </a:solidFill>
                  </a:tcPr>
                </a:tc>
              </a:tr>
              <a:tr h="487680">
                <a:tc>
                  <a:txBody>
                    <a:bodyPr/>
                    <a:lstStyle/>
                    <a:p>
                      <a:r>
                        <a:rPr sz="1300" b="0">
                          <a:solidFill>
                            <a:srgbClr val="2E3A40"/>
                          </a:solidFill>
                          <a:latin typeface="Calibri"/>
                        </a:rPr>
                        <a:t>5</a:t>
                      </a:r>
                    </a:p>
                  </a:txBody>
                  <a:tcPr marL="73152" marR="73152" marT="36576" marB="36576">
                    <a:solidFill>
                      <a:srgbClr val="FFFFFF"/>
                    </a:solidFill>
                  </a:tcPr>
                </a:tc>
                <a:tc>
                  <a:txBody>
                    <a:bodyPr/>
                    <a:lstStyle/>
                    <a:p>
                      <a:r>
                        <a:rPr sz="1300" b="0">
                          <a:solidFill>
                            <a:srgbClr val="2E3A40"/>
                          </a:solidFill>
                          <a:latin typeface="Calibri"/>
                        </a:rPr>
                        <a:t>Relación M:N</a:t>
                      </a:r>
                    </a:p>
                  </a:txBody>
                  <a:tcPr marL="73152" marR="73152" marT="36576" marB="36576">
                    <a:solidFill>
                      <a:srgbClr val="FFFFFF"/>
                    </a:solidFill>
                  </a:tcPr>
                </a:tc>
                <a:tc>
                  <a:txBody>
                    <a:bodyPr/>
                    <a:lstStyle/>
                    <a:p>
                      <a:r>
                        <a:rPr sz="1300" b="0">
                          <a:solidFill>
                            <a:srgbClr val="2E3A40"/>
                          </a:solidFill>
                          <a:latin typeface="Calibri"/>
                        </a:rPr>
                        <a:t>Tabla nueva; PK compuesta por las FK; recibe los atributos de la relación</a:t>
                      </a:r>
                    </a:p>
                  </a:txBody>
                  <a:tcPr marL="73152" marR="73152" marT="36576" marB="36576">
                    <a:solidFill>
                      <a:srgbClr val="FFFFFF"/>
                    </a:solidFill>
                  </a:tcPr>
                </a:tc>
                <a:tc>
                  <a:txBody>
                    <a:bodyPr/>
                    <a:lstStyle/>
                    <a:p>
                      <a:r>
                        <a:rPr sz="1300" b="0">
                          <a:solidFill>
                            <a:srgbClr val="2E3A40"/>
                          </a:solidFill>
                          <a:latin typeface="Calibri"/>
                        </a:rPr>
                        <a:t>inscripcion · prerrequisito</a:t>
                      </a:r>
                    </a:p>
                  </a:txBody>
                  <a:tcPr marL="73152" marR="73152" marT="36576" marB="36576">
                    <a:solidFill>
                      <a:srgbClr val="FFFFFF"/>
                    </a:solidFill>
                  </a:tcPr>
                </a:tc>
              </a:tr>
              <a:tr h="487680">
                <a:tc>
                  <a:txBody>
                    <a:bodyPr/>
                    <a:lstStyle/>
                    <a:p>
                      <a:r>
                        <a:rPr sz="1300" b="0">
                          <a:solidFill>
                            <a:srgbClr val="2E3A40"/>
                          </a:solidFill>
                          <a:latin typeface="Calibri"/>
                        </a:rPr>
                        <a:t>6</a:t>
                      </a:r>
                    </a:p>
                  </a:txBody>
                  <a:tcPr marL="73152" marR="73152" marT="36576" marB="36576">
                    <a:solidFill>
                      <a:srgbClr val="E8F7F6"/>
                    </a:solidFill>
                  </a:tcPr>
                </a:tc>
                <a:tc>
                  <a:txBody>
                    <a:bodyPr/>
                    <a:lstStyle/>
                    <a:p>
                      <a:r>
                        <a:rPr sz="1300" b="0">
                          <a:solidFill>
                            <a:srgbClr val="2E3A40"/>
                          </a:solidFill>
                          <a:latin typeface="Calibri"/>
                        </a:rPr>
                        <a:t>Atributo multivaluado</a:t>
                      </a:r>
                    </a:p>
                  </a:txBody>
                  <a:tcPr marL="73152" marR="73152" marT="36576" marB="36576">
                    <a:solidFill>
                      <a:srgbClr val="E8F7F6"/>
                    </a:solidFill>
                  </a:tcPr>
                </a:tc>
                <a:tc>
                  <a:txBody>
                    <a:bodyPr/>
                    <a:lstStyle/>
                    <a:p>
                      <a:r>
                        <a:rPr sz="1300" b="0">
                          <a:solidFill>
                            <a:srgbClr val="2E3A40"/>
                          </a:solidFill>
                          <a:latin typeface="Calibri"/>
                        </a:rPr>
                        <a:t>Tabla nueva con FK a la entidad; PK = FK + valor</a:t>
                      </a:r>
                    </a:p>
                  </a:txBody>
                  <a:tcPr marL="73152" marR="73152" marT="36576" marB="36576">
                    <a:solidFill>
                      <a:srgbClr val="E8F7F6"/>
                    </a:solidFill>
                  </a:tcPr>
                </a:tc>
                <a:tc>
                  <a:txBody>
                    <a:bodyPr/>
                    <a:lstStyle/>
                    <a:p>
                      <a:r>
                        <a:rPr sz="1300" b="0">
                          <a:solidFill>
                            <a:srgbClr val="2E3A40"/>
                          </a:solidFill>
                          <a:latin typeface="Calibri"/>
                        </a:rPr>
                        <a:t>seccion_horario (día, bloque, sala)</a:t>
                      </a:r>
                    </a:p>
                  </a:txBody>
                  <a:tcPr marL="73152" marR="73152" marT="36576" marB="36576">
                    <a:solidFill>
                      <a:srgbClr val="E8F7F6"/>
                    </a:solidFill>
                  </a:tcPr>
                </a:tc>
              </a:tr>
              <a:tr h="487680">
                <a:tc>
                  <a:txBody>
                    <a:bodyPr/>
                    <a:lstStyle/>
                    <a:p>
                      <a:r>
                        <a:rPr sz="1300" b="0">
                          <a:solidFill>
                            <a:srgbClr val="2E3A40"/>
                          </a:solidFill>
                          <a:latin typeface="Calibri"/>
                        </a:rPr>
                        <a:t>7</a:t>
                      </a:r>
                    </a:p>
                  </a:txBody>
                  <a:tcPr marL="73152" marR="73152" marT="36576" marB="36576">
                    <a:solidFill>
                      <a:srgbClr val="FFFFFF"/>
                    </a:solidFill>
                  </a:tcPr>
                </a:tc>
                <a:tc>
                  <a:txBody>
                    <a:bodyPr/>
                    <a:lstStyle/>
                    <a:p>
                      <a:r>
                        <a:rPr sz="1300" b="0">
                          <a:solidFill>
                            <a:srgbClr val="2E3A40"/>
                          </a:solidFill>
                          <a:latin typeface="Calibri"/>
                        </a:rPr>
                        <a:t>Relación n-aria (n &gt; 2)</a:t>
                      </a:r>
                    </a:p>
                  </a:txBody>
                  <a:tcPr marL="73152" marR="73152" marT="36576" marB="36576">
                    <a:solidFill>
                      <a:srgbClr val="FFFFFF"/>
                    </a:solidFill>
                  </a:tcPr>
                </a:tc>
                <a:tc>
                  <a:txBody>
                    <a:bodyPr/>
                    <a:lstStyle/>
                    <a:p>
                      <a:r>
                        <a:rPr sz="1300" b="0">
                          <a:solidFill>
                            <a:srgbClr val="2E3A40"/>
                          </a:solidFill>
                          <a:latin typeface="Calibri"/>
                        </a:rPr>
                        <a:t>Tabla nueva con una FK por cada entidad participante</a:t>
                      </a:r>
                    </a:p>
                  </a:txBody>
                  <a:tcPr marL="73152" marR="73152" marT="36576" marB="36576">
                    <a:solidFill>
                      <a:srgbClr val="FFFFFF"/>
                    </a:solidFill>
                  </a:tcPr>
                </a:tc>
                <a:tc>
                  <a:txBody>
                    <a:bodyPr/>
                    <a:lstStyle/>
                    <a:p>
                      <a:r>
                        <a:rPr sz="1300" b="0">
                          <a:solidFill>
                            <a:srgbClr val="2E3A40"/>
                          </a:solidFill>
                          <a:latin typeface="Calibri"/>
                        </a:rPr>
                        <a:t>(no aparece en el caso)</a:t>
                      </a:r>
                    </a:p>
                  </a:txBody>
                  <a:tcPr marL="73152" marR="73152" marT="36576" marB="36576">
                    <a:solidFill>
                      <a:srgbClr val="FFFFFF"/>
                    </a:solidFill>
                  </a:tcPr>
                </a:tc>
              </a:tr>
              <a:tr h="487680">
                <a:tc>
                  <a:txBody>
                    <a:bodyPr/>
                    <a:lstStyle/>
                    <a:p>
                      <a:r>
                        <a:rPr sz="1300" b="0">
                          <a:solidFill>
                            <a:srgbClr val="2E3A40"/>
                          </a:solidFill>
                          <a:latin typeface="Calibri"/>
                        </a:rPr>
                        <a:t>8</a:t>
                      </a:r>
                    </a:p>
                  </a:txBody>
                  <a:tcPr marL="73152" marR="73152" marT="36576" marB="36576">
                    <a:solidFill>
                      <a:srgbClr val="E8F7F6"/>
                    </a:solidFill>
                  </a:tcPr>
                </a:tc>
                <a:tc>
                  <a:txBody>
                    <a:bodyPr/>
                    <a:lstStyle/>
                    <a:p>
                      <a:r>
                        <a:rPr sz="1300" b="0">
                          <a:solidFill>
                            <a:srgbClr val="2E3A40"/>
                          </a:solidFill>
                          <a:latin typeface="Calibri"/>
                        </a:rPr>
                        <a:t>Especialización (EER)</a:t>
                      </a:r>
                    </a:p>
                  </a:txBody>
                  <a:tcPr marL="73152" marR="73152" marT="36576" marB="36576">
                    <a:solidFill>
                      <a:srgbClr val="E8F7F6"/>
                    </a:solidFill>
                  </a:tcPr>
                </a:tc>
                <a:tc>
                  <a:txBody>
                    <a:bodyPr/>
                    <a:lstStyle/>
                    <a:p>
                      <a:r>
                        <a:rPr sz="1300" b="0">
                          <a:solidFill>
                            <a:srgbClr val="2E3A40"/>
                          </a:solidFill>
                          <a:latin typeface="Calibri"/>
                        </a:rPr>
                        <a:t>Superclase + una tabla por subclase con PK = FK a la superclase (opción 8A)</a:t>
                      </a:r>
                    </a:p>
                  </a:txBody>
                  <a:tcPr marL="73152" marR="73152" marT="36576" marB="36576">
                    <a:solidFill>
                      <a:srgbClr val="E8F7F6"/>
                    </a:solidFill>
                  </a:tcPr>
                </a:tc>
                <a:tc>
                  <a:txBody>
                    <a:bodyPr/>
                    <a:lstStyle/>
                    <a:p>
                      <a:r>
                        <a:rPr sz="1300" b="0">
                          <a:solidFill>
                            <a:srgbClr val="2E3A40"/>
                          </a:solidFill>
                          <a:latin typeface="Calibri"/>
                        </a:rPr>
                        <a:t>persona · estudiante · profesor</a:t>
                      </a:r>
                    </a:p>
                  </a:txBody>
                  <a:tcPr marL="73152" marR="73152" marT="36576" marB="36576">
                    <a:solidFill>
                      <a:srgbClr val="E8F7F6"/>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22. Normalización: de la planilla a la 3FN</a:t>
            </a:r>
          </a:p>
        </p:txBody>
      </p:sp>
      <p:sp>
        <p:nvSpPr>
          <p:cNvPr id="4" name="Rectangle 3"/>
          <p:cNvSpPr/>
          <p:nvPr/>
        </p:nvSpPr>
        <p:spPr>
          <a:xfrm>
            <a:off x="1325880" y="1417320"/>
            <a:ext cx="5312664" cy="54864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Antes: planilla de inscripciones</a:t>
            </a:r>
          </a:p>
        </p:txBody>
      </p:sp>
      <p:sp>
        <p:nvSpPr>
          <p:cNvPr id="6" name="Rectangle 5"/>
          <p:cNvSpPr/>
          <p:nvPr/>
        </p:nvSpPr>
        <p:spPr>
          <a:xfrm>
            <a:off x="1325880"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103120"/>
            <a:ext cx="4937760" cy="3749039"/>
          </a:xfrm>
          <a:prstGeom prst="rect">
            <a:avLst/>
          </a:prstGeom>
          <a:noFill/>
        </p:spPr>
        <p:txBody>
          <a:bodyPr wrap="square" lIns="73152" tIns="36576" rIns="73152" bIns="36576" anchor="t">
            <a:spAutoFit/>
          </a:bodyPr>
          <a:lstStyle/>
          <a:p>
            <a:pPr marL="228600" indent="-182880" algn="l">
              <a:spcAft>
                <a:spcPts val="600"/>
              </a:spcAft>
              <a:buChar char="•"/>
            </a:pPr>
            <a:r>
              <a:rPr sz="1400" b="0" i="0">
                <a:solidFill>
                  <a:srgbClr val="2E3A40"/>
                </a:solidFill>
                <a:latin typeface="Calibri"/>
              </a:rPr>
              <a:t>20111222-4 · V. Castro · ICTM · DIGEA · 14504 · Diseño de Bases de Geodatos · 5 cr · Prof. Soto</a:t>
            </a:r>
          </a:p>
          <a:p>
            <a:pPr marL="228600" indent="-182880" algn="l">
              <a:spcAft>
                <a:spcPts val="600"/>
              </a:spcAft>
              <a:buChar char="•"/>
            </a:pPr>
            <a:r>
              <a:rPr sz="1400" b="0" i="0">
                <a:solidFill>
                  <a:srgbClr val="2E3A40"/>
                </a:solidFill>
                <a:latin typeface="Calibri"/>
              </a:rPr>
              <a:t>20555666-2 · C. Reyes · ICG · DIGEA · 14504 · Diseño de Bases de Geodatos · 5 cr · Prof. Soto</a:t>
            </a:r>
          </a:p>
          <a:p>
            <a:pPr marL="228600" indent="-182880" algn="l">
              <a:spcAft>
                <a:spcPts val="600"/>
              </a:spcAft>
              <a:buChar char="•"/>
            </a:pPr>
            <a:r>
              <a:rPr sz="1400" b="0" i="0">
                <a:solidFill>
                  <a:srgbClr val="2E3A40"/>
                </a:solidFill>
                <a:latin typeface="Calibri"/>
              </a:rPr>
              <a:t>rut → nombre, carrera: se repite en cada fila</a:t>
            </a:r>
          </a:p>
          <a:p>
            <a:pPr marL="228600" indent="-182880" algn="l">
              <a:spcAft>
                <a:spcPts val="600"/>
              </a:spcAft>
              <a:buChar char="•"/>
            </a:pPr>
            <a:r>
              <a:rPr sz="1400" b="0" i="0">
                <a:solidFill>
                  <a:srgbClr val="2E3A40"/>
                </a:solidFill>
                <a:latin typeface="Calibri"/>
              </a:rPr>
              <a:t>carrera → departamento: dependencia transitiva</a:t>
            </a:r>
          </a:p>
          <a:p>
            <a:pPr marL="228600" indent="-182880" algn="l">
              <a:spcAft>
                <a:spcPts val="600"/>
              </a:spcAft>
              <a:buChar char="•"/>
            </a:pPr>
            <a:r>
              <a:rPr sz="1400" b="0" i="0">
                <a:solidFill>
                  <a:srgbClr val="2E3A40"/>
                </a:solidFill>
                <a:latin typeface="Calibri"/>
              </a:rPr>
              <a:t>cod_asig → nombre, créditos: dependencia parcial</a:t>
            </a:r>
          </a:p>
        </p:txBody>
      </p:sp>
      <p:sp>
        <p:nvSpPr>
          <p:cNvPr id="8" name="Rectangle 7"/>
          <p:cNvSpPr/>
          <p:nvPr/>
        </p:nvSpPr>
        <p:spPr>
          <a:xfrm>
            <a:off x="6876288" y="1417320"/>
            <a:ext cx="5312664" cy="548640"/>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Después: esquema en 3FN</a:t>
            </a:r>
          </a:p>
        </p:txBody>
      </p:sp>
      <p:sp>
        <p:nvSpPr>
          <p:cNvPr id="10" name="Rectangle 9"/>
          <p:cNvSpPr/>
          <p:nvPr/>
        </p:nvSpPr>
        <p:spPr>
          <a:xfrm>
            <a:off x="6876288"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2103120"/>
            <a:ext cx="4937760" cy="3749039"/>
          </a:xfrm>
          <a:prstGeom prst="rect">
            <a:avLst/>
          </a:prstGeom>
          <a:noFill/>
        </p:spPr>
        <p:txBody>
          <a:bodyPr wrap="square" lIns="73152" tIns="36576" rIns="73152" bIns="36576" anchor="t">
            <a:spAutoFit/>
          </a:bodyPr>
          <a:lstStyle/>
          <a:p>
            <a:pPr marL="228600" indent="-182880" algn="l">
              <a:spcAft>
                <a:spcPts val="600"/>
              </a:spcAft>
              <a:buChar char="•"/>
            </a:pPr>
            <a:r>
              <a:rPr sz="1400" b="0" i="0">
                <a:solidFill>
                  <a:srgbClr val="2E3A40"/>
                </a:solidFill>
                <a:latin typeface="Calibri"/>
              </a:rPr>
              <a:t>persona(rut, nombres, apellidos, …)</a:t>
            </a:r>
          </a:p>
          <a:p>
            <a:pPr marL="228600" indent="-182880" algn="l">
              <a:spcAft>
                <a:spcPts val="600"/>
              </a:spcAft>
              <a:buChar char="•"/>
            </a:pPr>
            <a:r>
              <a:rPr sz="1400" b="0" i="0">
                <a:solidFill>
                  <a:srgbClr val="2E3A40"/>
                </a:solidFill>
                <a:latin typeface="Calibri"/>
              </a:rPr>
              <a:t>estudiante(rut*, cod_carrera*, año_ingreso)</a:t>
            </a:r>
          </a:p>
          <a:p>
            <a:pPr marL="228600" indent="-182880" algn="l">
              <a:spcAft>
                <a:spcPts val="600"/>
              </a:spcAft>
              <a:buChar char="•"/>
            </a:pPr>
            <a:r>
              <a:rPr sz="1400" b="0" i="0">
                <a:solidFill>
                  <a:srgbClr val="2E3A40"/>
                </a:solidFill>
                <a:latin typeface="Calibri"/>
              </a:rPr>
              <a:t>carrera(cod_carrera, nombre, cod_depto*)</a:t>
            </a:r>
          </a:p>
          <a:p>
            <a:pPr marL="228600" indent="-182880" algn="l">
              <a:spcAft>
                <a:spcPts val="600"/>
              </a:spcAft>
              <a:buChar char="•"/>
            </a:pPr>
            <a:r>
              <a:rPr sz="1400" b="0" i="0">
                <a:solidFill>
                  <a:srgbClr val="2E3A40"/>
                </a:solidFill>
                <a:latin typeface="Calibri"/>
              </a:rPr>
              <a:t>asignatura(cod_asig, nombre, créditos)</a:t>
            </a:r>
          </a:p>
          <a:p>
            <a:pPr marL="228600" indent="-182880" algn="l">
              <a:spcAft>
                <a:spcPts val="600"/>
              </a:spcAft>
              <a:buChar char="•"/>
            </a:pPr>
            <a:r>
              <a:rPr sz="1400" b="0" i="0">
                <a:solidFill>
                  <a:srgbClr val="2E3A40"/>
                </a:solidFill>
                <a:latin typeface="Calibri"/>
              </a:rPr>
              <a:t>seccion(cod_asig*, periodo, num, rut_profesor*)</a:t>
            </a:r>
          </a:p>
          <a:p>
            <a:pPr marL="228600" indent="-182880" algn="l">
              <a:spcAft>
                <a:spcPts val="600"/>
              </a:spcAft>
              <a:buChar char="•"/>
            </a:pPr>
            <a:r>
              <a:rPr sz="1400" b="0" i="0">
                <a:solidFill>
                  <a:srgbClr val="2E3A40"/>
                </a:solidFill>
                <a:latin typeface="Calibri"/>
              </a:rPr>
              <a:t>inscripcion(rut*, cod_asig*, periodo, num*, nota)</a:t>
            </a:r>
          </a:p>
        </p:txBody>
      </p:sp>
      <p:sp>
        <p:nvSpPr>
          <p:cNvPr id="12" name="TextBox 1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Codd (1971), IBM Research Report RJ909.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23. Dependencias funcionales y formas normales</a:t>
            </a:r>
          </a:p>
        </p:txBody>
      </p:sp>
      <p:sp>
        <p:nvSpPr>
          <p:cNvPr id="4" name="TextBox 3"/>
          <p:cNvSpPr txBox="1"/>
          <p:nvPr/>
        </p:nvSpPr>
        <p:spPr>
          <a:xfrm>
            <a:off x="1325880" y="1371600"/>
            <a:ext cx="10863072" cy="640080"/>
          </a:xfrm>
          <a:prstGeom prst="rect">
            <a:avLst/>
          </a:prstGeom>
          <a:noFill/>
        </p:spPr>
        <p:txBody>
          <a:bodyPr wrap="square" lIns="73152" tIns="36576" rIns="73152" bIns="36576" anchor="t">
            <a:spAutoFit/>
          </a:bodyPr>
          <a:lstStyle/>
          <a:p>
            <a:pPr algn="l">
              <a:spcAft>
                <a:spcPts val="600"/>
              </a:spcAft>
            </a:pPr>
            <a:r>
              <a:rPr sz="1500" b="0" i="0">
                <a:solidFill>
                  <a:srgbClr val="5A676E"/>
                </a:solidFill>
                <a:latin typeface="Calibri"/>
              </a:rPr>
              <a:t>X → Y: si dos filas coinciden en X, coinciden en Y. Ejemplos: rut → nombres; cod_asig → créditos; {rut, cod_asig, periodo} → nota.</a:t>
            </a:r>
          </a:p>
        </p:txBody>
      </p:sp>
      <p:sp>
        <p:nvSpPr>
          <p:cNvPr id="5" name="Rounded Rectangle 4"/>
          <p:cNvSpPr/>
          <p:nvPr/>
        </p:nvSpPr>
        <p:spPr>
          <a:xfrm>
            <a:off x="1325880"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08760"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8" name="TextBox 7"/>
          <p:cNvSpPr txBox="1"/>
          <p:nvPr/>
        </p:nvSpPr>
        <p:spPr>
          <a:xfrm>
            <a:off x="1984248"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1FN</a:t>
            </a:r>
          </a:p>
        </p:txBody>
      </p:sp>
      <p:sp>
        <p:nvSpPr>
          <p:cNvPr id="9" name="TextBox 8"/>
          <p:cNvSpPr txBox="1"/>
          <p:nvPr/>
        </p:nvSpPr>
        <p:spPr>
          <a:xfrm>
            <a:off x="1508760"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Valores atómicos: sin listas de asignaturas en una celda.</a:t>
            </a:r>
          </a:p>
        </p:txBody>
      </p:sp>
      <p:sp>
        <p:nvSpPr>
          <p:cNvPr id="10" name="Rounded Rectangle 9"/>
          <p:cNvSpPr/>
          <p:nvPr/>
        </p:nvSpPr>
        <p:spPr>
          <a:xfrm>
            <a:off x="4098798"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281678"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81678"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3" name="TextBox 12"/>
          <p:cNvSpPr txBox="1"/>
          <p:nvPr/>
        </p:nvSpPr>
        <p:spPr>
          <a:xfrm>
            <a:off x="4757166"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2FN</a:t>
            </a:r>
          </a:p>
        </p:txBody>
      </p:sp>
      <p:sp>
        <p:nvSpPr>
          <p:cNvPr id="14" name="TextBox 13"/>
          <p:cNvSpPr txBox="1"/>
          <p:nvPr/>
        </p:nvSpPr>
        <p:spPr>
          <a:xfrm>
            <a:off x="4281678"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Ningún atributo depende de parte de la clave: créditos no depende del rut.</a:t>
            </a:r>
          </a:p>
        </p:txBody>
      </p:sp>
      <p:sp>
        <p:nvSpPr>
          <p:cNvPr id="15" name="Rounded Rectangle 14"/>
          <p:cNvSpPr/>
          <p:nvPr/>
        </p:nvSpPr>
        <p:spPr>
          <a:xfrm>
            <a:off x="6871716"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054596"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4596"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8" name="TextBox 17"/>
          <p:cNvSpPr txBox="1"/>
          <p:nvPr/>
        </p:nvSpPr>
        <p:spPr>
          <a:xfrm>
            <a:off x="7530084"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3FN</a:t>
            </a:r>
          </a:p>
        </p:txBody>
      </p:sp>
      <p:sp>
        <p:nvSpPr>
          <p:cNvPr id="19" name="TextBox 18"/>
          <p:cNvSpPr txBox="1"/>
          <p:nvPr/>
        </p:nvSpPr>
        <p:spPr>
          <a:xfrm>
            <a:off x="7054596"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Sin transitividad: el departamento se obtiene de la carrera.</a:t>
            </a:r>
          </a:p>
        </p:txBody>
      </p:sp>
      <p:sp>
        <p:nvSpPr>
          <p:cNvPr id="20" name="Rounded Rectangle 19"/>
          <p:cNvSpPr/>
          <p:nvPr/>
        </p:nvSpPr>
        <p:spPr>
          <a:xfrm>
            <a:off x="9644634" y="2057400"/>
            <a:ext cx="2544318"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27513" y="22585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7513" y="22585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4</a:t>
            </a:r>
          </a:p>
        </p:txBody>
      </p:sp>
      <p:sp>
        <p:nvSpPr>
          <p:cNvPr id="23" name="TextBox 22"/>
          <p:cNvSpPr txBox="1"/>
          <p:nvPr/>
        </p:nvSpPr>
        <p:spPr>
          <a:xfrm>
            <a:off x="10303002" y="2221992"/>
            <a:ext cx="1721358"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FNBC</a:t>
            </a:r>
          </a:p>
        </p:txBody>
      </p:sp>
      <p:sp>
        <p:nvSpPr>
          <p:cNvPr id="24" name="TextBox 23"/>
          <p:cNvSpPr txBox="1"/>
          <p:nvPr/>
        </p:nvSpPr>
        <p:spPr>
          <a:xfrm>
            <a:off x="9827513" y="2788920"/>
            <a:ext cx="2178558"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Todo determinante es clave candidata; casi siempre coincide con 3FN.</a:t>
            </a:r>
          </a:p>
        </p:txBody>
      </p:sp>
      <p:sp>
        <p:nvSpPr>
          <p:cNvPr id="25" name="TextBox 2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Armstrong (1974), IFIP Congress, 580-583; Codd (1974), IBM Research Report RJ1385 (FNBC).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24. Notación formal: relaciones y dependencias funcionales</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Notación</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450" b="1" i="0">
                <a:solidFill>
                  <a:srgbClr val="007A7A"/>
                </a:solidFill>
                <a:latin typeface="Calibri"/>
              </a:rPr>
              <a:t>La relación como objeto matemático</a:t>
            </a:r>
          </a:p>
          <a:p>
            <a:pPr marL="228600" indent="-182880" algn="l">
              <a:spcAft>
                <a:spcPts val="400"/>
              </a:spcAft>
              <a:buChar char="•"/>
            </a:pPr>
            <a:r>
              <a:rPr sz="1250" b="0" i="0">
                <a:solidFill>
                  <a:srgbClr val="2E3A40"/>
                </a:solidFill>
                <a:latin typeface="Calibri"/>
              </a:rPr>
              <a:t>Una relación R sobre los dominios D1, D2, ..., Dn es un subconjunto de su producto cartesiano: R ⊆ D1 × D2 × ... × Dn. Cada fila es una tupla de esa relación (Codd, 1970).</a:t>
            </a:r>
          </a:p>
          <a:p>
            <a:pPr algn="l">
              <a:spcAft>
                <a:spcPts val="400"/>
              </a:spcAft>
            </a:pPr>
            <a:r>
              <a:rPr sz="1450" b="1" i="0">
                <a:solidFill>
                  <a:srgbClr val="007A7A"/>
                </a:solidFill>
                <a:latin typeface="Calibri"/>
              </a:rPr>
              <a:t>Dependencia funcional, en notación formal</a:t>
            </a:r>
          </a:p>
          <a:p>
            <a:pPr marL="228600" indent="-182880" algn="l">
              <a:spcAft>
                <a:spcPts val="400"/>
              </a:spcAft>
              <a:buChar char="•"/>
            </a:pPr>
            <a:r>
              <a:rPr sz="1250" b="0" i="0">
                <a:solidFill>
                  <a:srgbClr val="2E3A40"/>
                </a:solidFill>
                <a:latin typeface="Calibri"/>
              </a:rPr>
              <a:t>X → Y se cumple en R si para todo par de tuplas t1, t2 de R: t1[X] = t2[X] implica t1[Y] = t2[Y].</a:t>
            </a:r>
          </a:p>
          <a:p>
            <a:pPr algn="l">
              <a:spcAft>
                <a:spcPts val="400"/>
              </a:spcAft>
            </a:pPr>
            <a:r>
              <a:rPr sz="1450" b="1" i="0">
                <a:solidFill>
                  <a:srgbClr val="007A7A"/>
                </a:solidFill>
                <a:latin typeface="Calibri"/>
              </a:rPr>
              <a:t>Axiomas de Armstrong (Armstrong, 1974)</a:t>
            </a:r>
          </a:p>
          <a:p>
            <a:pPr marL="228600" indent="-182880" algn="l">
              <a:spcAft>
                <a:spcPts val="400"/>
              </a:spcAft>
              <a:buChar char="•"/>
            </a:pPr>
            <a:r>
              <a:rPr sz="1250" b="0" i="0">
                <a:solidFill>
                  <a:srgbClr val="2E3A40"/>
                </a:solidFill>
                <a:latin typeface="Calibri"/>
              </a:rPr>
              <a:t>Reflexividad: si Y ⊆ X, entonces X → Y.</a:t>
            </a:r>
          </a:p>
          <a:p>
            <a:pPr marL="228600" indent="-182880" algn="l">
              <a:spcAft>
                <a:spcPts val="400"/>
              </a:spcAft>
              <a:buChar char="•"/>
            </a:pPr>
            <a:r>
              <a:rPr sz="1250" b="0" i="0">
                <a:solidFill>
                  <a:srgbClr val="2E3A40"/>
                </a:solidFill>
                <a:latin typeface="Calibri"/>
              </a:rPr>
              <a:t>Aumento: si X → Y, entonces XZ → YZ para cualquier Z.</a:t>
            </a:r>
          </a:p>
          <a:p>
            <a:pPr marL="228600" indent="-182880" algn="l">
              <a:spcAft>
                <a:spcPts val="400"/>
              </a:spcAft>
              <a:buChar char="•"/>
            </a:pPr>
            <a:r>
              <a:rPr sz="1250" b="0" i="0">
                <a:solidFill>
                  <a:srgbClr val="2E3A40"/>
                </a:solidFill>
                <a:latin typeface="Calibri"/>
              </a:rPr>
              <a:t>Transitividad: si X → Y y Y → Z, entonces X → Z.</a:t>
            </a:r>
          </a:p>
          <a:p>
            <a:pPr algn="l">
              <a:spcAft>
                <a:spcPts val="400"/>
              </a:spcAft>
            </a:pPr>
            <a:r>
              <a:rPr sz="1450" b="1" i="0">
                <a:solidFill>
                  <a:srgbClr val="007A7A"/>
                </a:solidFill>
                <a:latin typeface="Calibri"/>
              </a:rPr>
              <a:t>Superclave y FNBC, en la misma notación</a:t>
            </a:r>
          </a:p>
          <a:p>
            <a:pPr marL="228600" indent="-182880" algn="l">
              <a:spcAft>
                <a:spcPts val="400"/>
              </a:spcAft>
              <a:buChar char="•"/>
            </a:pPr>
            <a:r>
              <a:rPr sz="1250" b="0" i="0">
                <a:solidFill>
                  <a:srgbClr val="2E3A40"/>
                </a:solidFill>
                <a:latin typeface="Calibri"/>
              </a:rPr>
              <a:t>K es superclave de R si y solo si K → R. R está en FNBC si toda dependencia no trivial X → Y cumple que X es superclave, es decir, X → R.</a:t>
            </a:r>
          </a:p>
          <a:p>
            <a:pPr algn="l">
              <a:spcAft>
                <a:spcPts val="400"/>
              </a:spcAft>
            </a:pPr>
            <a:r>
              <a:rPr sz="1450" b="1" i="0">
                <a:solidFill>
                  <a:srgbClr val="007A7A"/>
                </a:solidFill>
                <a:latin typeface="Calibri"/>
              </a:rPr>
              <a:t>Notación en el diagrama E-R</a:t>
            </a:r>
          </a:p>
          <a:p>
            <a:pPr marL="228600" indent="-182880" algn="l">
              <a:spcAft>
                <a:spcPts val="400"/>
              </a:spcAft>
              <a:buChar char="•"/>
            </a:pPr>
            <a:r>
              <a:rPr sz="1250" b="0" i="0">
                <a:solidFill>
                  <a:srgbClr val="2E3A40"/>
                </a:solidFill>
                <a:latin typeface="Calibri"/>
              </a:rPr>
              <a:t>Un atributo es una función A: E → dom(A) que asigna a cada entidad de E un valor de su dominio.</a:t>
            </a:r>
          </a:p>
          <a:p>
            <a:pPr marL="228600" indent="-182880" algn="l">
              <a:spcAft>
                <a:spcPts val="400"/>
              </a:spcAft>
              <a:buChar char="•"/>
            </a:pPr>
            <a:r>
              <a:rPr sz="1250" b="0" i="0">
                <a:solidFill>
                  <a:srgbClr val="2E3A40"/>
                </a:solidFill>
                <a:latin typeface="Calibri"/>
              </a:rPr>
              <a:t>Cardinalidad en el diagrama: línea doble = relación 1:1; línea con flecha hacia el lado “uno” = relación 1:N; línea simple sin flecha = relación N:M.</a:t>
            </a:r>
          </a:p>
          <a:p>
            <a:pPr marL="228600" indent="-182880" algn="l">
              <a:spcAft>
                <a:spcPts val="400"/>
              </a:spcAft>
              <a:buChar char="•"/>
            </a:pPr>
            <a:r>
              <a:rPr sz="1250" b="0" i="0">
                <a:solidFill>
                  <a:srgbClr val="2E3A40"/>
                </a:solidFill>
                <a:latin typeface="Calibri"/>
              </a:rPr>
              <a:t>Superclave vs. clave candidata: {rut} es superclave de persona; {rut, nombres} también es superclave, pero no candidata, porque rut por sí solo ya identifica de forma única.</a:t>
            </a:r>
          </a:p>
        </p:txBody>
      </p:sp>
      <p:sp>
        <p:nvSpPr>
          <p:cNvPr id="8" name="TextBox 7"/>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Codd (1970), CACM 13(6); Armstrong (1974), IFIP Congress, 580-583.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25. Del caso clásico al proyecto territorial</a:t>
            </a:r>
          </a:p>
        </p:txBody>
      </p:sp>
      <p:sp>
        <p:nvSpPr>
          <p:cNvPr id="4" name="Rounded Rectangle 3"/>
          <p:cNvSpPr/>
          <p:nvPr/>
        </p:nvSpPr>
        <p:spPr>
          <a:xfrm>
            <a:off x="1325880"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508760"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08760"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7" name="TextBox 6"/>
          <p:cNvSpPr txBox="1"/>
          <p:nvPr/>
        </p:nvSpPr>
        <p:spPr>
          <a:xfrm>
            <a:off x="1984248"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Mismos conceptos</a:t>
            </a:r>
          </a:p>
        </p:txBody>
      </p:sp>
      <p:sp>
        <p:nvSpPr>
          <p:cNvPr id="8" name="TextBox 7"/>
          <p:cNvSpPr txBox="1"/>
          <p:nvPr/>
        </p:nvSpPr>
        <p:spPr>
          <a:xfrm>
            <a:off x="1508760"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Entidades, claves, dependencias y reglas funcionan igual con comunas, cuencas o establecimientos.</a:t>
            </a:r>
          </a:p>
        </p:txBody>
      </p:sp>
      <p:sp>
        <p:nvSpPr>
          <p:cNvPr id="9" name="Rounded Rectangle 8"/>
          <p:cNvSpPr/>
          <p:nvPr/>
        </p:nvSpPr>
        <p:spPr>
          <a:xfrm>
            <a:off x="6871716"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054596"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4596"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2" name="TextBox 11"/>
          <p:cNvSpPr txBox="1"/>
          <p:nvPr/>
        </p:nvSpPr>
        <p:spPr>
          <a:xfrm>
            <a:off x="7530084"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El lugar es un atributo más</a:t>
            </a:r>
          </a:p>
        </p:txBody>
      </p:sp>
      <p:sp>
        <p:nvSpPr>
          <p:cNvPr id="13" name="TextBox 12"/>
          <p:cNvSpPr txBox="1"/>
          <p:nvPr/>
        </p:nvSpPr>
        <p:spPr>
          <a:xfrm>
            <a:off x="7054596"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Comuna, dirección, latitud y longitud ya están en el caso clásico: la geometría llega en la semana 7.</a:t>
            </a:r>
          </a:p>
        </p:txBody>
      </p:sp>
      <p:sp>
        <p:nvSpPr>
          <p:cNvPr id="14" name="Rounded Rectangle 13"/>
          <p:cNvSpPr/>
          <p:nvPr/>
        </p:nvSpPr>
        <p:spPr>
          <a:xfrm>
            <a:off x="1325880"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508760"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8760"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7" name="TextBox 16"/>
          <p:cNvSpPr txBox="1"/>
          <p:nvPr/>
        </p:nvSpPr>
        <p:spPr>
          <a:xfrm>
            <a:off x="1984248"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Transferir al proyecto</a:t>
            </a:r>
          </a:p>
        </p:txBody>
      </p:sp>
      <p:sp>
        <p:nvSpPr>
          <p:cNvPr id="18" name="TextBox 17"/>
          <p:cNvSpPr txBox="1"/>
          <p:nvPr/>
        </p:nvSpPr>
        <p:spPr>
          <a:xfrm>
            <a:off x="1508760"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El hito P1 aplica este mismo método al problema territorial de cada equipo.</a:t>
            </a:r>
          </a:p>
        </p:txBody>
      </p:sp>
      <p:sp>
        <p:nvSpPr>
          <p:cNvPr id="19" name="Rounded Rectangle 18"/>
          <p:cNvSpPr/>
          <p:nvPr/>
        </p:nvSpPr>
        <p:spPr>
          <a:xfrm>
            <a:off x="6871716"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54596"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54596"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4</a:t>
            </a:r>
          </a:p>
        </p:txBody>
      </p:sp>
      <p:sp>
        <p:nvSpPr>
          <p:cNvPr id="22" name="TextBox 21"/>
          <p:cNvSpPr txBox="1"/>
          <p:nvPr/>
        </p:nvSpPr>
        <p:spPr>
          <a:xfrm>
            <a:off x="7530084"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El caso de incendios</a:t>
            </a:r>
          </a:p>
        </p:txBody>
      </p:sp>
      <p:sp>
        <p:nvSpPr>
          <p:cNvPr id="23" name="TextBox 22"/>
          <p:cNvSpPr txBox="1"/>
          <p:nvPr/>
        </p:nvSpPr>
        <p:spPr>
          <a:xfrm>
            <a:off x="7054596"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Desde la semana 8, un caso territorial ya modelado para consultar y espacializar.</a:t>
            </a:r>
          </a:p>
        </p:txBody>
      </p:sp>
      <p:sp>
        <p:nvSpPr>
          <p:cNvPr id="24" name="TextBox 23"/>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INE Chile, División Político-Administrativa y Censal (DPA) - código único territorial.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26. Para las semanas 1–5</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Tareas</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600" b="1" i="0">
                <a:solidFill>
                  <a:srgbClr val="007A7A"/>
                </a:solidFill>
                <a:latin typeface="Calibri"/>
              </a:rPr>
              <a:t>Guía U1</a:t>
            </a:r>
          </a:p>
          <a:p>
            <a:pPr marL="228600" indent="-182880" algn="l">
              <a:spcAft>
                <a:spcPts val="400"/>
              </a:spcAft>
              <a:buChar char="•"/>
            </a:pPr>
            <a:r>
              <a:rPr sz="1400" b="0" i="0">
                <a:solidFill>
                  <a:srgbClr val="2E3A40"/>
                </a:solidFill>
                <a:latin typeface="Calibri"/>
              </a:rPr>
              <a:t>Ejercicios 1.1–1.21 sobre el registro académico (★ = nivel control)</a:t>
            </a:r>
          </a:p>
          <a:p>
            <a:pPr marL="228600" indent="-182880" algn="l">
              <a:spcAft>
                <a:spcPts val="400"/>
              </a:spcAft>
              <a:buChar char="•"/>
            </a:pPr>
            <a:r>
              <a:rPr sz="1400" b="0" i="0">
                <a:solidFill>
                  <a:srgbClr val="2E3A40"/>
                </a:solidFill>
                <a:latin typeface="Calibri"/>
              </a:rPr>
              <a:t>Lab autónomo C (semana 4): esquema lógico con tipos y claves, y normalización · entrega 18 oct</a:t>
            </a:r>
          </a:p>
          <a:p>
            <a:pPr algn="l">
              <a:spcAft>
                <a:spcPts val="400"/>
              </a:spcAft>
            </a:pPr>
            <a:r>
              <a:rPr sz="1600" b="1" i="0">
                <a:solidFill>
                  <a:srgbClr val="007A7A"/>
                </a:solidFill>
                <a:latin typeface="Calibri"/>
              </a:rPr>
              <a:t>Proyecto</a:t>
            </a:r>
          </a:p>
          <a:p>
            <a:pPr marL="228600" indent="-182880" algn="l">
              <a:spcAft>
                <a:spcPts val="400"/>
              </a:spcAft>
              <a:buChar char="•"/>
            </a:pPr>
            <a:r>
              <a:rPr sz="1400" b="0" i="0">
                <a:solidFill>
                  <a:srgbClr val="2E3A40"/>
                </a:solidFill>
                <a:latin typeface="Calibri"/>
              </a:rPr>
              <a:t>Hito P0 (2 oct): ficha del caso territorial</a:t>
            </a:r>
          </a:p>
          <a:p>
            <a:pPr marL="228600" indent="-182880" algn="l">
              <a:spcAft>
                <a:spcPts val="400"/>
              </a:spcAft>
              <a:buChar char="•"/>
            </a:pPr>
            <a:r>
              <a:rPr sz="1400" b="0" i="0">
                <a:solidFill>
                  <a:srgbClr val="2E3A40"/>
                </a:solidFill>
                <a:latin typeface="Calibri"/>
              </a:rPr>
              <a:t>Hito P1 (23 oct): reglas, catálogo de entidades, ER/EER y esquema en 3FN</a:t>
            </a:r>
          </a:p>
          <a:p>
            <a:pPr algn="l">
              <a:spcAft>
                <a:spcPts val="400"/>
              </a:spcAft>
            </a:pPr>
            <a:r>
              <a:rPr sz="1600" b="1" i="0">
                <a:solidFill>
                  <a:srgbClr val="007A7A"/>
                </a:solidFill>
                <a:latin typeface="Calibri"/>
              </a:rPr>
              <a:t>Evaluación</a:t>
            </a:r>
          </a:p>
          <a:p>
            <a:pPr marL="228600" indent="-182880" algn="l">
              <a:spcAft>
                <a:spcPts val="400"/>
              </a:spcAft>
              <a:buChar char="•"/>
            </a:pPr>
            <a:r>
              <a:rPr sz="1400" b="0" i="0">
                <a:solidFill>
                  <a:srgbClr val="2E3A40"/>
                </a:solidFill>
                <a:latin typeface="Calibri"/>
              </a:rPr>
              <a:t>Control 1 (semana 5, individual): modelado y normalización</a:t>
            </a:r>
          </a:p>
          <a:p>
            <a:pPr algn="l">
              <a:spcAft>
                <a:spcPts val="400"/>
              </a:spcAft>
            </a:pPr>
            <a:r>
              <a:rPr sz="1600" b="1" i="0">
                <a:solidFill>
                  <a:srgbClr val="007A7A"/>
                </a:solidFill>
                <a:latin typeface="Calibri"/>
              </a:rPr>
              <a:t>Lecturas</a:t>
            </a:r>
          </a:p>
          <a:p>
            <a:pPr marL="228600" indent="-182880" algn="l">
              <a:spcAft>
                <a:spcPts val="400"/>
              </a:spcAft>
              <a:buChar char="•"/>
            </a:pPr>
            <a:r>
              <a:rPr sz="1400" b="0" i="0">
                <a:solidFill>
                  <a:srgbClr val="2E3A40"/>
                </a:solidFill>
                <a:latin typeface="Calibri"/>
              </a:rPr>
              <a:t>Elmasri y Navathe (2016), caps. 1–5, 9 y 14; Date (2004), caps. 5 y 9</a:t>
            </a:r>
          </a:p>
          <a:p>
            <a:pPr marL="228600" indent="-182880" algn="l">
              <a:spcAft>
                <a:spcPts val="400"/>
              </a:spcAft>
              <a:buChar char="•"/>
            </a:pPr>
            <a:r>
              <a:rPr sz="1400" b="0" i="0">
                <a:solidFill>
                  <a:srgbClr val="2E3A40"/>
                </a:solidFill>
                <a:latin typeface="Calibri"/>
              </a:rPr>
              <a:t>Codd (1970) y Chen (1976); ISO 19109 e ISO 19110 (selección)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27. Fuentes y documentación de referencia</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Fuentes</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300" b="1" i="0">
                <a:solidFill>
                  <a:srgbClr val="007A7A"/>
                </a:solidFill>
                <a:latin typeface="Calibri"/>
              </a:rPr>
              <a:t>Bibliografía académica</a:t>
            </a:r>
          </a:p>
          <a:p>
            <a:pPr marL="228600" indent="-182880" algn="l">
              <a:spcAft>
                <a:spcPts val="400"/>
              </a:spcAft>
              <a:buChar char="•"/>
            </a:pPr>
            <a:r>
              <a:rPr sz="1100" b="0" i="0">
                <a:solidFill>
                  <a:srgbClr val="2E3A40"/>
                </a:solidFill>
                <a:latin typeface="Calibri"/>
              </a:rPr>
              <a:t>Elmasri, R. y Navathe, S. B. (2016). Fundamentals of Database Systems (7.a ed.). Pearson. Caps. 1–5, 9, 14–15.</a:t>
            </a:r>
          </a:p>
          <a:p>
            <a:pPr marL="228600" indent="-182880" algn="l">
              <a:spcAft>
                <a:spcPts val="400"/>
              </a:spcAft>
              <a:buChar char="•"/>
            </a:pPr>
            <a:r>
              <a:rPr sz="1100" b="0" i="0">
                <a:solidFill>
                  <a:srgbClr val="2E3A40"/>
                </a:solidFill>
                <a:latin typeface="Calibri"/>
              </a:rPr>
              <a:t>Chen, P. P.-S. (1976). The Entity-Relationship Model. ACM Transactions on Database Systems, 1(1), 9–36.</a:t>
            </a:r>
          </a:p>
          <a:p>
            <a:pPr marL="228600" indent="-182880" algn="l">
              <a:spcAft>
                <a:spcPts val="400"/>
              </a:spcAft>
              <a:buChar char="•"/>
            </a:pPr>
            <a:r>
              <a:rPr sz="1100" b="0" i="0">
                <a:solidFill>
                  <a:srgbClr val="2E3A40"/>
                </a:solidFill>
                <a:latin typeface="Calibri"/>
              </a:rPr>
              <a:t>Codd, E. F. (1970). A Relational Model of Data for Large Shared Data Banks. Communications of the ACM, 13(6), 377–387.</a:t>
            </a:r>
          </a:p>
          <a:p>
            <a:pPr marL="228600" indent="-182880" algn="l">
              <a:spcAft>
                <a:spcPts val="400"/>
              </a:spcAft>
              <a:buChar char="•"/>
            </a:pPr>
            <a:r>
              <a:rPr sz="1100" b="0" i="0">
                <a:solidFill>
                  <a:srgbClr val="2E3A40"/>
                </a:solidFill>
                <a:latin typeface="Calibri"/>
              </a:rPr>
              <a:t>Codd, E. F. (1979). Extending the Database Relational Model to Capture More Meaning. ACM Transactions on Database Systems, 4(4), 397–434.</a:t>
            </a:r>
          </a:p>
          <a:p>
            <a:pPr marL="228600" indent="-182880" algn="l">
              <a:spcAft>
                <a:spcPts val="400"/>
              </a:spcAft>
              <a:buChar char="•"/>
            </a:pPr>
            <a:r>
              <a:rPr sz="1100" b="0" i="0">
                <a:solidFill>
                  <a:srgbClr val="2E3A40"/>
                </a:solidFill>
                <a:latin typeface="Calibri"/>
              </a:rPr>
              <a:t>Date, C. J. (2004). An Introduction to Database Systems (8.a ed.). Addison-Wesley. Caps. 5 y 9.</a:t>
            </a:r>
          </a:p>
          <a:p>
            <a:pPr marL="228600" indent="-182880" algn="l">
              <a:spcAft>
                <a:spcPts val="400"/>
              </a:spcAft>
              <a:buChar char="•"/>
            </a:pPr>
            <a:r>
              <a:rPr sz="1100" b="0" i="0">
                <a:solidFill>
                  <a:srgbClr val="2E3A40"/>
                </a:solidFill>
                <a:latin typeface="Calibri"/>
              </a:rPr>
              <a:t>Tsichritzis, D. y Klug, A. (1978). The ANSI/X3/SPARC DBMS Framework. Information Systems, 3(3), 173–191.</a:t>
            </a:r>
          </a:p>
          <a:p>
            <a:pPr algn="l">
              <a:spcAft>
                <a:spcPts val="400"/>
              </a:spcAft>
            </a:pPr>
            <a:r>
              <a:rPr sz="1300" b="1" i="0">
                <a:solidFill>
                  <a:srgbClr val="007A7A"/>
                </a:solidFill>
                <a:latin typeface="Calibri"/>
              </a:rPr>
              <a:t>Documentación técnica y literatura gris</a:t>
            </a:r>
          </a:p>
          <a:p>
            <a:pPr marL="228600" indent="-182880" algn="l">
              <a:spcAft>
                <a:spcPts val="400"/>
              </a:spcAft>
              <a:buChar char="•"/>
            </a:pPr>
            <a:r>
              <a:rPr sz="1100" b="0" i="0">
                <a:solidFill>
                  <a:srgbClr val="2E3A40"/>
                </a:solidFill>
                <a:latin typeface="Calibri"/>
              </a:rPr>
              <a:t>ANSI/X3/SPARC Study Group on Data Base Management Systems (1975). Interim Report. ACM SIGMOD FDT Bulletin, 7(2) — arquitectura de tres niveles.</a:t>
            </a:r>
          </a:p>
          <a:p>
            <a:pPr marL="228600" indent="-182880" algn="l">
              <a:spcAft>
                <a:spcPts val="400"/>
              </a:spcAft>
              <a:buChar char="•"/>
            </a:pPr>
            <a:r>
              <a:rPr sz="1100" b="0" i="0">
                <a:solidFill>
                  <a:srgbClr val="2E3A40"/>
                </a:solidFill>
                <a:latin typeface="Calibri"/>
              </a:rPr>
              <a:t>Codd, E. F. (1971, 1974). IBM Research Reports RJ909 y RJ1385 — origen de 3FN y FNBC; Armstrong, W. W. (1974), IFIP Congress — axiomas de dependencia funcional.</a:t>
            </a:r>
          </a:p>
          <a:p>
            <a:pPr marL="228600" indent="-182880" algn="l">
              <a:spcAft>
                <a:spcPts val="400"/>
              </a:spcAft>
              <a:buChar char="•"/>
            </a:pPr>
            <a:r>
              <a:rPr sz="1100" b="0" i="0">
                <a:solidFill>
                  <a:srgbClr val="2E3A40"/>
                </a:solidFill>
                <a:latin typeface="Calibri"/>
              </a:rPr>
              <a:t>ISO/IEC 11179-1:2015; DAMA-DMBOK (2017); ISO 19109:2025, ISO 19110:2016 e ISO 19152-1:2024 — diccionario, catálogo de entidades y modelado del espacio.</a:t>
            </a:r>
          </a:p>
          <a:p>
            <a:pPr marL="228600" indent="-182880" algn="l">
              <a:spcAft>
                <a:spcPts val="400"/>
              </a:spcAft>
              <a:buChar char="•"/>
            </a:pPr>
            <a:r>
              <a:rPr sz="1100" b="0" i="0">
                <a:solidFill>
                  <a:srgbClr val="2E3A40"/>
                </a:solidFill>
                <a:latin typeface="Calibri"/>
              </a:rPr>
              <a:t>ISO/IEC 9075-2:2023 (SQL/Foundation) — tipos de datos y acciones referenciales; PostgreSQL Global Development Group, PostgreSQL 16 Documentation, cap. 8 (Data Types).</a:t>
            </a:r>
          </a:p>
          <a:p>
            <a:pPr marL="228600" indent="-182880" algn="l">
              <a:spcAft>
                <a:spcPts val="400"/>
              </a:spcAft>
              <a:buChar char="•"/>
            </a:pPr>
            <a:r>
              <a:rPr sz="1100" b="0" i="0">
                <a:solidFill>
                  <a:srgbClr val="2E3A40"/>
                </a:solidFill>
                <a:latin typeface="Calibri"/>
              </a:rPr>
              <a:t>Instituto Nacional de Estadísticas de Chile, División Político-Administrativa y Censal (DPA) — código único territorial de comuna, usado en el caso.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926080" y="201168"/>
            <a:ext cx="6309360" cy="1234440"/>
          </a:xfrm>
          <a:prstGeom prst="rect">
            <a:avLst/>
          </a:prstGeom>
          <a:noFill/>
        </p:spPr>
        <p:txBody>
          <a:bodyPr wrap="square" lIns="73152" tIns="36576" rIns="73152" bIns="36576" anchor="t">
            <a:spAutoFit/>
          </a:bodyPr>
          <a:lstStyle/>
          <a:p>
            <a:pPr algn="ctr">
              <a:spcAft>
                <a:spcPts val="0"/>
              </a:spcAft>
            </a:pPr>
            <a:r>
              <a:rPr sz="1500" b="1" i="0">
                <a:solidFill>
                  <a:srgbClr val="FFFFFF"/>
                </a:solidFill>
                <a:latin typeface="Calibri"/>
              </a:rPr>
              <a:t>UNIVERSIDAD DE SANTIAGO DE CHILE</a:t>
            </a:r>
          </a:p>
          <a:p>
            <a:pPr algn="ctr">
              <a:spcAft>
                <a:spcPts val="0"/>
              </a:spcAft>
            </a:pPr>
            <a:r>
              <a:rPr sz="1500" b="1" i="0">
                <a:solidFill>
                  <a:srgbClr val="FFFFFF"/>
                </a:solidFill>
                <a:latin typeface="Calibri"/>
              </a:rPr>
              <a:t>Facultad de Ingeniería</a:t>
            </a:r>
          </a:p>
          <a:p>
            <a:pPr algn="ctr">
              <a:spcAft>
                <a:spcPts val="0"/>
              </a:spcAft>
            </a:pPr>
            <a:r>
              <a:rPr sz="1500" b="1" i="0">
                <a:solidFill>
                  <a:srgbClr val="FFFFFF"/>
                </a:solidFill>
                <a:latin typeface="Calibri"/>
              </a:rPr>
              <a:t>Departamento de Ingeniería Geoespacial y Ambiental</a:t>
            </a:r>
          </a:p>
          <a:p>
            <a:pPr algn="ctr">
              <a:spcAft>
                <a:spcPts val="0"/>
              </a:spcAft>
            </a:pPr>
            <a:r>
              <a:rPr sz="1500" b="1" i="0">
                <a:solidFill>
                  <a:srgbClr val="FFFFFF"/>
                </a:solidFill>
                <a:latin typeface="Calibri"/>
              </a:rPr>
              <a:t>Diseño de Bases de Geodatos (14504)</a:t>
            </a:r>
          </a:p>
        </p:txBody>
      </p:sp>
      <p:sp>
        <p:nvSpPr>
          <p:cNvPr id="3" name="TextBox 2"/>
          <p:cNvSpPr txBox="1"/>
          <p:nvPr/>
        </p:nvSpPr>
        <p:spPr>
          <a:xfrm>
            <a:off x="1097280" y="3401568"/>
            <a:ext cx="9966960" cy="685800"/>
          </a:xfrm>
          <a:prstGeom prst="rect">
            <a:avLst/>
          </a:prstGeom>
          <a:noFill/>
        </p:spPr>
        <p:txBody>
          <a:bodyPr wrap="square" lIns="73152" tIns="36576" rIns="73152" bIns="36576" anchor="t">
            <a:spAutoFit/>
          </a:bodyPr>
          <a:lstStyle/>
          <a:p>
            <a:pPr algn="ctr">
              <a:spcAft>
                <a:spcPts val="600"/>
              </a:spcAft>
            </a:pPr>
            <a:r>
              <a:rPr sz="3600" b="1" i="0">
                <a:solidFill>
                  <a:srgbClr val="FFFFFF"/>
                </a:solidFill>
                <a:latin typeface="Calibri"/>
              </a:rPr>
              <a:t>DISEÑO CONCEPTUAL Y LÓGICO</a:t>
            </a:r>
          </a:p>
        </p:txBody>
      </p:sp>
      <p:sp>
        <p:nvSpPr>
          <p:cNvPr id="4" name="TextBox 3"/>
          <p:cNvSpPr txBox="1"/>
          <p:nvPr/>
        </p:nvSpPr>
        <p:spPr>
          <a:xfrm>
            <a:off x="2011680" y="4069080"/>
            <a:ext cx="8138160" cy="822960"/>
          </a:xfrm>
          <a:prstGeom prst="rect">
            <a:avLst/>
          </a:prstGeom>
          <a:noFill/>
        </p:spPr>
        <p:txBody>
          <a:bodyPr wrap="square" lIns="73152" tIns="36576" rIns="73152" bIns="36576" anchor="t">
            <a:spAutoFit/>
          </a:bodyPr>
          <a:lstStyle/>
          <a:p>
            <a:pPr algn="ctr">
              <a:spcAft>
                <a:spcPts val="600"/>
              </a:spcAft>
            </a:pPr>
            <a:r>
              <a:rPr sz="1800" b="0" i="0">
                <a:solidFill>
                  <a:srgbClr val="BBEEEE"/>
                </a:solidFill>
                <a:latin typeface="Calibri"/>
              </a:rPr>
              <a:t>“Del problema al esquema relacional normalizado · caso clásico: registro académico”</a:t>
            </a:r>
          </a:p>
        </p:txBody>
      </p:sp>
      <p:sp>
        <p:nvSpPr>
          <p:cNvPr id="5" name="TextBox 4"/>
          <p:cNvSpPr txBox="1"/>
          <p:nvPr/>
        </p:nvSpPr>
        <p:spPr>
          <a:xfrm>
            <a:off x="548640" y="5349240"/>
            <a:ext cx="6400800" cy="822960"/>
          </a:xfrm>
          <a:prstGeom prst="rect">
            <a:avLst/>
          </a:prstGeom>
          <a:noFill/>
        </p:spPr>
        <p:txBody>
          <a:bodyPr wrap="square" lIns="73152" tIns="36576" rIns="73152" bIns="36576" anchor="t">
            <a:spAutoFit/>
          </a:bodyPr>
          <a:lstStyle/>
          <a:p>
            <a:pPr algn="l">
              <a:spcAft>
                <a:spcPts val="0"/>
              </a:spcAft>
            </a:pPr>
            <a:r>
              <a:rPr sz="1400" b="0" i="0">
                <a:solidFill>
                  <a:srgbClr val="BBEEEE"/>
                </a:solidFill>
                <a:latin typeface="Calibri"/>
              </a:rPr>
              <a:t>Profesor: Ignacio Yáñez Henríquez</a:t>
            </a:r>
          </a:p>
          <a:p>
            <a:pPr algn="l">
              <a:spcAft>
                <a:spcPts val="0"/>
              </a:spcAft>
            </a:pPr>
            <a:r>
              <a:rPr sz="1400" b="0" i="0">
                <a:solidFill>
                  <a:srgbClr val="BBEEEE"/>
                </a:solidFill>
                <a:latin typeface="Calibri"/>
              </a:rPr>
              <a:t>Unidad 1 · Semanas 1–5 · 21 sep – 23 oct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11. Modelo lógico: propósito de la sesión</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Sesión</a:t>
            </a:r>
          </a:p>
          <a:p>
            <a:pPr algn="ctr">
              <a:spcAft>
                <a:spcPts val="600"/>
              </a:spcAft>
            </a:pPr>
            <a:r>
              <a:rPr sz="1400" b="0" i="0">
                <a:solidFill>
                  <a:srgbClr val="FFFFFF"/>
                </a:solidFill>
                <a:latin typeface="Calibri"/>
              </a:rPr>
              <a:t>7 de octubre</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600" b="1" i="0">
                <a:solidFill>
                  <a:srgbClr val="007A7A"/>
                </a:solidFill>
                <a:latin typeface="Calibri"/>
              </a:rPr>
              <a:t>Resultados de aprendizaje</a:t>
            </a:r>
          </a:p>
          <a:p>
            <a:pPr marL="228600" indent="-182880" algn="l">
              <a:spcAft>
                <a:spcPts val="400"/>
              </a:spcAft>
              <a:buChar char="•"/>
            </a:pPr>
            <a:r>
              <a:rPr sz="1300" b="0" i="0">
                <a:solidFill>
                  <a:srgbClr val="2E3A40"/>
                </a:solidFill>
                <a:latin typeface="Calibri"/>
              </a:rPr>
              <a:t>Interpretar la razón de cardinalidad y la participación de una relación y expresarlas en notación (mín, máx).</a:t>
            </a:r>
          </a:p>
          <a:p>
            <a:pPr marL="228600" indent="-182880" algn="l">
              <a:spcAft>
                <a:spcPts val="400"/>
              </a:spcAft>
              <a:buChar char="•"/>
            </a:pPr>
            <a:r>
              <a:rPr sz="1300" b="0" i="0">
                <a:solidFill>
                  <a:srgbClr val="2E3A40"/>
                </a:solidFill>
                <a:latin typeface="Calibri"/>
              </a:rPr>
              <a:t>Aplicar el algoritmo de transformación ER → relacional para obtener un esquema lógico.</a:t>
            </a:r>
          </a:p>
          <a:p>
            <a:pPr marL="228600" indent="-182880" algn="l">
              <a:spcAft>
                <a:spcPts val="400"/>
              </a:spcAft>
              <a:buChar char="•"/>
            </a:pPr>
            <a:r>
              <a:rPr sz="1300" b="0" i="0">
                <a:solidFill>
                  <a:srgbClr val="2E3A40"/>
                </a:solidFill>
                <a:latin typeface="Calibri"/>
              </a:rPr>
              <a:t>Elegir el tipo de dato y el dominio de cada atributo, justificando la decisión con un criterio.</a:t>
            </a:r>
          </a:p>
          <a:p>
            <a:pPr marL="228600" indent="-182880" algn="l">
              <a:spcAft>
                <a:spcPts val="400"/>
              </a:spcAft>
              <a:buChar char="•"/>
            </a:pPr>
            <a:r>
              <a:rPr sz="1300" b="0" i="0">
                <a:solidFill>
                  <a:srgbClr val="2E3A40"/>
                </a:solidFill>
                <a:latin typeface="Calibri"/>
              </a:rPr>
              <a:t>Distinguir superclave, clave candidata, primaria, alternativa y foránea, y las restricciones de integridad que imponen.</a:t>
            </a:r>
          </a:p>
          <a:p>
            <a:pPr algn="l">
              <a:spcAft>
                <a:spcPts val="400"/>
              </a:spcAft>
            </a:pPr>
            <a:r>
              <a:rPr sz="1600" b="1" i="0">
                <a:solidFill>
                  <a:srgbClr val="007A7A"/>
                </a:solidFill>
                <a:latin typeface="Calibri"/>
              </a:rPr>
              <a:t>Pregunta de entrada (individual, 2 min)</a:t>
            </a:r>
          </a:p>
          <a:p>
            <a:pPr marL="228600" indent="-182880" algn="l">
              <a:spcAft>
                <a:spcPts val="400"/>
              </a:spcAft>
              <a:buChar char="•"/>
            </a:pPr>
            <a:r>
              <a:rPr sz="1300" b="0" i="0">
                <a:solidFill>
                  <a:srgbClr val="2E3A40"/>
                </a:solidFill>
                <a:latin typeface="Calibri"/>
              </a:rPr>
              <a:t>En una planilla, la carrera de cada estudiante se escribe a mano. ¿Qué tendría que conocer el sistema para rechazar una carrera que no existe? Anote su respuesta: se retoma al estudiar la clave foránea.</a:t>
            </a:r>
          </a:p>
          <a:p>
            <a:pPr algn="l">
              <a:spcAft>
                <a:spcPts val="400"/>
              </a:spcAft>
            </a:pPr>
            <a:r>
              <a:rPr sz="1600" b="1" i="0">
                <a:solidFill>
                  <a:srgbClr val="007A7A"/>
                </a:solidFill>
                <a:latin typeface="Calibri"/>
              </a:rPr>
              <a:t>Lectura base</a:t>
            </a:r>
          </a:p>
          <a:p>
            <a:pPr marL="228600" indent="-182880" algn="l">
              <a:spcAft>
                <a:spcPts val="400"/>
              </a:spcAft>
              <a:buChar char="•"/>
            </a:pPr>
            <a:r>
              <a:rPr sz="1300" b="0" i="0">
                <a:solidFill>
                  <a:srgbClr val="2E3A40"/>
                </a:solidFill>
                <a:latin typeface="Calibri"/>
              </a:rPr>
              <a:t>Elmasri y Navathe (2016), caps. 3, 5 y 9 · Codd (1970) · Date (2004), caps. 5 y 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12. El modelo relacional: definiciones de Codd (1970)</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Fundamento</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600" b="1" i="0">
                <a:solidFill>
                  <a:srgbClr val="007A7A"/>
                </a:solidFill>
                <a:latin typeface="Calibri"/>
              </a:rPr>
              <a:t>Dominio</a:t>
            </a:r>
          </a:p>
          <a:p>
            <a:pPr marL="228600" indent="-182880" algn="l">
              <a:spcAft>
                <a:spcPts val="400"/>
              </a:spcAft>
              <a:buChar char="•"/>
            </a:pPr>
            <a:r>
              <a:rPr sz="1300" b="0" i="0">
                <a:solidFill>
                  <a:srgbClr val="2E3A40"/>
                </a:solidFill>
                <a:latin typeface="Calibri"/>
              </a:rPr>
              <a:t>Conjunto de valores atómicos admisibles para un atributo, con un tipo de dato y un formato. Ejemplo: dom(nota) = {1,0; 1,1; …; 7,0}.</a:t>
            </a:r>
          </a:p>
          <a:p>
            <a:pPr algn="l">
              <a:spcAft>
                <a:spcPts val="400"/>
              </a:spcAft>
            </a:pPr>
            <a:r>
              <a:rPr sz="1600" b="1" i="0">
                <a:solidFill>
                  <a:srgbClr val="007A7A"/>
                </a:solidFill>
                <a:latin typeface="Calibri"/>
              </a:rPr>
              <a:t>Esquema de relación</a:t>
            </a:r>
          </a:p>
          <a:p>
            <a:pPr marL="228600" indent="-182880" algn="l">
              <a:spcAft>
                <a:spcPts val="400"/>
              </a:spcAft>
              <a:buChar char="•"/>
            </a:pPr>
            <a:r>
              <a:rPr sz="1300" b="0" i="0">
                <a:solidFill>
                  <a:srgbClr val="2E3A40"/>
                </a:solidFill>
                <a:latin typeface="Calibri"/>
              </a:rPr>
              <a:t>R(A1, A2, …, An): nombre de la relación y lista de atributos, cada uno definido sobre un dominio dom(Ai). El número de atributos n es el grado de R.</a:t>
            </a:r>
          </a:p>
          <a:p>
            <a:pPr algn="l">
              <a:spcAft>
                <a:spcPts val="400"/>
              </a:spcAft>
            </a:pPr>
            <a:r>
              <a:rPr sz="1600" b="1" i="0">
                <a:solidFill>
                  <a:srgbClr val="007A7A"/>
                </a:solidFill>
                <a:latin typeface="Calibri"/>
              </a:rPr>
              <a:t>Relación (estado o extensión)</a:t>
            </a:r>
          </a:p>
          <a:p>
            <a:pPr marL="228600" indent="-182880" algn="l">
              <a:spcAft>
                <a:spcPts val="400"/>
              </a:spcAft>
              <a:buChar char="•"/>
            </a:pPr>
            <a:r>
              <a:rPr sz="1300" b="0" i="0">
                <a:solidFill>
                  <a:srgbClr val="2E3A40"/>
                </a:solidFill>
                <a:latin typeface="Calibri"/>
              </a:rPr>
              <a:t>Conjunto de tuplas r(R) ⊆ dom(A1) × dom(A2) × … × dom(An). Por ser un conjunto, no admite tuplas repetidas ni supone un orden entre ellas.</a:t>
            </a:r>
          </a:p>
          <a:p>
            <a:pPr algn="l">
              <a:spcAft>
                <a:spcPts val="400"/>
              </a:spcAft>
            </a:pPr>
            <a:r>
              <a:rPr sz="1600" b="1" i="0">
                <a:solidFill>
                  <a:srgbClr val="007A7A"/>
                </a:solidFill>
                <a:latin typeface="Calibri"/>
              </a:rPr>
              <a:t>Atención: dos usos de la palabra «cardinalidad»</a:t>
            </a:r>
          </a:p>
          <a:p>
            <a:pPr marL="228600" indent="-182880" algn="l">
              <a:spcAft>
                <a:spcPts val="400"/>
              </a:spcAft>
              <a:buChar char="•"/>
            </a:pPr>
            <a:r>
              <a:rPr sz="1300" b="0" i="0">
                <a:solidFill>
                  <a:srgbClr val="2E3A40"/>
                </a:solidFill>
                <a:latin typeface="Calibri"/>
              </a:rPr>
              <a:t>En el modelo relacional, la cardinalidad de una relación es su número de tuplas. En el modelo ER, la razón de cardinalidad indica con cuántas entidades se asocia cada entidad. Son conceptos distintos con el mismo nombre.</a:t>
            </a:r>
          </a:p>
        </p:txBody>
      </p:sp>
      <p:sp>
        <p:nvSpPr>
          <p:cNvPr id="5" name="TextBox 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Codd (1970), Communications of the ACM, 13(6), 377–387; Elmasri y Navathe (2016), cap.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13. Restricciones estructurales: cardinalidad y participación</a:t>
            </a:r>
          </a:p>
        </p:txBody>
      </p:sp>
      <p:sp>
        <p:nvSpPr>
          <p:cNvPr id="4" name="Rectangle 3"/>
          <p:cNvSpPr/>
          <p:nvPr/>
        </p:nvSpPr>
        <p:spPr>
          <a:xfrm>
            <a:off x="1325880" y="1417320"/>
            <a:ext cx="5312664" cy="54864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Conceptos</a:t>
            </a:r>
          </a:p>
        </p:txBody>
      </p:sp>
      <p:sp>
        <p:nvSpPr>
          <p:cNvPr id="6" name="Rectangle 5"/>
          <p:cNvSpPr/>
          <p:nvPr/>
        </p:nvSpPr>
        <p:spPr>
          <a:xfrm>
            <a:off x="1325880"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103120"/>
            <a:ext cx="4937760" cy="3749039"/>
          </a:xfrm>
          <a:prstGeom prst="rect">
            <a:avLst/>
          </a:prstGeom>
          <a:noFill/>
        </p:spPr>
        <p:txBody>
          <a:bodyPr wrap="square" lIns="73152" tIns="36576" rIns="73152" bIns="36576" anchor="t">
            <a:spAutoFit/>
          </a:bodyPr>
          <a:lstStyle/>
          <a:p>
            <a:pPr marL="228600" indent="-182880" algn="l">
              <a:spcAft>
                <a:spcPts val="400"/>
              </a:spcAft>
              <a:buChar char="•"/>
            </a:pPr>
            <a:r>
              <a:rPr sz="1300" b="1" i="0">
                <a:solidFill>
                  <a:srgbClr val="2E3A40"/>
                </a:solidFill>
                <a:latin typeface="Calibri"/>
              </a:rPr>
              <a:t>Razón de cardinalidad: </a:t>
            </a:r>
            <a:r>
              <a:rPr sz="1300" b="0" i="0">
                <a:solidFill>
                  <a:srgbClr val="2E3A40"/>
                </a:solidFill>
                <a:latin typeface="Calibri"/>
              </a:rPr>
              <a:t>número máximo de instancias de relación en que puede participar una entidad (1:1, 1:N, M:N).</a:t>
            </a:r>
          </a:p>
          <a:p>
            <a:pPr marL="228600" indent="-182880" algn="l">
              <a:spcAft>
                <a:spcPts val="400"/>
              </a:spcAft>
              <a:buChar char="•"/>
            </a:pPr>
            <a:r>
              <a:rPr sz="1300" b="1" i="0">
                <a:solidFill>
                  <a:srgbClr val="2E3A40"/>
                </a:solidFill>
                <a:latin typeface="Calibri"/>
              </a:rPr>
              <a:t>Participación: </a:t>
            </a:r>
            <a:r>
              <a:rPr sz="1300" b="0" i="0">
                <a:solidFill>
                  <a:srgbClr val="2E3A40"/>
                </a:solidFill>
                <a:latin typeface="Calibri"/>
              </a:rPr>
              <a:t>total si toda entidad debe participar (dependencia de existencia); parcial si puede no hacerlo.</a:t>
            </a:r>
          </a:p>
          <a:p>
            <a:pPr marL="228600" indent="-182880" algn="l">
              <a:spcAft>
                <a:spcPts val="400"/>
              </a:spcAft>
              <a:buChar char="•"/>
            </a:pPr>
            <a:r>
              <a:rPr sz="1300" b="1" i="0">
                <a:solidFill>
                  <a:srgbClr val="2E3A40"/>
                </a:solidFill>
                <a:latin typeface="Calibri"/>
              </a:rPr>
              <a:t>Notación (mín, máx): </a:t>
            </a:r>
            <a:r>
              <a:rPr sz="1300" b="0" i="0">
                <a:solidFill>
                  <a:srgbClr val="2E3A40"/>
                </a:solidFill>
                <a:latin typeface="Calibri"/>
              </a:rPr>
              <a:t>para cada entidad en la relación, 0 ≤ mín ≤ máx y máx ≥ 1. mín = 0 indica participación parcial; mín ≥ 1, total.</a:t>
            </a:r>
          </a:p>
          <a:p>
            <a:pPr marL="228600" indent="-182880" algn="l">
              <a:spcAft>
                <a:spcPts val="400"/>
              </a:spcAft>
              <a:buChar char="•"/>
            </a:pPr>
            <a:r>
              <a:rPr sz="1300" b="1" i="0">
                <a:solidFill>
                  <a:srgbClr val="2E3A40"/>
                </a:solidFill>
                <a:latin typeface="Calibri"/>
              </a:rPr>
              <a:t>Lectura de diagramas: </a:t>
            </a:r>
            <a:r>
              <a:rPr sz="1300" b="0" i="0">
                <a:solidFill>
                  <a:srgbClr val="2E3A40"/>
                </a:solidFill>
                <a:latin typeface="Calibri"/>
              </a:rPr>
              <a:t>según la notación, el par se escribe junto a la entidad que participa (Elmasri y Navathe) o en el extremo opuesto (pata de gallo). Verifique la convención antes de leer.</a:t>
            </a:r>
          </a:p>
        </p:txBody>
      </p:sp>
      <p:sp>
        <p:nvSpPr>
          <p:cNvPr id="8" name="Rectangle 7"/>
          <p:cNvSpPr/>
          <p:nvPr/>
        </p:nvSpPr>
        <p:spPr>
          <a:xfrm>
            <a:off x="6876288" y="1417320"/>
            <a:ext cx="5312664" cy="548640"/>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Lectura en el caso (notación de Elmasri y Navathe)</a:t>
            </a:r>
          </a:p>
        </p:txBody>
      </p:sp>
      <p:sp>
        <p:nvSpPr>
          <p:cNvPr id="10" name="Rectangle 9"/>
          <p:cNvSpPr/>
          <p:nvPr/>
        </p:nvSpPr>
        <p:spPr>
          <a:xfrm>
            <a:off x="6876288"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2103120"/>
            <a:ext cx="4937760" cy="3749039"/>
          </a:xfrm>
          <a:prstGeom prst="rect">
            <a:avLst/>
          </a:prstGeom>
          <a:noFill/>
        </p:spPr>
        <p:txBody>
          <a:bodyPr wrap="square" lIns="73152" tIns="36576" rIns="73152" bIns="36576" anchor="t">
            <a:spAutoFit/>
          </a:bodyPr>
          <a:lstStyle/>
          <a:p>
            <a:pPr marL="228600" indent="-182880" algn="l">
              <a:spcAft>
                <a:spcPts val="400"/>
              </a:spcAft>
              <a:buChar char="•"/>
            </a:pPr>
            <a:r>
              <a:rPr sz="1300" b="0" i="0">
                <a:solidFill>
                  <a:srgbClr val="2E3A40"/>
                </a:solidFill>
                <a:latin typeface="Calibri"/>
              </a:rPr>
              <a:t>ESTUDIANTE (1,1) — PERTENECE — (0,N) CARRERA: cada estudiante en exactamente una carrera; una carrera puede no tener estudiantes. Razón 1:N.</a:t>
            </a:r>
          </a:p>
          <a:p>
            <a:pPr marL="228600" indent="-182880" algn="l">
              <a:spcAft>
                <a:spcPts val="400"/>
              </a:spcAft>
              <a:buChar char="•"/>
            </a:pPr>
            <a:r>
              <a:rPr sz="1300" b="0" i="0">
                <a:solidFill>
                  <a:srgbClr val="2E3A40"/>
                </a:solidFill>
                <a:latin typeface="Calibri"/>
              </a:rPr>
              <a:t>PERSONA (0,1) — RESIDE — (1,1) DOMICILIO: razón 1:1, participación total del domicilio.</a:t>
            </a:r>
          </a:p>
          <a:p>
            <a:pPr marL="228600" indent="-182880" algn="l">
              <a:spcAft>
                <a:spcPts val="400"/>
              </a:spcAft>
              <a:buChar char="•"/>
            </a:pPr>
            <a:r>
              <a:rPr sz="1300" b="0" i="0">
                <a:solidFill>
                  <a:srgbClr val="2E3A40"/>
                </a:solidFill>
                <a:latin typeface="Calibri"/>
              </a:rPr>
              <a:t>ESTUDIANTE (0,N) — INSCRIBE — (0,N) SECCIÓN: razón M:N con atributos (nota, estado).</a:t>
            </a:r>
          </a:p>
          <a:p>
            <a:pPr marL="228600" indent="-182880" algn="l">
              <a:spcAft>
                <a:spcPts val="400"/>
              </a:spcAft>
              <a:buChar char="•"/>
            </a:pPr>
            <a:r>
              <a:rPr sz="1300" b="0" i="0">
                <a:solidFill>
                  <a:srgbClr val="2E3A40"/>
                </a:solidFill>
                <a:latin typeface="Calibri"/>
              </a:rPr>
              <a:t>ASIGNATURA (0,N) — EXIGE — (0,N) ASIGNATURA: relación recursiva M:N con los roles «exige» y «es exigida».</a:t>
            </a:r>
          </a:p>
        </p:txBody>
      </p:sp>
      <p:sp>
        <p:nvSpPr>
          <p:cNvPr id="12" name="TextBox 1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Chen (1976), ACM Transactions on Database Systems, 1(1), 9–36; Elmasri y Navathe (2016), cap.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15. Ejemplo resuelto: INSCRIBE, relación M:N con atributos</a:t>
            </a:r>
          </a:p>
        </p:txBody>
      </p:sp>
      <p:sp>
        <p:nvSpPr>
          <p:cNvPr id="4" name="Rectangle 3"/>
          <p:cNvSpPr/>
          <p:nvPr/>
        </p:nvSpPr>
        <p:spPr>
          <a:xfrm>
            <a:off x="1325880" y="1417320"/>
            <a:ext cx="5312664" cy="54864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Paso a paso</a:t>
            </a:r>
          </a:p>
        </p:txBody>
      </p:sp>
      <p:sp>
        <p:nvSpPr>
          <p:cNvPr id="6" name="Rectangle 5"/>
          <p:cNvSpPr/>
          <p:nvPr/>
        </p:nvSpPr>
        <p:spPr>
          <a:xfrm>
            <a:off x="1325880"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103120"/>
            <a:ext cx="4937760" cy="3749039"/>
          </a:xfrm>
          <a:prstGeom prst="rect">
            <a:avLst/>
          </a:prstGeom>
          <a:noFill/>
        </p:spPr>
        <p:txBody>
          <a:bodyPr wrap="square" lIns="73152" tIns="36576" rIns="73152" bIns="36576" anchor="t">
            <a:spAutoFit/>
          </a:bodyPr>
          <a:lstStyle/>
          <a:p>
            <a:pPr marL="228600" indent="-182880" algn="l">
              <a:spcAft>
                <a:spcPts val="400"/>
              </a:spcAft>
              <a:buChar char="•"/>
            </a:pPr>
            <a:r>
              <a:rPr sz="1300" b="0" i="0">
                <a:solidFill>
                  <a:srgbClr val="2E3A40"/>
                </a:solidFill>
                <a:latin typeface="Calibri"/>
              </a:rPr>
              <a:t>1. Identificar: ESTUDIANTE (0,N) — INSCRIBE — (0,N) SECCIÓN. Razón M:N → paso 5.</a:t>
            </a:r>
          </a:p>
          <a:p>
            <a:pPr marL="228600" indent="-182880" algn="l">
              <a:spcAft>
                <a:spcPts val="400"/>
              </a:spcAft>
              <a:buChar char="•"/>
            </a:pPr>
            <a:r>
              <a:rPr sz="1300" b="0" i="0">
                <a:solidFill>
                  <a:srgbClr val="2E3A40"/>
                </a:solidFill>
                <a:latin typeface="Calibri"/>
              </a:rPr>
              <a:t>2. Crear la tabla con una FK por entidad: rut_estudiante → estudiante; (cod_asig, periodo, num_seccion) → seccion, compuesta porque la PK de la entidad débil lo es (paso 2).</a:t>
            </a:r>
          </a:p>
          <a:p>
            <a:pPr marL="228600" indent="-182880" algn="l">
              <a:spcAft>
                <a:spcPts val="400"/>
              </a:spcAft>
              <a:buChar char="•"/>
            </a:pPr>
            <a:r>
              <a:rPr sz="1300" b="0" i="0">
                <a:solidFill>
                  <a:srgbClr val="2E3A40"/>
                </a:solidFill>
                <a:latin typeface="Calibri"/>
              </a:rPr>
              <a:t>3. Llevar a la tabla los atributos de la relación: nota, estado, fecha_inscripcion.</a:t>
            </a:r>
          </a:p>
          <a:p>
            <a:pPr marL="228600" indent="-182880" algn="l">
              <a:spcAft>
                <a:spcPts val="400"/>
              </a:spcAft>
              <a:buChar char="•"/>
            </a:pPr>
            <a:r>
              <a:rPr sz="1300" b="0" i="0">
                <a:solidFill>
                  <a:srgbClr val="2E3A40"/>
                </a:solidFill>
                <a:latin typeface="Calibri"/>
              </a:rPr>
              <a:t>4. Elegir la PK desde las reglas de negocio: RN-03 («una sección por asignatura y período») → (rut_estudiante, cod_asig, periodo).</a:t>
            </a:r>
          </a:p>
          <a:p>
            <a:pPr marL="228600" indent="-182880" algn="l">
              <a:spcAft>
                <a:spcPts val="400"/>
              </a:spcAft>
              <a:buChar char="•"/>
            </a:pPr>
            <a:r>
              <a:rPr sz="1300" b="0" i="0">
                <a:solidFill>
                  <a:srgbClr val="2E3A40"/>
                </a:solidFill>
                <a:latin typeface="Calibri"/>
              </a:rPr>
              <a:t>5. Asignar tipo, dominio y obligatoriedad: la nota admite NULL mientras la asignatura está en curso.</a:t>
            </a:r>
          </a:p>
        </p:txBody>
      </p:sp>
      <p:sp>
        <p:nvSpPr>
          <p:cNvPr id="8" name="Rectangle 7"/>
          <p:cNvSpPr/>
          <p:nvPr/>
        </p:nvSpPr>
        <p:spPr>
          <a:xfrm>
            <a:off x="6876288" y="1417320"/>
            <a:ext cx="5312664" cy="548640"/>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Resultado: esquema lógico</a:t>
            </a:r>
          </a:p>
        </p:txBody>
      </p:sp>
      <p:sp>
        <p:nvSpPr>
          <p:cNvPr id="10" name="Rectangle 9"/>
          <p:cNvSpPr/>
          <p:nvPr/>
        </p:nvSpPr>
        <p:spPr>
          <a:xfrm>
            <a:off x="6876288"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2103120"/>
            <a:ext cx="4937760" cy="3749039"/>
          </a:xfrm>
          <a:prstGeom prst="rect">
            <a:avLst/>
          </a:prstGeom>
          <a:noFill/>
        </p:spPr>
        <p:txBody>
          <a:bodyPr wrap="square" lIns="73152" tIns="36576" rIns="73152" bIns="36576" anchor="t">
            <a:spAutoFit/>
          </a:bodyPr>
          <a:lstStyle/>
          <a:p>
            <a:pPr marL="0" indent="0" algn="l">
              <a:spcAft>
                <a:spcPts val="0"/>
              </a:spcAft>
            </a:pPr>
            <a:r>
              <a:rPr sz="1200" b="0" i="0">
                <a:solidFill>
                  <a:srgbClr val="2E3A40"/>
                </a:solidFill>
                <a:latin typeface="Consolas"/>
              </a:rPr>
              <a:t>inscripcion (</a:t>
            </a:r>
          </a:p>
          <a:p>
            <a:pPr marL="0" indent="0" algn="l">
              <a:spcAft>
                <a:spcPts val="0"/>
              </a:spcAft>
            </a:pPr>
            <a:r>
              <a:rPr sz="1200" b="0" i="0">
                <a:solidFill>
                  <a:srgbClr val="2E3A40"/>
                </a:solidFill>
                <a:latin typeface="Consolas"/>
              </a:rPr>
              <a:t>  rut_estudiante    d_rut        PK  FK→estudiante</a:t>
            </a:r>
          </a:p>
          <a:p>
            <a:pPr marL="0" indent="0" algn="l">
              <a:spcAft>
                <a:spcPts val="0"/>
              </a:spcAft>
            </a:pPr>
            <a:r>
              <a:rPr sz="1200" b="0" i="0">
                <a:solidFill>
                  <a:srgbClr val="2E3A40"/>
                </a:solidFill>
                <a:latin typeface="Consolas"/>
              </a:rPr>
              <a:t>  cod_asig          varchar(6)   PK  FK→seccion</a:t>
            </a:r>
          </a:p>
          <a:p>
            <a:pPr marL="0" indent="0" algn="l">
              <a:spcAft>
                <a:spcPts val="0"/>
              </a:spcAft>
            </a:pPr>
            <a:r>
              <a:rPr sz="1200" b="0" i="0">
                <a:solidFill>
                  <a:srgbClr val="2E3A40"/>
                </a:solidFill>
                <a:latin typeface="Consolas"/>
              </a:rPr>
              <a:t>  periodo           d_periodo    PK  FK→seccion</a:t>
            </a:r>
          </a:p>
          <a:p>
            <a:pPr marL="0" indent="0" algn="l">
              <a:spcAft>
                <a:spcPts val="0"/>
              </a:spcAft>
            </a:pPr>
            <a:r>
              <a:rPr sz="1200" b="0" i="0">
                <a:solidFill>
                  <a:srgbClr val="2E3A40"/>
                </a:solidFill>
                <a:latin typeface="Consolas"/>
              </a:rPr>
              <a:t>  num_seccion       smallint         FK→seccion</a:t>
            </a:r>
          </a:p>
          <a:p>
            <a:pPr marL="0" indent="0" algn="l">
              <a:spcAft>
                <a:spcPts val="0"/>
              </a:spcAft>
            </a:pPr>
            <a:r>
              <a:rPr sz="1200" b="0" i="0">
                <a:solidFill>
                  <a:srgbClr val="2E3A40"/>
                </a:solidFill>
                <a:latin typeface="Consolas"/>
              </a:rPr>
              <a:t>  fecha_inscripcion date         NOT NULL</a:t>
            </a:r>
          </a:p>
          <a:p>
            <a:pPr marL="0" indent="0" algn="l">
              <a:spcAft>
                <a:spcPts val="0"/>
              </a:spcAft>
            </a:pPr>
            <a:r>
              <a:rPr sz="1200" b="0" i="0">
                <a:solidFill>
                  <a:srgbClr val="2E3A40"/>
                </a:solidFill>
                <a:latin typeface="Consolas"/>
              </a:rPr>
              <a:t>  nota              d_nota       NULL</a:t>
            </a:r>
          </a:p>
          <a:p>
            <a:pPr marL="0" indent="0" algn="l">
              <a:spcAft>
                <a:spcPts val="0"/>
              </a:spcAft>
            </a:pPr>
            <a:r>
              <a:rPr sz="1200" b="0" i="0">
                <a:solidFill>
                  <a:srgbClr val="2E3A40"/>
                </a:solidFill>
                <a:latin typeface="Consolas"/>
              </a:rPr>
              <a:t>  estado            varchar(10)  NOT NULL</a:t>
            </a:r>
          </a:p>
          <a:p>
            <a:pPr marL="0" indent="0" algn="l">
              <a:spcAft>
                <a:spcPts val="0"/>
              </a:spcAft>
            </a:pPr>
            <a:r>
              <a:rPr sz="1200" b="0" i="0">
                <a:solidFill>
                  <a:srgbClr val="2E3A40"/>
                </a:solidFill>
                <a:latin typeface="Consolas"/>
              </a:rPr>
              <a:t>)</a:t>
            </a:r>
          </a:p>
        </p:txBody>
      </p:sp>
      <p:sp>
        <p:nvSpPr>
          <p:cNvPr id="12" name="TextBox 1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Elmasri y Navathe (2016), cap. 9, paso 5; esquema del caso en Laboratorio/sql/01_caso_academico/a01_esquema.sql.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16. Dominios y tipos de datos</a:t>
            </a:r>
          </a:p>
        </p:txBody>
      </p:sp>
      <p:sp>
        <p:nvSpPr>
          <p:cNvPr id="5" name="TextBox 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Date (2004), cap. 5; ISO/IEC 9075-2:2023 (SQL/Foundation); PostgreSQL 16 Documentation, cap. 8; ISO 19125-2:2004.</a:t>
            </a:r>
          </a:p>
        </p:txBody>
      </p:sp>
      <p:sp>
        <p:nvSpPr>
          <p:cNvPr id="7" name="TextBox 6"/>
          <p:cNvSpPr txBox="1"/>
          <p:nvPr/>
        </p:nvSpPr>
        <p:spPr>
          <a:xfrm>
            <a:off x="1325880" y="1325880"/>
            <a:ext cx="10863072" cy="548640"/>
          </a:xfrm>
          <a:prstGeom prst="rect">
            <a:avLst/>
          </a:prstGeom>
          <a:noFill/>
        </p:spPr>
        <p:txBody>
          <a:bodyPr wrap="square">
            <a:spAutoFit/>
          </a:bodyPr>
          <a:lstStyle/>
          <a:p>
            <a:r>
              <a:rPr sz="1500">
                <a:solidFill>
                  <a:srgbClr val="2E3A40"/>
                </a:solidFill>
                <a:latin typeface="Calibri"/>
              </a:rPr>
              <a:t>Un dominio es un tipo de dato más las restricciones sobre sus valores (Date, 2004). El estándar SQL define familias de tipos con semánticas distintas.</a:t>
            </a:r>
          </a:p>
        </p:txBody>
      </p:sp>
      <p:graphicFrame>
        <p:nvGraphicFramePr>
          <p:cNvPr id="8" name="Table 7"/>
          <p:cNvGraphicFramePr>
            <a:graphicFrameLocks noGrp="1"/>
          </p:cNvGraphicFramePr>
          <p:nvPr/>
        </p:nvGraphicFramePr>
        <p:xfrm>
          <a:off x="1325880" y="1965960"/>
          <a:ext cx="10863070" cy="3383280"/>
        </p:xfrm>
        <a:graphic>
          <a:graphicData uri="http://schemas.openxmlformats.org/drawingml/2006/table">
            <a:tbl>
              <a:tblPr firstRow="1" bandRow="1">
                <a:tableStyleId>{5C22544A-7EE6-4342-B048-85BDC9FD1C3A}</a:tableStyleId>
              </a:tblPr>
              <a:tblGrid>
                <a:gridCol w="2250000"/>
                <a:gridCol w="3700000"/>
                <a:gridCol w="2400000"/>
                <a:gridCol w="2513070"/>
              </a:tblGrid>
              <a:tr h="274320">
                <a:tc>
                  <a:txBody>
                    <a:bodyPr/>
                    <a:lstStyle/>
                    <a:p>
                      <a:r>
                        <a:rPr sz="1300" b="1">
                          <a:solidFill>
                            <a:srgbClr val="FFFFFF"/>
                          </a:solidFill>
                          <a:latin typeface="Calibri"/>
                        </a:rPr>
                        <a:t>Familia (SQL)</a:t>
                      </a:r>
                    </a:p>
                  </a:txBody>
                  <a:tcPr marL="73152" marR="73152" marT="36576" marB="36576">
                    <a:solidFill>
                      <a:srgbClr val="007A7A"/>
                    </a:solidFill>
                  </a:tcPr>
                </a:tc>
                <a:tc>
                  <a:txBody>
                    <a:bodyPr/>
                    <a:lstStyle/>
                    <a:p>
                      <a:r>
                        <a:rPr sz="1300" b="1">
                          <a:solidFill>
                            <a:srgbClr val="FFFFFF"/>
                          </a:solidFill>
                          <a:latin typeface="Calibri"/>
                        </a:rPr>
                        <a:t>Semántica</a:t>
                      </a:r>
                    </a:p>
                  </a:txBody>
                  <a:tcPr marL="73152" marR="73152" marT="36576" marB="36576">
                    <a:solidFill>
                      <a:srgbClr val="007A7A"/>
                    </a:solidFill>
                  </a:tcPr>
                </a:tc>
                <a:tc>
                  <a:txBody>
                    <a:bodyPr/>
                    <a:lstStyle/>
                    <a:p>
                      <a:r>
                        <a:rPr sz="1300" b="1">
                          <a:solidFill>
                            <a:srgbClr val="FFFFFF"/>
                          </a:solidFill>
                          <a:latin typeface="Calibri"/>
                        </a:rPr>
                        <a:t>Tipos en PostgreSQL</a:t>
                      </a:r>
                    </a:p>
                  </a:txBody>
                  <a:tcPr marL="73152" marR="73152" marT="36576" marB="36576">
                    <a:solidFill>
                      <a:srgbClr val="007A7A"/>
                    </a:solidFill>
                  </a:tcPr>
                </a:tc>
                <a:tc>
                  <a:txBody>
                    <a:bodyPr/>
                    <a:lstStyle/>
                    <a:p>
                      <a:r>
                        <a:rPr sz="1300" b="1">
                          <a:solidFill>
                            <a:srgbClr val="FFFFFF"/>
                          </a:solidFill>
                          <a:latin typeface="Calibri"/>
                        </a:rPr>
                        <a:t>En el caso</a:t>
                      </a:r>
                    </a:p>
                  </a:txBody>
                  <a:tcPr marL="73152" marR="73152" marT="36576" marB="36576">
                    <a:solidFill>
                      <a:srgbClr val="007A7A"/>
                    </a:solidFill>
                  </a:tcPr>
                </a:tc>
              </a:tr>
              <a:tr h="457200">
                <a:tc>
                  <a:txBody>
                    <a:bodyPr/>
                    <a:lstStyle/>
                    <a:p>
                      <a:r>
                        <a:rPr sz="1200" b="0">
                          <a:solidFill>
                            <a:srgbClr val="2E3A40"/>
                          </a:solidFill>
                          <a:latin typeface="Calibri"/>
                        </a:rPr>
                        <a:t>Numérico exacto</a:t>
                      </a:r>
                    </a:p>
                  </a:txBody>
                  <a:tcPr marL="73152" marR="73152" marT="36576" marB="36576">
                    <a:solidFill>
                      <a:srgbClr val="FFFFFF"/>
                    </a:solidFill>
                  </a:tcPr>
                </a:tc>
                <a:tc>
                  <a:txBody>
                    <a:bodyPr/>
                    <a:lstStyle/>
                    <a:p>
                      <a:r>
                        <a:rPr sz="1200" b="0">
                          <a:solidFill>
                            <a:srgbClr val="2E3A40"/>
                          </a:solidFill>
                          <a:latin typeface="Calibri"/>
                        </a:rPr>
                        <a:t>Precisión p y escala s fijas; aritmética sin error de redondeo</a:t>
                      </a:r>
                    </a:p>
                  </a:txBody>
                  <a:tcPr marL="73152" marR="73152" marT="36576" marB="36576">
                    <a:solidFill>
                      <a:srgbClr val="FFFFFF"/>
                    </a:solidFill>
                  </a:tcPr>
                </a:tc>
                <a:tc>
                  <a:txBody>
                    <a:bodyPr/>
                    <a:lstStyle/>
                    <a:p>
                      <a:r>
                        <a:rPr sz="1200" b="0">
                          <a:solidFill>
                            <a:srgbClr val="2E3A40"/>
                          </a:solidFill>
                          <a:latin typeface="Calibri"/>
                        </a:rPr>
                        <a:t>smallint, integer, numeric(p,s)</a:t>
                      </a:r>
                    </a:p>
                  </a:txBody>
                  <a:tcPr marL="73152" marR="73152" marT="36576" marB="36576">
                    <a:solidFill>
                      <a:srgbClr val="FFFFFF"/>
                    </a:solidFill>
                  </a:tcPr>
                </a:tc>
                <a:tc>
                  <a:txBody>
                    <a:bodyPr/>
                    <a:lstStyle/>
                    <a:p>
                      <a:r>
                        <a:rPr sz="1200" b="0">
                          <a:solidFill>
                            <a:srgbClr val="2E3A40"/>
                          </a:solidFill>
                          <a:latin typeface="Calibri"/>
                        </a:rPr>
                        <a:t>creditos smallint · nota numeric(2,1)</a:t>
                      </a:r>
                    </a:p>
                  </a:txBody>
                  <a:tcPr marL="73152" marR="73152" marT="36576" marB="36576">
                    <a:solidFill>
                      <a:srgbClr val="FFFFFF"/>
                    </a:solidFill>
                  </a:tcPr>
                </a:tc>
              </a:tr>
              <a:tr h="640080">
                <a:tc>
                  <a:txBody>
                    <a:bodyPr/>
                    <a:lstStyle/>
                    <a:p>
                      <a:r>
                        <a:rPr sz="1200" b="0">
                          <a:solidFill>
                            <a:srgbClr val="2E3A40"/>
                          </a:solidFill>
                          <a:latin typeface="Calibri"/>
                        </a:rPr>
                        <a:t>Numérico aproximado</a:t>
                      </a:r>
                    </a:p>
                  </a:txBody>
                  <a:tcPr marL="73152" marR="73152" marT="36576" marB="36576">
                    <a:solidFill>
                      <a:srgbClr val="E8F7F6"/>
                    </a:solidFill>
                  </a:tcPr>
                </a:tc>
                <a:tc>
                  <a:txBody>
                    <a:bodyPr/>
                    <a:lstStyle/>
                    <a:p>
                      <a:r>
                        <a:rPr sz="1200" b="0">
                          <a:solidFill>
                            <a:srgbClr val="2E3A40"/>
                          </a:solidFill>
                          <a:latin typeface="Calibri"/>
                        </a:rPr>
                        <a:t>Coma flotante (IEEE 754): el valor guardado es una aproximación binaria</a:t>
                      </a:r>
                    </a:p>
                  </a:txBody>
                  <a:tcPr marL="73152" marR="73152" marT="36576" marB="36576">
                    <a:solidFill>
                      <a:srgbClr val="E8F7F6"/>
                    </a:solidFill>
                  </a:tcPr>
                </a:tc>
                <a:tc>
                  <a:txBody>
                    <a:bodyPr/>
                    <a:lstStyle/>
                    <a:p>
                      <a:r>
                        <a:rPr sz="1200" b="0">
                          <a:solidFill>
                            <a:srgbClr val="2E3A40"/>
                          </a:solidFill>
                          <a:latin typeface="Calibri"/>
                        </a:rPr>
                        <a:t>real, double precision</a:t>
                      </a:r>
                    </a:p>
                  </a:txBody>
                  <a:tcPr marL="73152" marR="73152" marT="36576" marB="36576">
                    <a:solidFill>
                      <a:srgbClr val="E8F7F6"/>
                    </a:solidFill>
                  </a:tcPr>
                </a:tc>
                <a:tc>
                  <a:txBody>
                    <a:bodyPr/>
                    <a:lstStyle/>
                    <a:p>
                      <a:r>
                        <a:rPr sz="1200" b="0">
                          <a:solidFill>
                            <a:srgbClr val="2E3A40"/>
                          </a:solidFill>
                          <a:latin typeface="Calibri"/>
                        </a:rPr>
                        <a:t>mediciones físicas; no se usa en el caso</a:t>
                      </a:r>
                    </a:p>
                  </a:txBody>
                  <a:tcPr marL="73152" marR="73152" marT="36576" marB="36576">
                    <a:solidFill>
                      <a:srgbClr val="E8F7F6"/>
                    </a:solidFill>
                  </a:tcPr>
                </a:tc>
              </a:tr>
              <a:tr h="457200">
                <a:tc>
                  <a:txBody>
                    <a:bodyPr/>
                    <a:lstStyle/>
                    <a:p>
                      <a:r>
                        <a:rPr sz="1200" b="0">
                          <a:solidFill>
                            <a:srgbClr val="2E3A40"/>
                          </a:solidFill>
                          <a:latin typeface="Calibri"/>
                        </a:rPr>
                        <a:t>Carácter</a:t>
                      </a:r>
                    </a:p>
                  </a:txBody>
                  <a:tcPr marL="73152" marR="73152" marT="36576" marB="36576">
                    <a:solidFill>
                      <a:srgbClr val="FFFFFF"/>
                    </a:solidFill>
                  </a:tcPr>
                </a:tc>
                <a:tc>
                  <a:txBody>
                    <a:bodyPr/>
                    <a:lstStyle/>
                    <a:p>
                      <a:r>
                        <a:rPr sz="1200" b="0">
                          <a:solidFill>
                            <a:srgbClr val="2E3A40"/>
                          </a:solidFill>
                          <a:latin typeface="Calibri"/>
                        </a:rPr>
                        <a:t>Cadena de largo fijo o variable; se compara como texto</a:t>
                      </a:r>
                    </a:p>
                  </a:txBody>
                  <a:tcPr marL="73152" marR="73152" marT="36576" marB="36576">
                    <a:solidFill>
                      <a:srgbClr val="FFFFFF"/>
                    </a:solidFill>
                  </a:tcPr>
                </a:tc>
                <a:tc>
                  <a:txBody>
                    <a:bodyPr/>
                    <a:lstStyle/>
                    <a:p>
                      <a:r>
                        <a:rPr sz="1200" b="0">
                          <a:solidFill>
                            <a:srgbClr val="2E3A40"/>
                          </a:solidFill>
                          <a:latin typeface="Calibri"/>
                        </a:rPr>
                        <a:t>char(n), varchar(n), text</a:t>
                      </a:r>
                    </a:p>
                  </a:txBody>
                  <a:tcPr marL="73152" marR="73152" marT="36576" marB="36576">
                    <a:solidFill>
                      <a:srgbClr val="FFFFFF"/>
                    </a:solidFill>
                  </a:tcPr>
                </a:tc>
                <a:tc>
                  <a:txBody>
                    <a:bodyPr/>
                    <a:lstStyle/>
                    <a:p>
                      <a:r>
                        <a:rPr sz="1200" b="0">
                          <a:solidFill>
                            <a:srgbClr val="2E3A40"/>
                          </a:solidFill>
                          <a:latin typeface="Calibri"/>
                        </a:rPr>
                        <a:t>rut varchar(10) · cod_comuna char(5)</a:t>
                      </a:r>
                    </a:p>
                  </a:txBody>
                  <a:tcPr marL="73152" marR="73152" marT="36576" marB="36576">
                    <a:solidFill>
                      <a:srgbClr val="FFFFFF"/>
                    </a:solidFill>
                  </a:tcPr>
                </a:tc>
              </a:tr>
              <a:tr h="640080">
                <a:tc>
                  <a:txBody>
                    <a:bodyPr/>
                    <a:lstStyle/>
                    <a:p>
                      <a:r>
                        <a:rPr sz="1200" b="0">
                          <a:solidFill>
                            <a:srgbClr val="2E3A40"/>
                          </a:solidFill>
                          <a:latin typeface="Calibri"/>
                        </a:rPr>
                        <a:t>Fecha y hora</a:t>
                      </a:r>
                    </a:p>
                  </a:txBody>
                  <a:tcPr marL="73152" marR="73152" marT="36576" marB="36576">
                    <a:solidFill>
                      <a:srgbClr val="E8F7F6"/>
                    </a:solidFill>
                  </a:tcPr>
                </a:tc>
                <a:tc>
                  <a:txBody>
                    <a:bodyPr/>
                    <a:lstStyle/>
                    <a:p>
                      <a:r>
                        <a:rPr sz="1200" b="0">
                          <a:solidFill>
                            <a:srgbClr val="2E3A40"/>
                          </a:solidFill>
                          <a:latin typeface="Calibri"/>
                        </a:rPr>
                        <a:t>Instantes e intervalos de calendario; admiten resta, comparación y orden</a:t>
                      </a:r>
                    </a:p>
                  </a:txBody>
                  <a:tcPr marL="73152" marR="73152" marT="36576" marB="36576">
                    <a:solidFill>
                      <a:srgbClr val="E8F7F6"/>
                    </a:solidFill>
                  </a:tcPr>
                </a:tc>
                <a:tc>
                  <a:txBody>
                    <a:bodyPr/>
                    <a:lstStyle/>
                    <a:p>
                      <a:r>
                        <a:rPr sz="1200" b="0">
                          <a:solidFill>
                            <a:srgbClr val="2E3A40"/>
                          </a:solidFill>
                          <a:latin typeface="Calibri"/>
                        </a:rPr>
                        <a:t>date, time, timestamp, interval</a:t>
                      </a:r>
                    </a:p>
                  </a:txBody>
                  <a:tcPr marL="73152" marR="73152" marT="36576" marB="36576">
                    <a:solidFill>
                      <a:srgbClr val="E8F7F6"/>
                    </a:solidFill>
                  </a:tcPr>
                </a:tc>
                <a:tc>
                  <a:txBody>
                    <a:bodyPr/>
                    <a:lstStyle/>
                    <a:p>
                      <a:r>
                        <a:rPr sz="1200" b="0">
                          <a:solidFill>
                            <a:srgbClr val="2E3A40"/>
                          </a:solidFill>
                          <a:latin typeface="Calibri"/>
                        </a:rPr>
                        <a:t>fecha_nac date · hora_inicio time</a:t>
                      </a:r>
                    </a:p>
                  </a:txBody>
                  <a:tcPr marL="73152" marR="73152" marT="36576" marB="36576">
                    <a:solidFill>
                      <a:srgbClr val="E8F7F6"/>
                    </a:solidFill>
                  </a:tcPr>
                </a:tc>
              </a:tr>
              <a:tr h="457200">
                <a:tc>
                  <a:txBody>
                    <a:bodyPr/>
                    <a:lstStyle/>
                    <a:p>
                      <a:r>
                        <a:rPr sz="1200" b="0">
                          <a:solidFill>
                            <a:srgbClr val="2E3A40"/>
                          </a:solidFill>
                          <a:latin typeface="Calibri"/>
                        </a:rPr>
                        <a:t>Booleano</a:t>
                      </a:r>
                    </a:p>
                  </a:txBody>
                  <a:tcPr marL="73152" marR="73152" marT="36576" marB="36576">
                    <a:solidFill>
                      <a:srgbClr val="FFFFFF"/>
                    </a:solidFill>
                  </a:tcPr>
                </a:tc>
                <a:tc>
                  <a:txBody>
                    <a:bodyPr/>
                    <a:lstStyle/>
                    <a:p>
                      <a:r>
                        <a:rPr sz="1200" b="0">
                          <a:solidFill>
                            <a:srgbClr val="2E3A40"/>
                          </a:solidFill>
                          <a:latin typeface="Calibri"/>
                        </a:rPr>
                        <a:t>Lógica de tres valores: verdadero, falso y desconocido (NULL)</a:t>
                      </a:r>
                    </a:p>
                  </a:txBody>
                  <a:tcPr marL="73152" marR="73152" marT="36576" marB="36576">
                    <a:solidFill>
                      <a:srgbClr val="FFFFFF"/>
                    </a:solidFill>
                  </a:tcPr>
                </a:tc>
                <a:tc>
                  <a:txBody>
                    <a:bodyPr/>
                    <a:lstStyle/>
                    <a:p>
                      <a:r>
                        <a:rPr sz="1200" b="0">
                          <a:solidFill>
                            <a:srgbClr val="2E3A40"/>
                          </a:solidFill>
                          <a:latin typeface="Calibri"/>
                        </a:rPr>
                        <a:t>boolean</a:t>
                      </a:r>
                    </a:p>
                  </a:txBody>
                  <a:tcPr marL="73152" marR="73152" marT="36576" marB="36576">
                    <a:solidFill>
                      <a:srgbClr val="FFFFFF"/>
                    </a:solidFill>
                  </a:tcPr>
                </a:tc>
                <a:tc>
                  <a:txBody>
                    <a:bodyPr/>
                    <a:lstStyle/>
                    <a:p>
                      <a:r>
                        <a:rPr sz="1200" b="0">
                          <a:solidFill>
                            <a:srgbClr val="2E3A40"/>
                          </a:solidFill>
                          <a:latin typeface="Calibri"/>
                        </a:rPr>
                        <a:t>—</a:t>
                      </a:r>
                    </a:p>
                  </a:txBody>
                  <a:tcPr marL="73152" marR="73152" marT="36576" marB="36576">
                    <a:solidFill>
                      <a:srgbClr val="FFFFFF"/>
                    </a:solidFill>
                  </a:tcPr>
                </a:tc>
              </a:tr>
              <a:tr h="457200">
                <a:tc>
                  <a:txBody>
                    <a:bodyPr/>
                    <a:lstStyle/>
                    <a:p>
                      <a:r>
                        <a:rPr sz="1200" b="0">
                          <a:solidFill>
                            <a:srgbClr val="2E3A40"/>
                          </a:solidFill>
                          <a:latin typeface="Calibri"/>
                        </a:rPr>
                        <a:t>Espacial (OGC SFS / ISO 19125)</a:t>
                      </a:r>
                    </a:p>
                  </a:txBody>
                  <a:tcPr marL="73152" marR="73152" marT="36576" marB="36576">
                    <a:solidFill>
                      <a:srgbClr val="E8F7F6"/>
                    </a:solidFill>
                  </a:tcPr>
                </a:tc>
                <a:tc>
                  <a:txBody>
                    <a:bodyPr/>
                    <a:lstStyle/>
                    <a:p>
                      <a:r>
                        <a:rPr sz="1200" b="0">
                          <a:solidFill>
                            <a:srgbClr val="2E3A40"/>
                          </a:solidFill>
                          <a:latin typeface="Calibri"/>
                        </a:rPr>
                        <a:t>Geometría asociada a un sistema de referencia (SRID)</a:t>
                      </a:r>
                    </a:p>
                  </a:txBody>
                  <a:tcPr marL="73152" marR="73152" marT="36576" marB="36576">
                    <a:solidFill>
                      <a:srgbClr val="E8F7F6"/>
                    </a:solidFill>
                  </a:tcPr>
                </a:tc>
                <a:tc>
                  <a:txBody>
                    <a:bodyPr/>
                    <a:lstStyle/>
                    <a:p>
                      <a:r>
                        <a:rPr sz="1200" b="0">
                          <a:solidFill>
                            <a:srgbClr val="2E3A40"/>
                          </a:solidFill>
                          <a:latin typeface="Calibri"/>
                        </a:rPr>
                        <a:t>geometry(Point, 32719)</a:t>
                      </a:r>
                    </a:p>
                  </a:txBody>
                  <a:tcPr marL="73152" marR="73152" marT="36576" marB="36576">
                    <a:solidFill>
                      <a:srgbClr val="E8F7F6"/>
                    </a:solidFill>
                  </a:tcPr>
                </a:tc>
                <a:tc>
                  <a:txBody>
                    <a:bodyPr/>
                    <a:lstStyle/>
                    <a:p>
                      <a:r>
                        <a:rPr sz="1200" b="0">
                          <a:solidFill>
                            <a:srgbClr val="2E3A40"/>
                          </a:solidFill>
                          <a:latin typeface="Calibri"/>
                        </a:rPr>
                        <a:t>reemplaza latitud y longitud en la semana 7</a:t>
                      </a:r>
                    </a:p>
                  </a:txBody>
                  <a:tcPr marL="73152" marR="73152" marT="36576" marB="36576">
                    <a:solidFill>
                      <a:srgbClr val="E8F7F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17. Criterios para elegir el tipo de un atributo</a:t>
            </a:r>
          </a:p>
        </p:txBody>
      </p:sp>
      <p:sp>
        <p:nvSpPr>
          <p:cNvPr id="4" name="Rounded Rectangle 3"/>
          <p:cNvSpPr/>
          <p:nvPr/>
        </p:nvSpPr>
        <p:spPr>
          <a:xfrm>
            <a:off x="1325880"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508760"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08760"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1</a:t>
            </a:r>
          </a:p>
        </p:txBody>
      </p:sp>
      <p:sp>
        <p:nvSpPr>
          <p:cNvPr id="7" name="TextBox 6"/>
          <p:cNvSpPr txBox="1"/>
          <p:nvPr/>
        </p:nvSpPr>
        <p:spPr>
          <a:xfrm>
            <a:off x="1984248"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Las operaciones definen el tipo</a:t>
            </a:r>
          </a:p>
        </p:txBody>
      </p:sp>
      <p:sp>
        <p:nvSpPr>
          <p:cNvPr id="8" name="TextBox 7"/>
          <p:cNvSpPr txBox="1"/>
          <p:nvPr/>
        </p:nvSpPr>
        <p:spPr>
          <a:xfrm>
            <a:off x="1508760"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Se elige por lo que se hará con el valor, no por su apariencia. El RUT no se suma y su verificador puede ser K: es texto con formato controlado.</a:t>
            </a:r>
          </a:p>
        </p:txBody>
      </p:sp>
      <p:sp>
        <p:nvSpPr>
          <p:cNvPr id="9" name="Rounded Rectangle 8"/>
          <p:cNvSpPr/>
          <p:nvPr/>
        </p:nvSpPr>
        <p:spPr>
          <a:xfrm>
            <a:off x="6871716" y="141732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054596" y="161848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4596" y="161848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2</a:t>
            </a:r>
          </a:p>
        </p:txBody>
      </p:sp>
      <p:sp>
        <p:nvSpPr>
          <p:cNvPr id="12" name="TextBox 11"/>
          <p:cNvSpPr txBox="1"/>
          <p:nvPr/>
        </p:nvSpPr>
        <p:spPr>
          <a:xfrm>
            <a:off x="7530084" y="1581912"/>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Exactitud</a:t>
            </a:r>
          </a:p>
        </p:txBody>
      </p:sp>
      <p:sp>
        <p:nvSpPr>
          <p:cNvPr id="13" name="TextBox 12"/>
          <p:cNvSpPr txBox="1"/>
          <p:nvPr/>
        </p:nvSpPr>
        <p:spPr>
          <a:xfrm>
            <a:off x="7054596" y="214884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Notas y montos exigen numeric(p,s): 6,2 se guarda exacto. Un real guarda una aproximación binaria del valor.</a:t>
            </a:r>
          </a:p>
        </p:txBody>
      </p:sp>
      <p:sp>
        <p:nvSpPr>
          <p:cNvPr id="14" name="Rounded Rectangle 13"/>
          <p:cNvSpPr/>
          <p:nvPr/>
        </p:nvSpPr>
        <p:spPr>
          <a:xfrm>
            <a:off x="1325880"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508760"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8760"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3</a:t>
            </a:r>
          </a:p>
        </p:txBody>
      </p:sp>
      <p:sp>
        <p:nvSpPr>
          <p:cNvPr id="17" name="TextBox 16"/>
          <p:cNvSpPr txBox="1"/>
          <p:nvPr/>
        </p:nvSpPr>
        <p:spPr>
          <a:xfrm>
            <a:off x="1984248"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Identidad del código</a:t>
            </a:r>
          </a:p>
        </p:txBody>
      </p:sp>
      <p:sp>
        <p:nvSpPr>
          <p:cNvPr id="18" name="TextBox 17"/>
          <p:cNvSpPr txBox="1"/>
          <p:nvPr/>
        </p:nvSpPr>
        <p:spPr>
          <a:xfrm>
            <a:off x="1508760"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Un código con ceros a la izquierda es texto: el CUT 05101 (Valparaíso) guardado como entero pierde el cero y deja de cruzar con las fuentes del INE.</a:t>
            </a:r>
          </a:p>
        </p:txBody>
      </p:sp>
      <p:sp>
        <p:nvSpPr>
          <p:cNvPr id="19" name="Rounded Rectangle 18"/>
          <p:cNvSpPr/>
          <p:nvPr/>
        </p:nvSpPr>
        <p:spPr>
          <a:xfrm>
            <a:off x="6871716" y="3657600"/>
            <a:ext cx="5317236" cy="2011680"/>
          </a:xfrm>
          <a:prstGeom prst="roundRect">
            <a:avLst>
              <a:gd name="adj" fmla="val 8000"/>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54596" y="3858768"/>
            <a:ext cx="384048" cy="384048"/>
          </a:xfrm>
          <a:prstGeom prst="ellipse">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54596" y="3858768"/>
            <a:ext cx="384048" cy="384048"/>
          </a:xfrm>
          <a:prstGeom prst="rect">
            <a:avLst/>
          </a:prstGeom>
          <a:noFill/>
        </p:spPr>
        <p:txBody>
          <a:bodyPr wrap="square" lIns="73152" tIns="36576" rIns="73152" bIns="36576" anchor="ctr">
            <a:spAutoFit/>
          </a:bodyPr>
          <a:lstStyle/>
          <a:p>
            <a:pPr algn="ctr">
              <a:spcAft>
                <a:spcPts val="600"/>
              </a:spcAft>
            </a:pPr>
            <a:r>
              <a:rPr sz="1300" b="1" i="0">
                <a:solidFill>
                  <a:srgbClr val="FFFFFF"/>
                </a:solidFill>
                <a:latin typeface="Calibri"/>
              </a:rPr>
              <a:t>4</a:t>
            </a:r>
          </a:p>
        </p:txBody>
      </p:sp>
      <p:sp>
        <p:nvSpPr>
          <p:cNvPr id="22" name="TextBox 21"/>
          <p:cNvSpPr txBox="1"/>
          <p:nvPr/>
        </p:nvSpPr>
        <p:spPr>
          <a:xfrm>
            <a:off x="7530084" y="3822191"/>
            <a:ext cx="4494276" cy="502920"/>
          </a:xfrm>
          <a:prstGeom prst="rect">
            <a:avLst/>
          </a:prstGeom>
          <a:noFill/>
        </p:spPr>
        <p:txBody>
          <a:bodyPr wrap="square" lIns="73152" tIns="36576" rIns="73152" bIns="36576" anchor="ctr">
            <a:spAutoFit/>
          </a:bodyPr>
          <a:lstStyle/>
          <a:p>
            <a:pPr algn="l">
              <a:spcAft>
                <a:spcPts val="600"/>
              </a:spcAft>
            </a:pPr>
            <a:r>
              <a:rPr sz="1600" b="1" i="0">
                <a:solidFill>
                  <a:srgbClr val="007A7A"/>
                </a:solidFill>
                <a:latin typeface="Calibri"/>
              </a:rPr>
              <a:t>Del tipo al dominio</a:t>
            </a:r>
          </a:p>
        </p:txBody>
      </p:sp>
      <p:sp>
        <p:nvSpPr>
          <p:cNvPr id="23" name="TextBox 22"/>
          <p:cNvSpPr txBox="1"/>
          <p:nvPr/>
        </p:nvSpPr>
        <p:spPr>
          <a:xfrm>
            <a:off x="7054596" y="4389120"/>
            <a:ext cx="4951476" cy="1188720"/>
          </a:xfrm>
          <a:prstGeom prst="rect">
            <a:avLst/>
          </a:prstGeom>
          <a:noFill/>
        </p:spPr>
        <p:txBody>
          <a:bodyPr wrap="square" lIns="73152" tIns="36576" rIns="73152" bIns="36576" anchor="t">
            <a:spAutoFit/>
          </a:bodyPr>
          <a:lstStyle/>
          <a:p>
            <a:pPr algn="l">
              <a:spcAft>
                <a:spcPts val="600"/>
              </a:spcAft>
            </a:pPr>
            <a:r>
              <a:rPr sz="1300" b="0" i="0">
                <a:solidFill>
                  <a:srgbClr val="2E3A40"/>
                </a:solidFill>
                <a:latin typeface="Calibri"/>
              </a:rPr>
              <a:t>CREATE DOMAIN d_nota AS numeric(2,1) CHECK (VALUE BETWEEN 1.0 AND 7.0) declara la regla RN-04 en el propio esquema.</a:t>
            </a:r>
          </a:p>
        </p:txBody>
      </p:sp>
      <p:sp>
        <p:nvSpPr>
          <p:cNvPr id="24" name="TextBox 23"/>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Date (2004), cap. 5; ISO/IEC 9075-2:2023; INE, División Político-Administrativa y Censal (código único territorial).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18. Claves: definiciones</a:t>
            </a:r>
          </a:p>
        </p:txBody>
      </p:sp>
      <p:sp>
        <p:nvSpPr>
          <p:cNvPr id="5" name="TextBox 4"/>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Codd (1970); Codd (1979), ACM Transactions on Database Systems, 4(4), 397–434; Date (2004), cap. 9; Elmasri y Navathe (2016), cap. 5.</a:t>
            </a:r>
          </a:p>
        </p:txBody>
      </p:sp>
      <p:graphicFrame>
        <p:nvGraphicFramePr>
          <p:cNvPr id="6" name="Table 5"/>
          <p:cNvGraphicFramePr>
            <a:graphicFrameLocks noGrp="1"/>
          </p:cNvGraphicFramePr>
          <p:nvPr/>
        </p:nvGraphicFramePr>
        <p:xfrm>
          <a:off x="1325880" y="1417320"/>
          <a:ext cx="10863070" cy="4571999"/>
        </p:xfrm>
        <a:graphic>
          <a:graphicData uri="http://schemas.openxmlformats.org/drawingml/2006/table">
            <a:tbl>
              <a:tblPr firstRow="1" bandRow="1">
                <a:tableStyleId>{5C22544A-7EE6-4342-B048-85BDC9FD1C3A}</a:tableStyleId>
              </a:tblPr>
              <a:tblGrid>
                <a:gridCol w="1900000"/>
                <a:gridCol w="4500000"/>
                <a:gridCol w="2000000"/>
                <a:gridCol w="2463070"/>
              </a:tblGrid>
              <a:tr h="274320">
                <a:tc>
                  <a:txBody>
                    <a:bodyPr/>
                    <a:lstStyle/>
                    <a:p>
                      <a:r>
                        <a:rPr sz="1300" b="1">
                          <a:solidFill>
                            <a:srgbClr val="FFFFFF"/>
                          </a:solidFill>
                          <a:latin typeface="Calibri"/>
                        </a:rPr>
                        <a:t>Concepto</a:t>
                      </a:r>
                    </a:p>
                  </a:txBody>
                  <a:tcPr marL="73152" marR="73152" marT="36576" marB="36576">
                    <a:solidFill>
                      <a:srgbClr val="007A7A"/>
                    </a:solidFill>
                  </a:tcPr>
                </a:tc>
                <a:tc>
                  <a:txBody>
                    <a:bodyPr/>
                    <a:lstStyle/>
                    <a:p>
                      <a:r>
                        <a:rPr sz="1300" b="1">
                          <a:solidFill>
                            <a:srgbClr val="FFFFFF"/>
                          </a:solidFill>
                          <a:latin typeface="Calibri"/>
                        </a:rPr>
                        <a:t>Definición</a:t>
                      </a:r>
                    </a:p>
                  </a:txBody>
                  <a:tcPr marL="73152" marR="73152" marT="36576" marB="36576">
                    <a:solidFill>
                      <a:srgbClr val="007A7A"/>
                    </a:solidFill>
                  </a:tcPr>
                </a:tc>
                <a:tc>
                  <a:txBody>
                    <a:bodyPr/>
                    <a:lstStyle/>
                    <a:p>
                      <a:r>
                        <a:rPr sz="1300" b="1">
                          <a:solidFill>
                            <a:srgbClr val="FFFFFF"/>
                          </a:solidFill>
                          <a:latin typeface="Calibri"/>
                        </a:rPr>
                        <a:t>Fuente</a:t>
                      </a:r>
                    </a:p>
                  </a:txBody>
                  <a:tcPr marL="73152" marR="73152" marT="36576" marB="36576">
                    <a:solidFill>
                      <a:srgbClr val="007A7A"/>
                    </a:solidFill>
                  </a:tcPr>
                </a:tc>
                <a:tc>
                  <a:txBody>
                    <a:bodyPr/>
                    <a:lstStyle/>
                    <a:p>
                      <a:r>
                        <a:rPr sz="1300" b="1">
                          <a:solidFill>
                            <a:srgbClr val="FFFFFF"/>
                          </a:solidFill>
                          <a:latin typeface="Calibri"/>
                        </a:rPr>
                        <a:t>En el caso</a:t>
                      </a:r>
                    </a:p>
                  </a:txBody>
                  <a:tcPr marL="73152" marR="73152" marT="36576" marB="36576">
                    <a:solidFill>
                      <a:srgbClr val="007A7A"/>
                    </a:solidFill>
                  </a:tcPr>
                </a:tc>
              </a:tr>
              <a:tr h="640080">
                <a:tc>
                  <a:txBody>
                    <a:bodyPr/>
                    <a:lstStyle/>
                    <a:p>
                      <a:r>
                        <a:rPr sz="1200" b="0">
                          <a:solidFill>
                            <a:srgbClr val="2E3A40"/>
                          </a:solidFill>
                          <a:latin typeface="Calibri"/>
                        </a:rPr>
                        <a:t>Superclave</a:t>
                      </a:r>
                    </a:p>
                  </a:txBody>
                  <a:tcPr marL="73152" marR="73152" marT="36576" marB="36576">
                    <a:solidFill>
                      <a:srgbClr val="FFFFFF"/>
                    </a:solidFill>
                  </a:tcPr>
                </a:tc>
                <a:tc>
                  <a:txBody>
                    <a:bodyPr/>
                    <a:lstStyle/>
                    <a:p>
                      <a:r>
                        <a:rPr sz="1200" b="0">
                          <a:solidFill>
                            <a:srgbClr val="2E3A40"/>
                          </a:solidFill>
                          <a:latin typeface="Calibri"/>
                        </a:rPr>
                        <a:t>Conjunto de atributos SK tal que dos tuplas distintas nunca coinciden en SK</a:t>
                      </a:r>
                    </a:p>
                  </a:txBody>
                  <a:tcPr marL="73152" marR="73152" marT="36576" marB="36576">
                    <a:solidFill>
                      <a:srgbClr val="FFFFFF"/>
                    </a:solidFill>
                  </a:tcPr>
                </a:tc>
                <a:tc>
                  <a:txBody>
                    <a:bodyPr/>
                    <a:lstStyle/>
                    <a:p>
                      <a:r>
                        <a:rPr sz="1200" b="0">
                          <a:solidFill>
                            <a:srgbClr val="2E3A40"/>
                          </a:solidFill>
                          <a:latin typeface="Calibri"/>
                        </a:rPr>
                        <a:t>Elmasri y Navathe (2016)</a:t>
                      </a:r>
                    </a:p>
                  </a:txBody>
                  <a:tcPr marL="73152" marR="73152" marT="36576" marB="36576">
                    <a:solidFill>
                      <a:srgbClr val="FFFFFF"/>
                    </a:solidFill>
                  </a:tcPr>
                </a:tc>
                <a:tc>
                  <a:txBody>
                    <a:bodyPr/>
                    <a:lstStyle/>
                    <a:p>
                      <a:r>
                        <a:rPr sz="1200" b="0">
                          <a:solidFill>
                            <a:srgbClr val="2E3A40"/>
                          </a:solidFill>
                          <a:latin typeface="Calibri"/>
                        </a:rPr>
                        <a:t>{rut, nombres} en persona</a:t>
                      </a:r>
                    </a:p>
                  </a:txBody>
                  <a:tcPr marL="73152" marR="73152" marT="36576" marB="36576">
                    <a:solidFill>
                      <a:srgbClr val="FFFFFF"/>
                    </a:solidFill>
                  </a:tcPr>
                </a:tc>
              </a:tr>
              <a:tr h="640080">
                <a:tc>
                  <a:txBody>
                    <a:bodyPr/>
                    <a:lstStyle/>
                    <a:p>
                      <a:r>
                        <a:rPr sz="1200" b="0">
                          <a:solidFill>
                            <a:srgbClr val="2E3A40"/>
                          </a:solidFill>
                          <a:latin typeface="Calibri"/>
                        </a:rPr>
                        <a:t>Clave candidata</a:t>
                      </a:r>
                    </a:p>
                  </a:txBody>
                  <a:tcPr marL="73152" marR="73152" marT="36576" marB="36576">
                    <a:solidFill>
                      <a:srgbClr val="E8F7F6"/>
                    </a:solidFill>
                  </a:tcPr>
                </a:tc>
                <a:tc>
                  <a:txBody>
                    <a:bodyPr/>
                    <a:lstStyle/>
                    <a:p>
                      <a:r>
                        <a:rPr sz="1200" b="0">
                          <a:solidFill>
                            <a:srgbClr val="2E3A40"/>
                          </a:solidFill>
                          <a:latin typeface="Calibri"/>
                        </a:rPr>
                        <a:t>Superclave que cumple unicidad e irreductibilidad: ningún subconjunto propio es superclave</a:t>
                      </a:r>
                    </a:p>
                  </a:txBody>
                  <a:tcPr marL="73152" marR="73152" marT="36576" marB="36576">
                    <a:solidFill>
                      <a:srgbClr val="E8F7F6"/>
                    </a:solidFill>
                  </a:tcPr>
                </a:tc>
                <a:tc>
                  <a:txBody>
                    <a:bodyPr/>
                    <a:lstStyle/>
                    <a:p>
                      <a:r>
                        <a:rPr sz="1200" b="0">
                          <a:solidFill>
                            <a:srgbClr val="2E3A40"/>
                          </a:solidFill>
                          <a:latin typeface="Calibri"/>
                        </a:rPr>
                        <a:t>Date (2004)</a:t>
                      </a:r>
                    </a:p>
                  </a:txBody>
                  <a:tcPr marL="73152" marR="73152" marT="36576" marB="36576">
                    <a:solidFill>
                      <a:srgbClr val="E8F7F6"/>
                    </a:solidFill>
                  </a:tcPr>
                </a:tc>
                <a:tc>
                  <a:txBody>
                    <a:bodyPr/>
                    <a:lstStyle/>
                    <a:p>
                      <a:r>
                        <a:rPr sz="1200" b="0">
                          <a:solidFill>
                            <a:srgbClr val="2E3A40"/>
                          </a:solidFill>
                          <a:latin typeface="Calibri"/>
                        </a:rPr>
                        <a:t>{rut} y {email} en persona</a:t>
                      </a:r>
                    </a:p>
                  </a:txBody>
                  <a:tcPr marL="73152" marR="73152" marT="36576" marB="36576">
                    <a:solidFill>
                      <a:srgbClr val="E8F7F6"/>
                    </a:solidFill>
                  </a:tcPr>
                </a:tc>
              </a:tr>
              <a:tr h="640080">
                <a:tc>
                  <a:txBody>
                    <a:bodyPr/>
                    <a:lstStyle/>
                    <a:p>
                      <a:r>
                        <a:rPr sz="1200" b="0">
                          <a:solidFill>
                            <a:srgbClr val="2E3A40"/>
                          </a:solidFill>
                          <a:latin typeface="Calibri"/>
                        </a:rPr>
                        <a:t>Clave primaria</a:t>
                      </a:r>
                    </a:p>
                  </a:txBody>
                  <a:tcPr marL="73152" marR="73152" marT="36576" marB="36576">
                    <a:solidFill>
                      <a:srgbClr val="FFFFFF"/>
                    </a:solidFill>
                  </a:tcPr>
                </a:tc>
                <a:tc>
                  <a:txBody>
                    <a:bodyPr/>
                    <a:lstStyle/>
                    <a:p>
                      <a:r>
                        <a:rPr sz="1200" b="0">
                          <a:solidFill>
                            <a:srgbClr val="2E3A40"/>
                          </a:solidFill>
                          <a:latin typeface="Calibri"/>
                        </a:rPr>
                        <a:t>Clave candidata elegida para identificar las tuplas; no admite NULL</a:t>
                      </a:r>
                    </a:p>
                  </a:txBody>
                  <a:tcPr marL="73152" marR="73152" marT="36576" marB="36576">
                    <a:solidFill>
                      <a:srgbClr val="FFFFFF"/>
                    </a:solidFill>
                  </a:tcPr>
                </a:tc>
                <a:tc>
                  <a:txBody>
                    <a:bodyPr/>
                    <a:lstStyle/>
                    <a:p>
                      <a:r>
                        <a:rPr sz="1200" b="0">
                          <a:solidFill>
                            <a:srgbClr val="2E3A40"/>
                          </a:solidFill>
                          <a:latin typeface="Calibri"/>
                        </a:rPr>
                        <a:t>Codd (1970)</a:t>
                      </a:r>
                    </a:p>
                  </a:txBody>
                  <a:tcPr marL="73152" marR="73152" marT="36576" marB="36576">
                    <a:solidFill>
                      <a:srgbClr val="FFFFFF"/>
                    </a:solidFill>
                  </a:tcPr>
                </a:tc>
                <a:tc>
                  <a:txBody>
                    <a:bodyPr/>
                    <a:lstStyle/>
                    <a:p>
                      <a:r>
                        <a:rPr sz="1200" b="0">
                          <a:solidFill>
                            <a:srgbClr val="2E3A40"/>
                          </a:solidFill>
                          <a:latin typeface="Calibri"/>
                        </a:rPr>
                        <a:t>persona.rut</a:t>
                      </a:r>
                    </a:p>
                  </a:txBody>
                  <a:tcPr marL="73152" marR="73152" marT="36576" marB="36576">
                    <a:solidFill>
                      <a:srgbClr val="FFFFFF"/>
                    </a:solidFill>
                  </a:tcPr>
                </a:tc>
              </a:tr>
              <a:tr h="457200">
                <a:tc>
                  <a:txBody>
                    <a:bodyPr/>
                    <a:lstStyle/>
                    <a:p>
                      <a:r>
                        <a:rPr sz="1200" b="0">
                          <a:solidFill>
                            <a:srgbClr val="2E3A40"/>
                          </a:solidFill>
                          <a:latin typeface="Calibri"/>
                        </a:rPr>
                        <a:t>Clave alternativa</a:t>
                      </a:r>
                    </a:p>
                  </a:txBody>
                  <a:tcPr marL="73152" marR="73152" marT="36576" marB="36576">
                    <a:solidFill>
                      <a:srgbClr val="E8F7F6"/>
                    </a:solidFill>
                  </a:tcPr>
                </a:tc>
                <a:tc>
                  <a:txBody>
                    <a:bodyPr/>
                    <a:lstStyle/>
                    <a:p>
                      <a:r>
                        <a:rPr sz="1200" b="0">
                          <a:solidFill>
                            <a:srgbClr val="2E3A40"/>
                          </a:solidFill>
                          <a:latin typeface="Calibri"/>
                        </a:rPr>
                        <a:t>Clave candidata no elegida; se declara UNIQUE</a:t>
                      </a:r>
                    </a:p>
                  </a:txBody>
                  <a:tcPr marL="73152" marR="73152" marT="36576" marB="36576">
                    <a:solidFill>
                      <a:srgbClr val="E8F7F6"/>
                    </a:solidFill>
                  </a:tcPr>
                </a:tc>
                <a:tc>
                  <a:txBody>
                    <a:bodyPr/>
                    <a:lstStyle/>
                    <a:p>
                      <a:r>
                        <a:rPr sz="1200" b="0">
                          <a:solidFill>
                            <a:srgbClr val="2E3A40"/>
                          </a:solidFill>
                          <a:latin typeface="Calibri"/>
                        </a:rPr>
                        <a:t>Date (2004)</a:t>
                      </a:r>
                    </a:p>
                  </a:txBody>
                  <a:tcPr marL="73152" marR="73152" marT="36576" marB="36576">
                    <a:solidFill>
                      <a:srgbClr val="E8F7F6"/>
                    </a:solidFill>
                  </a:tcPr>
                </a:tc>
                <a:tc>
                  <a:txBody>
                    <a:bodyPr/>
                    <a:lstStyle/>
                    <a:p>
                      <a:r>
                        <a:rPr sz="1200" b="0">
                          <a:solidFill>
                            <a:srgbClr val="2E3A40"/>
                          </a:solidFill>
                          <a:latin typeface="Calibri"/>
                        </a:rPr>
                        <a:t>persona.email</a:t>
                      </a:r>
                    </a:p>
                  </a:txBody>
                  <a:tcPr marL="73152" marR="73152" marT="36576" marB="36576">
                    <a:solidFill>
                      <a:srgbClr val="E8F7F6"/>
                    </a:solidFill>
                  </a:tcPr>
                </a:tc>
              </a:tr>
              <a:tr h="457200">
                <a:tc>
                  <a:txBody>
                    <a:bodyPr/>
                    <a:lstStyle/>
                    <a:p>
                      <a:r>
                        <a:rPr sz="1200" b="0">
                          <a:solidFill>
                            <a:srgbClr val="2E3A40"/>
                          </a:solidFill>
                          <a:latin typeface="Calibri"/>
                        </a:rPr>
                        <a:t>Clave compuesta</a:t>
                      </a:r>
                    </a:p>
                  </a:txBody>
                  <a:tcPr marL="73152" marR="73152" marT="36576" marB="36576">
                    <a:solidFill>
                      <a:srgbClr val="FFFFFF"/>
                    </a:solidFill>
                  </a:tcPr>
                </a:tc>
                <a:tc>
                  <a:txBody>
                    <a:bodyPr/>
                    <a:lstStyle/>
                    <a:p>
                      <a:r>
                        <a:rPr sz="1200" b="0">
                          <a:solidFill>
                            <a:srgbClr val="2E3A40"/>
                          </a:solidFill>
                          <a:latin typeface="Calibri"/>
                        </a:rPr>
                        <a:t>Clave formada por más de un atributo</a:t>
                      </a:r>
                    </a:p>
                  </a:txBody>
                  <a:tcPr marL="73152" marR="73152" marT="36576" marB="36576">
                    <a:solidFill>
                      <a:srgbClr val="FFFFFF"/>
                    </a:solidFill>
                  </a:tcPr>
                </a:tc>
                <a:tc>
                  <a:txBody>
                    <a:bodyPr/>
                    <a:lstStyle/>
                    <a:p>
                      <a:r>
                        <a:rPr sz="1200" b="0">
                          <a:solidFill>
                            <a:srgbClr val="2E3A40"/>
                          </a:solidFill>
                          <a:latin typeface="Calibri"/>
                        </a:rPr>
                        <a:t>Elmasri y Navathe (2016)</a:t>
                      </a:r>
                    </a:p>
                  </a:txBody>
                  <a:tcPr marL="73152" marR="73152" marT="36576" marB="36576">
                    <a:solidFill>
                      <a:srgbClr val="FFFFFF"/>
                    </a:solidFill>
                  </a:tcPr>
                </a:tc>
                <a:tc>
                  <a:txBody>
                    <a:bodyPr/>
                    <a:lstStyle/>
                    <a:p>
                      <a:r>
                        <a:rPr sz="1200" b="0">
                          <a:solidFill>
                            <a:srgbClr val="2E3A40"/>
                          </a:solidFill>
                          <a:latin typeface="Calibri"/>
                        </a:rPr>
                        <a:t>seccion(cod_asig, periodo, num_seccion)</a:t>
                      </a:r>
                    </a:p>
                  </a:txBody>
                  <a:tcPr marL="73152" marR="73152" marT="36576" marB="36576">
                    <a:solidFill>
                      <a:srgbClr val="FFFFFF"/>
                    </a:solidFill>
                  </a:tcPr>
                </a:tc>
              </a:tr>
              <a:tr h="640080">
                <a:tc>
                  <a:txBody>
                    <a:bodyPr/>
                    <a:lstStyle/>
                    <a:p>
                      <a:r>
                        <a:rPr sz="1200" b="0">
                          <a:solidFill>
                            <a:srgbClr val="2E3A40"/>
                          </a:solidFill>
                          <a:latin typeface="Calibri"/>
                        </a:rPr>
                        <a:t>Clave foránea</a:t>
                      </a:r>
                    </a:p>
                  </a:txBody>
                  <a:tcPr marL="73152" marR="73152" marT="36576" marB="36576">
                    <a:solidFill>
                      <a:srgbClr val="E8F7F6"/>
                    </a:solidFill>
                  </a:tcPr>
                </a:tc>
                <a:tc>
                  <a:txBody>
                    <a:bodyPr/>
                    <a:lstStyle/>
                    <a:p>
                      <a:r>
                        <a:rPr sz="1200" b="0">
                          <a:solidFill>
                            <a:srgbClr val="2E3A40"/>
                          </a:solidFill>
                          <a:latin typeface="Calibri"/>
                        </a:rPr>
                        <a:t>Atributo(s) cuyos valores deben coincidir con la clave primaria de otra relación</a:t>
                      </a:r>
                    </a:p>
                  </a:txBody>
                  <a:tcPr marL="73152" marR="73152" marT="36576" marB="36576">
                    <a:solidFill>
                      <a:srgbClr val="E8F7F6"/>
                    </a:solidFill>
                  </a:tcPr>
                </a:tc>
                <a:tc>
                  <a:txBody>
                    <a:bodyPr/>
                    <a:lstStyle/>
                    <a:p>
                      <a:r>
                        <a:rPr sz="1200" b="0">
                          <a:solidFill>
                            <a:srgbClr val="2E3A40"/>
                          </a:solidFill>
                          <a:latin typeface="Calibri"/>
                        </a:rPr>
                        <a:t>Codd (1970)</a:t>
                      </a:r>
                    </a:p>
                  </a:txBody>
                  <a:tcPr marL="73152" marR="73152" marT="36576" marB="36576">
                    <a:solidFill>
                      <a:srgbClr val="E8F7F6"/>
                    </a:solidFill>
                  </a:tcPr>
                </a:tc>
                <a:tc>
                  <a:txBody>
                    <a:bodyPr/>
                    <a:lstStyle/>
                    <a:p>
                      <a:r>
                        <a:rPr sz="1200" b="0">
                          <a:solidFill>
                            <a:srgbClr val="2E3A40"/>
                          </a:solidFill>
                          <a:latin typeface="Calibri"/>
                        </a:rPr>
                        <a:t>estudiante.cod_carrera → carrera</a:t>
                      </a:r>
                    </a:p>
                  </a:txBody>
                  <a:tcPr marL="73152" marR="73152" marT="36576" marB="36576">
                    <a:solidFill>
                      <a:srgbClr val="E8F7F6"/>
                    </a:solidFill>
                  </a:tcPr>
                </a:tc>
              </a:tr>
              <a:tr h="822959">
                <a:tc>
                  <a:txBody>
                    <a:bodyPr/>
                    <a:lstStyle/>
                    <a:p>
                      <a:r>
                        <a:rPr sz="1200" b="0">
                          <a:solidFill>
                            <a:srgbClr val="2E3A40"/>
                          </a:solidFill>
                          <a:latin typeface="Calibri"/>
                        </a:rPr>
                        <a:t>Clave sustituta</a:t>
                      </a:r>
                    </a:p>
                  </a:txBody>
                  <a:tcPr marL="73152" marR="73152" marT="36576" marB="36576">
                    <a:solidFill>
                      <a:srgbClr val="FFFFFF"/>
                    </a:solidFill>
                  </a:tcPr>
                </a:tc>
                <a:tc>
                  <a:txBody>
                    <a:bodyPr/>
                    <a:lstStyle/>
                    <a:p>
                      <a:r>
                        <a:rPr sz="1200" b="0">
                          <a:solidFill>
                            <a:srgbClr val="2E3A40"/>
                          </a:solidFill>
                          <a:latin typeface="Calibri"/>
                        </a:rPr>
                        <a:t>Identificador generado por el sistema, sin significado en el dominio; se contrasta con la clave natural (RUT, CUT)</a:t>
                      </a:r>
                    </a:p>
                  </a:txBody>
                  <a:tcPr marL="73152" marR="73152" marT="36576" marB="36576">
                    <a:solidFill>
                      <a:srgbClr val="FFFFFF"/>
                    </a:solidFill>
                  </a:tcPr>
                </a:tc>
                <a:tc>
                  <a:txBody>
                    <a:bodyPr/>
                    <a:lstStyle/>
                    <a:p>
                      <a:r>
                        <a:rPr sz="1200" b="0">
                          <a:solidFill>
                            <a:srgbClr val="2E3A40"/>
                          </a:solidFill>
                          <a:latin typeface="Calibri"/>
                        </a:rPr>
                        <a:t>Codd (1979)</a:t>
                      </a:r>
                    </a:p>
                  </a:txBody>
                  <a:tcPr marL="73152" marR="73152" marT="36576" marB="36576">
                    <a:solidFill>
                      <a:srgbClr val="FFFFFF"/>
                    </a:solidFill>
                  </a:tcPr>
                </a:tc>
                <a:tc>
                  <a:txBody>
                    <a:bodyPr/>
                    <a:lstStyle/>
                    <a:p>
                      <a:r>
                        <a:rPr sz="1200" b="0">
                          <a:solidFill>
                            <a:srgbClr val="2E3A40"/>
                          </a:solidFill>
                          <a:latin typeface="Calibri"/>
                        </a:rPr>
                        <a:t>mobiliario.id_item (serial)</a:t>
                      </a:r>
                    </a:p>
                  </a:txBody>
                  <a:tcPr marL="73152" marR="73152" marT="36576" marB="36576">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19. Restricciones de integridad</a:t>
            </a:r>
          </a:p>
        </p:txBody>
      </p:sp>
      <p:sp>
        <p:nvSpPr>
          <p:cNvPr id="4" name="Rectangle 3"/>
          <p:cNvSpPr/>
          <p:nvPr/>
        </p:nvSpPr>
        <p:spPr>
          <a:xfrm>
            <a:off x="1325880" y="1417320"/>
            <a:ext cx="5312664" cy="54864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Reglas del modelo relacional</a:t>
            </a:r>
          </a:p>
        </p:txBody>
      </p:sp>
      <p:sp>
        <p:nvSpPr>
          <p:cNvPr id="6" name="Rectangle 5"/>
          <p:cNvSpPr/>
          <p:nvPr/>
        </p:nvSpPr>
        <p:spPr>
          <a:xfrm>
            <a:off x="1325880"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103120"/>
            <a:ext cx="4937760" cy="3749039"/>
          </a:xfrm>
          <a:prstGeom prst="rect">
            <a:avLst/>
          </a:prstGeom>
          <a:noFill/>
        </p:spPr>
        <p:txBody>
          <a:bodyPr wrap="square" lIns="73152" tIns="36576" rIns="73152" bIns="36576" anchor="t">
            <a:spAutoFit/>
          </a:bodyPr>
          <a:lstStyle/>
          <a:p>
            <a:pPr marL="228600" indent="-182880" algn="l">
              <a:spcAft>
                <a:spcPts val="400"/>
              </a:spcAft>
              <a:buChar char="•"/>
            </a:pPr>
            <a:r>
              <a:rPr sz="1300" b="1" i="0">
                <a:solidFill>
                  <a:srgbClr val="2E3A40"/>
                </a:solidFill>
                <a:latin typeface="Calibri"/>
              </a:rPr>
              <a:t>Integridad de entidad: </a:t>
            </a:r>
            <a:r>
              <a:rPr sz="1300" b="0" i="0">
                <a:solidFill>
                  <a:srgbClr val="2E3A40"/>
                </a:solidFill>
                <a:latin typeface="Calibri"/>
              </a:rPr>
              <a:t>ningún atributo de la clave primaria puede ser NULL; si lo fuera, la tupla no podría identificarse.</a:t>
            </a:r>
          </a:p>
          <a:p>
            <a:pPr marL="228600" indent="-182880" algn="l">
              <a:spcAft>
                <a:spcPts val="400"/>
              </a:spcAft>
              <a:buChar char="•"/>
            </a:pPr>
            <a:r>
              <a:rPr sz="1300" b="1" i="0">
                <a:solidFill>
                  <a:srgbClr val="2E3A40"/>
                </a:solidFill>
                <a:latin typeface="Calibri"/>
              </a:rPr>
              <a:t>Integridad referencial: </a:t>
            </a:r>
            <a:r>
              <a:rPr sz="1300" b="0" i="0">
                <a:solidFill>
                  <a:srgbClr val="2E3A40"/>
                </a:solidFill>
                <a:latin typeface="Calibri"/>
              </a:rPr>
              <a:t>el valor de una FK coincide con una PK existente en la relación referenciada, o es NULL si el diseño lo permite.</a:t>
            </a:r>
          </a:p>
          <a:p>
            <a:pPr marL="228600" indent="-182880" algn="l">
              <a:spcAft>
                <a:spcPts val="400"/>
              </a:spcAft>
              <a:buChar char="•"/>
            </a:pPr>
            <a:r>
              <a:rPr sz="1300" b="1" i="0">
                <a:solidFill>
                  <a:srgbClr val="2E3A40"/>
                </a:solidFill>
                <a:latin typeface="Calibri"/>
              </a:rPr>
              <a:t>Acciones referenciales (SQL): </a:t>
            </a:r>
            <a:r>
              <a:rPr sz="1300" b="0" i="0">
                <a:solidFill>
                  <a:srgbClr val="2E3A40"/>
                </a:solidFill>
                <a:latin typeface="Calibri"/>
              </a:rPr>
              <a:t>al borrar o actualizar la tupla referenciada se elige RESTRICT o NO ACTION (rechazar), CASCADE (propagar), SET NULL o SET DEFAULT.</a:t>
            </a:r>
          </a:p>
          <a:p>
            <a:pPr marL="228600" indent="-182880" algn="l">
              <a:spcAft>
                <a:spcPts val="400"/>
              </a:spcAft>
              <a:buChar char="•"/>
            </a:pPr>
            <a:r>
              <a:rPr sz="1300" b="1" i="0">
                <a:solidFill>
                  <a:srgbClr val="2E3A40"/>
                </a:solidFill>
                <a:latin typeface="Calibri"/>
              </a:rPr>
              <a:t>Restricciones de dominio: </a:t>
            </a:r>
            <a:r>
              <a:rPr sz="1300" b="0" i="0">
                <a:solidFill>
                  <a:srgbClr val="2E3A40"/>
                </a:solidFill>
                <a:latin typeface="Calibri"/>
              </a:rPr>
              <a:t>NOT NULL, CHECK y UNIQUE completan el esquema.</a:t>
            </a:r>
          </a:p>
        </p:txBody>
      </p:sp>
      <p:sp>
        <p:nvSpPr>
          <p:cNvPr id="8" name="Rectangle 7"/>
          <p:cNvSpPr/>
          <p:nvPr/>
        </p:nvSpPr>
        <p:spPr>
          <a:xfrm>
            <a:off x="6876288" y="1417320"/>
            <a:ext cx="5312664" cy="548640"/>
          </a:xfrm>
          <a:prstGeom prst="rect">
            <a:avLst/>
          </a:prstGeom>
          <a:solidFill>
            <a:srgbClr val="EA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1417320"/>
            <a:ext cx="5312664" cy="548640"/>
          </a:xfrm>
          <a:prstGeom prst="rect">
            <a:avLst/>
          </a:prstGeom>
          <a:noFill/>
        </p:spPr>
        <p:txBody>
          <a:bodyPr wrap="square" lIns="73152" tIns="36576" rIns="73152" bIns="36576" anchor="ctr">
            <a:spAutoFit/>
          </a:bodyPr>
          <a:lstStyle/>
          <a:p>
            <a:pPr algn="ctr">
              <a:spcAft>
                <a:spcPts val="600"/>
              </a:spcAft>
            </a:pPr>
            <a:r>
              <a:rPr sz="1600" b="1" i="0">
                <a:solidFill>
                  <a:srgbClr val="FFFFFF"/>
                </a:solidFill>
                <a:latin typeface="Calibri"/>
              </a:rPr>
              <a:t>La clave también expresa reglas de negocio</a:t>
            </a:r>
          </a:p>
        </p:txBody>
      </p:sp>
      <p:sp>
        <p:nvSpPr>
          <p:cNvPr id="10" name="Rectangle 9"/>
          <p:cNvSpPr/>
          <p:nvPr/>
        </p:nvSpPr>
        <p:spPr>
          <a:xfrm>
            <a:off x="6876288" y="1965960"/>
            <a:ext cx="5312664" cy="3977639"/>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2103120"/>
            <a:ext cx="4937760" cy="3749039"/>
          </a:xfrm>
          <a:prstGeom prst="rect">
            <a:avLst/>
          </a:prstGeom>
          <a:noFill/>
        </p:spPr>
        <p:txBody>
          <a:bodyPr wrap="square" lIns="73152" tIns="36576" rIns="73152" bIns="36576" anchor="t">
            <a:spAutoFit/>
          </a:bodyPr>
          <a:lstStyle/>
          <a:p>
            <a:pPr marL="228600" indent="-182880" algn="l">
              <a:spcAft>
                <a:spcPts val="400"/>
              </a:spcAft>
              <a:buChar char="•"/>
            </a:pPr>
            <a:r>
              <a:rPr sz="1300" b="0" i="0">
                <a:solidFill>
                  <a:srgbClr val="2E3A40"/>
                </a:solidFill>
                <a:latin typeface="Calibri"/>
              </a:rPr>
              <a:t>La PK de inscripcion es (rut_estudiante, cod_asig, periodo), sin num_seccion: impone RN-03, una sección por asignatura y período.</a:t>
            </a:r>
          </a:p>
          <a:p>
            <a:pPr marL="228600" indent="-182880" algn="l">
              <a:spcAft>
                <a:spcPts val="400"/>
              </a:spcAft>
              <a:buChar char="•"/>
            </a:pPr>
            <a:r>
              <a:rPr sz="1300" b="0" i="0">
                <a:solidFill>
                  <a:srgbClr val="2E3A40"/>
                </a:solidFill>
                <a:latin typeface="Calibri"/>
              </a:rPr>
              <a:t>UNIQUE (cod_sala, periodo, dia, num_bloque) en seccion_horario impide dos secciones en la misma sala y bloque.</a:t>
            </a:r>
          </a:p>
          <a:p>
            <a:pPr marL="228600" indent="-182880" algn="l">
              <a:spcAft>
                <a:spcPts val="400"/>
              </a:spcAft>
              <a:buChar char="•"/>
            </a:pPr>
            <a:r>
              <a:rPr sz="1300" b="0" i="0">
                <a:solidFill>
                  <a:srgbClr val="2E3A40"/>
                </a:solidFill>
                <a:latin typeface="Calibri"/>
              </a:rPr>
              <a:t>ON DELETE RESTRICT en inscripcion → estudiante: no se pierde el historial académico.</a:t>
            </a:r>
          </a:p>
          <a:p>
            <a:pPr marL="228600" indent="-182880" algn="l">
              <a:spcAft>
                <a:spcPts val="400"/>
              </a:spcAft>
              <a:buChar char="•"/>
            </a:pPr>
            <a:r>
              <a:rPr sz="1300" b="1" i="0">
                <a:solidFill>
                  <a:srgbClr val="2E3A40"/>
                </a:solidFill>
                <a:latin typeface="Calibri"/>
              </a:rPr>
              <a:t>Para discutir: </a:t>
            </a:r>
            <a:r>
              <a:rPr sz="1300" b="0" i="0">
                <a:solidFill>
                  <a:srgbClr val="2E3A40"/>
                </a:solidFill>
                <a:latin typeface="Calibri"/>
              </a:rPr>
              <a:t>¿qué regla se pierde si la PK de inscripcion incluye num_seccion? ¿Qué restricción responde la pregunta de entrada?</a:t>
            </a:r>
          </a:p>
        </p:txBody>
      </p:sp>
      <p:sp>
        <p:nvSpPr>
          <p:cNvPr id="12" name="TextBox 11"/>
          <p:cNvSpPr txBox="1"/>
          <p:nvPr/>
        </p:nvSpPr>
        <p:spPr>
          <a:xfrm>
            <a:off x="1325880" y="6420000"/>
            <a:ext cx="10863072" cy="330000"/>
          </a:xfrm>
          <a:prstGeom prst="rect">
            <a:avLst/>
          </a:prstGeom>
          <a:noFill/>
        </p:spPr>
        <p:txBody>
          <a:bodyPr wrap="square">
            <a:spAutoFit/>
          </a:bodyPr>
          <a:lstStyle/>
          <a:p>
            <a:r>
              <a:rPr sz="1000" i="1">
                <a:solidFill>
                  <a:srgbClr val="6B7680"/>
                </a:solidFill>
                <a:latin typeface="Calibri"/>
              </a:rPr>
              <a:t>Fuente: Codd (1979); Elmasri y Navathe (2016), cap. 5; ISO/IEC 9075-2:2023, acciones referenciales.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20. Taller: del ER al esquema lógico</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Taller</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400" b="1" i="0">
                <a:solidFill>
                  <a:srgbClr val="007A7A"/>
                </a:solidFill>
                <a:latin typeface="Calibri"/>
              </a:rPr>
              <a:t>Parte A · individual · 5 min</a:t>
            </a:r>
          </a:p>
          <a:p>
            <a:pPr marL="228600" indent="-182880" algn="l">
              <a:spcAft>
                <a:spcPts val="400"/>
              </a:spcAft>
              <a:buChar char="•"/>
            </a:pPr>
            <a:r>
              <a:rPr sz="1200" b="0" i="0">
                <a:solidFill>
                  <a:srgbClr val="2E3A40"/>
                </a:solidFill>
                <a:latin typeface="Calibri"/>
              </a:rPr>
              <a:t>Elija tipo y dominio para: teléfono, código postal, superficie de un predio (ha), fecha y hora de inicio de un incendio, sala habilitada (sí/no), año de ingreso, porcentaje de asistencia y número de piso. Justifique cada uno con uno de los cuatro criterios.</a:t>
            </a:r>
          </a:p>
          <a:p>
            <a:pPr algn="l">
              <a:spcAft>
                <a:spcPts val="400"/>
              </a:spcAft>
            </a:pPr>
            <a:r>
              <a:rPr sz="1400" b="1" i="0">
                <a:solidFill>
                  <a:srgbClr val="007A7A"/>
                </a:solidFill>
                <a:latin typeface="Calibri"/>
              </a:rPr>
              <a:t>Parte B · parejas · 15 min</a:t>
            </a:r>
          </a:p>
          <a:p>
            <a:pPr marL="228600" indent="-182880" algn="l">
              <a:spcAft>
                <a:spcPts val="400"/>
              </a:spcAft>
              <a:buChar char="•"/>
            </a:pPr>
            <a:r>
              <a:rPr sz="1200" b="0" i="0">
                <a:solidFill>
                  <a:srgbClr val="2E3A40"/>
                </a:solidFill>
                <a:latin typeface="Calibri"/>
              </a:rPr>
              <a:t>Relato: «La universidad tiene campus con dirección; cada campus tiene edificios y cada edificio, salas con capacidad y tipo». (1) Escriba las cardinalidades (mín, máx). (2) Aplique el algoritmo indicando el paso usado. (3) Escriba campus, edificio y sala con PK, FK, tipos, NOT NULL y ON DELETE.</a:t>
            </a:r>
          </a:p>
          <a:p>
            <a:pPr algn="l">
              <a:spcAft>
                <a:spcPts val="400"/>
              </a:spcAft>
            </a:pPr>
            <a:r>
              <a:rPr sz="1400" b="1" i="0">
                <a:solidFill>
                  <a:srgbClr val="007A7A"/>
                </a:solidFill>
                <a:latin typeface="Calibri"/>
              </a:rPr>
              <a:t>Parte C · equipo de proyecto · 10 min</a:t>
            </a:r>
          </a:p>
          <a:p>
            <a:pPr marL="228600" indent="-182880" algn="l">
              <a:spcAft>
                <a:spcPts val="400"/>
              </a:spcAft>
              <a:buChar char="•"/>
            </a:pPr>
            <a:r>
              <a:rPr sz="1200" b="0" i="0">
                <a:solidFill>
                  <a:srgbClr val="2E3A40"/>
                </a:solidFill>
                <a:latin typeface="Calibri"/>
              </a:rPr>
              <a:t>Tome dos entidades del catálogo de su proyecto (ejercicio 1.14) y defina su clave primaria. ¿Es natural o sustituta? ¿Existe un código oficial que deban respetar (CUT, rol de avalúo del SII, código de cuenca de la DGA)?</a:t>
            </a:r>
          </a:p>
          <a:p>
            <a:pPr algn="l">
              <a:spcAft>
                <a:spcPts val="400"/>
              </a:spcAft>
            </a:pPr>
            <a:r>
              <a:rPr sz="1400" b="1" i="0">
                <a:solidFill>
                  <a:srgbClr val="007A7A"/>
                </a:solidFill>
                <a:latin typeface="Calibri"/>
              </a:rPr>
              <a:t>Criterio de logro</a:t>
            </a:r>
          </a:p>
          <a:p>
            <a:pPr marL="228600" indent="-182880" algn="l">
              <a:spcAft>
                <a:spcPts val="400"/>
              </a:spcAft>
              <a:buChar char="•"/>
            </a:pPr>
            <a:r>
              <a:rPr sz="1200" b="0" i="0">
                <a:solidFill>
                  <a:srgbClr val="2E3A40"/>
                </a:solidFill>
                <a:latin typeface="Calibri"/>
              </a:rPr>
              <a:t>Cada decisión se justifica con un paso del algoritmo o una definición, no solo por analogía con el caso. Al terminar, contraste la parte B con a01_esquema.sql.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25880" y="246888"/>
            <a:ext cx="10863072" cy="950976"/>
          </a:xfrm>
          <a:prstGeom prst="rect">
            <a:avLst/>
          </a:prstGeom>
          <a:solidFill>
            <a:srgbClr val="00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3352" y="347472"/>
            <a:ext cx="9966960" cy="795528"/>
          </a:xfrm>
          <a:prstGeom prst="rect">
            <a:avLst/>
          </a:prstGeom>
          <a:noFill/>
        </p:spPr>
        <p:txBody>
          <a:bodyPr wrap="square" lIns="73152" tIns="36576" rIns="73152" bIns="36576" anchor="ctr">
            <a:spAutoFit/>
          </a:bodyPr>
          <a:lstStyle/>
          <a:p>
            <a:pPr algn="l">
              <a:spcAft>
                <a:spcPts val="600"/>
              </a:spcAft>
            </a:pPr>
            <a:r>
              <a:rPr sz="2400" b="1" i="0">
                <a:solidFill>
                  <a:srgbClr val="FFFFFF"/>
                </a:solidFill>
                <a:latin typeface="Calibri"/>
              </a:rPr>
              <a:t>21. Verificación del aprendizaje y continuidad</a:t>
            </a:r>
          </a:p>
        </p:txBody>
      </p:sp>
      <p:sp>
        <p:nvSpPr>
          <p:cNvPr id="4" name="Rectangle 3"/>
          <p:cNvSpPr/>
          <p:nvPr/>
        </p:nvSpPr>
        <p:spPr>
          <a:xfrm>
            <a:off x="1325880" y="1417320"/>
            <a:ext cx="2103120" cy="4526280"/>
          </a:xfrm>
          <a:prstGeom prst="rect">
            <a:avLst/>
          </a:prstGeom>
          <a:solidFill>
            <a:srgbClr val="00A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2926080"/>
            <a:ext cx="1920240" cy="1463040"/>
          </a:xfrm>
          <a:prstGeom prst="rect">
            <a:avLst/>
          </a:prstGeom>
          <a:noFill/>
        </p:spPr>
        <p:txBody>
          <a:bodyPr wrap="square" lIns="73152" tIns="36576" rIns="73152" bIns="36576" anchor="ctr">
            <a:spAutoFit/>
          </a:bodyPr>
          <a:lstStyle/>
          <a:p>
            <a:pPr algn="ctr">
              <a:spcAft>
                <a:spcPts val="600"/>
              </a:spcAft>
            </a:pPr>
            <a:r>
              <a:rPr sz="2000" b="1" i="0">
                <a:solidFill>
                  <a:srgbClr val="FFFFFF"/>
                </a:solidFill>
                <a:latin typeface="Calibri"/>
              </a:rPr>
              <a:t>Cierre</a:t>
            </a:r>
          </a:p>
        </p:txBody>
      </p:sp>
      <p:sp>
        <p:nvSpPr>
          <p:cNvPr id="6" name="Rectangle 5"/>
          <p:cNvSpPr/>
          <p:nvPr/>
        </p:nvSpPr>
        <p:spPr>
          <a:xfrm>
            <a:off x="3429000" y="1417320"/>
            <a:ext cx="8759952" cy="4526280"/>
          </a:xfrm>
          <a:prstGeom prst="rect">
            <a:avLst/>
          </a:prstGeom>
          <a:solidFill>
            <a:srgbClr val="E8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554480"/>
            <a:ext cx="8321040" cy="4297680"/>
          </a:xfrm>
          <a:prstGeom prst="rect">
            <a:avLst/>
          </a:prstGeom>
          <a:noFill/>
        </p:spPr>
        <p:txBody>
          <a:bodyPr wrap="square" lIns="73152" tIns="36576" rIns="73152" bIns="36576" anchor="t">
            <a:spAutoFit/>
          </a:bodyPr>
          <a:lstStyle/>
          <a:p>
            <a:pPr algn="l">
              <a:spcAft>
                <a:spcPts val="400"/>
              </a:spcAft>
            </a:pPr>
            <a:r>
              <a:rPr sz="1400" b="1" i="0">
                <a:solidFill>
                  <a:srgbClr val="007A7A"/>
                </a:solidFill>
                <a:latin typeface="Calibri"/>
              </a:rPr>
              <a:t>Ticket de salida (individual, 5 min)</a:t>
            </a:r>
          </a:p>
          <a:p>
            <a:pPr marL="228600" indent="-182880" algn="l">
              <a:spcAft>
                <a:spcPts val="400"/>
              </a:spcAft>
              <a:buChar char="•"/>
            </a:pPr>
            <a:r>
              <a:rPr sz="1200" b="0" i="0">
                <a:solidFill>
                  <a:srgbClr val="2E3A40"/>
                </a:solidFill>
                <a:latin typeface="Calibri"/>
              </a:rPr>
              <a:t>Explique la diferencia entre la cardinalidad de una relación (Codd) y la razón de cardinalidad (Chen).</a:t>
            </a:r>
          </a:p>
          <a:p>
            <a:pPr marL="228600" indent="-182880" algn="l">
              <a:spcAft>
                <a:spcPts val="400"/>
              </a:spcAft>
              <a:buChar char="•"/>
            </a:pPr>
            <a:r>
              <a:rPr sz="1200" b="0" i="0">
                <a:solidFill>
                  <a:srgbClr val="2E3A40"/>
                </a:solidFill>
                <a:latin typeface="Calibri"/>
              </a:rPr>
              <a:t>¿En qué tabla queda la FK de una relación 1:N y por qué no en la otra?</a:t>
            </a:r>
          </a:p>
          <a:p>
            <a:pPr marL="228600" indent="-182880" algn="l">
              <a:spcAft>
                <a:spcPts val="400"/>
              </a:spcAft>
              <a:buChar char="•"/>
            </a:pPr>
            <a:r>
              <a:rPr sz="1200" b="0" i="0">
                <a:solidFill>
                  <a:srgbClr val="2E3A40"/>
                </a:solidFill>
                <a:latin typeface="Calibri"/>
              </a:rPr>
              <a:t>Dé un ejemplo de atributo que parece número pero debe ser texto y justifíquelo.</a:t>
            </a:r>
          </a:p>
          <a:p>
            <a:pPr marL="228600" indent="-182880" algn="l">
              <a:spcAft>
                <a:spcPts val="400"/>
              </a:spcAft>
              <a:buChar char="•"/>
            </a:pPr>
            <a:r>
              <a:rPr sz="1200" b="0" i="0">
                <a:solidFill>
                  <a:srgbClr val="2E3A40"/>
                </a:solidFill>
                <a:latin typeface="Calibri"/>
              </a:rPr>
              <a:t>¿Por qué una clave candidata debe ser irreductible?</a:t>
            </a:r>
          </a:p>
          <a:p>
            <a:pPr algn="l">
              <a:spcAft>
                <a:spcPts val="400"/>
              </a:spcAft>
            </a:pPr>
            <a:r>
              <a:rPr sz="1400" b="1" i="0">
                <a:solidFill>
                  <a:srgbClr val="007A7A"/>
                </a:solidFill>
                <a:latin typeface="Calibri"/>
              </a:rPr>
              <a:t>Continuidad: Lab autónomo C (semana 4, sin docente)</a:t>
            </a:r>
          </a:p>
          <a:p>
            <a:pPr marL="228600" indent="-182880" algn="l">
              <a:spcAft>
                <a:spcPts val="400"/>
              </a:spcAft>
              <a:buChar char="•"/>
            </a:pPr>
            <a:r>
              <a:rPr sz="1200" b="0" i="0">
                <a:solidFill>
                  <a:srgbClr val="2E3A40"/>
                </a:solidFill>
                <a:latin typeface="Calibri"/>
              </a:rPr>
              <a:t>Aplica esta sesión al caso completo: ejercicios 1.11 y 1.21 (esquema con PK, FK, ON DELETE y tipos) y normalización (1.12 y 1.13). Entrega: domingo 18 de octubre, 23:59.</a:t>
            </a:r>
          </a:p>
          <a:p>
            <a:pPr algn="l">
              <a:spcAft>
                <a:spcPts val="400"/>
              </a:spcAft>
            </a:pPr>
            <a:r>
              <a:rPr sz="1400" b="1" i="0">
                <a:solidFill>
                  <a:srgbClr val="007A7A"/>
                </a:solidFill>
                <a:latin typeface="Calibri"/>
              </a:rPr>
              <a:t>Lectura obligatoria antes del Lab C</a:t>
            </a:r>
          </a:p>
          <a:p>
            <a:pPr marL="228600" indent="-182880" algn="l">
              <a:spcAft>
                <a:spcPts val="400"/>
              </a:spcAft>
              <a:buChar char="•"/>
            </a:pPr>
            <a:r>
              <a:rPr sz="1200" b="0" i="0">
                <a:solidFill>
                  <a:srgbClr val="2E3A40"/>
                </a:solidFill>
                <a:latin typeface="Calibri"/>
              </a:rPr>
              <a:t>Elmasri y Navathe (2016), cap. 5 (restricciones del modelo relacional) y cap. 9 (transformación ER → relacional).</a:t>
            </a:r>
          </a:p>
          <a:p>
            <a:pPr marL="228600" indent="-182880" algn="l">
              <a:spcAft>
                <a:spcPts val="400"/>
              </a:spcAft>
              <a:buChar char="•"/>
            </a:pPr>
            <a:r>
              <a:rPr sz="1200" b="0" i="0">
                <a:solidFill>
                  <a:srgbClr val="2E3A40"/>
                </a:solidFill>
                <a:latin typeface="Calibri"/>
              </a:rPr>
              <a:t>Codd (1970), parte 1: «Relational model and normal form».</a:t>
            </a:r>
          </a:p>
        </p:txBody>
      </p:sp>
    </p:spTree>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2209</Words>
  <Application>Microsoft Office PowerPoint</Application>
  <PresentationFormat>Panorámica</PresentationFormat>
  <Paragraphs>250</Paragraphs>
  <Slides>17</Slides>
  <Notes>3</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17</vt:i4>
      </vt:variant>
    </vt:vector>
  </HeadingPairs>
  <TitlesOfParts>
    <vt:vector size="22" baseType="lpstr">
      <vt:lpstr>Arial</vt:lpstr>
      <vt:lpstr>Calibri</vt:lpstr>
      <vt:lpstr>Calibri Light</vt:lpstr>
      <vt:lpstr>1_Tema de Office</vt:lpstr>
      <vt:lpstr>2_Tema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Rodriguez</dc:creator>
  <cp:lastModifiedBy>Ignacio Yañez Henríquez</cp:lastModifiedBy>
  <cp:revision>9</cp:revision>
  <dcterms:created xsi:type="dcterms:W3CDTF">2022-08-26T15:29:11Z</dcterms:created>
  <dcterms:modified xsi:type="dcterms:W3CDTF">2026-09-23T18:18:17Z</dcterms:modified>
</cp:coreProperties>
</file>