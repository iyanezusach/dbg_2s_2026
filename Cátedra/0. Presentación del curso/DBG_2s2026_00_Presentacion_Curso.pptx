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73" r:id="rId2"/>
  </p:sldMasterIdLst>
  <p:sldIdLst>
    <p:sldId id="260" r:id="rId9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893"/>
    <p:restoredTop sz="94702"/>
  </p:normalViewPr>
  <p:slideViewPr>
    <p:cSldViewPr snapToGrid="0" snapToObjects="1">
      <p:cViewPr varScale="1">
        <p:scale>
          <a:sx n="204" d="100"/>
          <a:sy n="204" d="100"/>
        </p:scale>
        <p:origin x="6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personal, del curso y del caso conductor.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E7F881-7E7A-42A2-AB03-4BD409C996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87CF48-1E17-42FC-9912-62FC8C7010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730DC62-5284-444C-ADA0-E33F1D94A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DC41D3-73BB-40CA-A2A6-A7B810C95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27C9B1-F270-4234-A2C8-B3F957488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72265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E9CBD0-F9A8-4F7C-A78D-FE553BE33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Haga clic para modificar el estilo de título del patrón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F8AEE33-0300-435E-A58D-1179A29E8D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7E4DB8-5C37-473E-9CF3-F398156E0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F94AE8F-F369-4771-9FEC-EF42247F3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41C747E-8B93-4D09-B302-F17624C3E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18606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231033-3742-49CE-A9A2-C42BD60D6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A6BF2FA-3B6D-40ED-8F22-4CE59FBE54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DF931EC-EDD5-4196-9F0F-DC03EFE8C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071CBDF-8031-4F53-9181-606BDF55A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15D10E-7D4F-40E8-82F5-CEAB8A834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88639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395294-4072-490D-A039-5D818BAEA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0000E41-75FC-49A6-8073-492BC29E62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4E1D932-5A65-498C-AFFA-67FD471E80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2D37AE-A57E-446F-B245-B1F4B92BF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1725711-AE8C-4D43-8E8D-3F7FDFBAD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B1DEDF7-CD02-49B8-886B-B4F14D92C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51722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D8371-41DA-4FB9-9EAA-6587FBF53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501CC30-E837-49FE-9147-6F1FE2CFB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B115255-0D14-427D-9E50-B901847735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E442614-286F-4437-9A74-0367ECFF63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9C9F7DD-EB33-48AC-B40F-2790B52446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E398B42-788C-426B-BC79-1C69A0A77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9F5E8FE-5B69-450E-BDA4-BE7AB925B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9B5E24D-2EA5-45FA-9223-38A1AAD92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186876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828E71-317B-4D96-9353-A39A49E92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84BD1B7-D5BE-4916-9029-9B72BFAB9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8878411-3DD4-413F-A3BC-C0BF18B31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E6537CA-DF42-44FD-AEE1-39D89D6C4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55754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7FDC410-F9E2-42E1-B29F-D27075EFF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A14E991-545A-41DE-B216-60119D82E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E666BED-267C-4EBE-BBDE-F1A182813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84087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47E7AD-0239-4D71-8522-DD60718C9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DE8EE7-FEE1-43AB-9A99-2959550B7B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DBD5AA3-D103-4A9F-BBDD-5D70844920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C27D2E7-3EC8-405E-9DAE-C14306EC4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F4DDD23-5A21-4EAA-88C7-B889C2C79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5035A4B-DC69-47ED-BD59-047D3D59B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78181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784379-0B94-4277-8EAA-756F239E7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0C329CD-10AE-4DCA-8856-D27A044DF4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C03C0D1-F85D-4DA9-BDDE-A63E39145F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222B7E-BB18-4169-BD2E-BF5A2CE1F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E397AEE-F322-4769-8DD6-26D8E4560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757039A-8640-4D2D-8ED7-F816216D5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177770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9E1C0B-4227-42F9-9CDD-F7FBC05A3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950B8B6-4996-4788-87C2-11064F30CF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B8CD7E-9594-4BC1-9549-A4D70A37E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4F6C718-751C-4BBD-B568-363D8A1C0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4483B6-E473-4EA8-89F7-6D3525945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83522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AA4AAE6-179E-4285-B8B6-212DBE5C43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7CC598C-BD17-4123-B58B-168A82A8B7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E1F19BC-782F-4A3E-B7DF-D1BC4A510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0F7B50B-52CD-4B4C-ADA0-57EFE1928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7A5A239-CB30-472D-914D-307F1D0FF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689564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27451"/>
            <a:ext cx="12191998" cy="691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346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DF9CF7-6F66-054D-98F8-0F234A1091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74E0B04-634D-C743-A2AC-995D81BE8D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53C37CF-67D0-104D-BF32-63E5BF969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D9798C9-8676-0B41-92E3-05211563F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A08F2E5-26A5-0C45-B924-223486A7E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654630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18CDDC-2364-F646-BE5E-0C14EEDFA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7B57612-F252-824C-8C6C-1B711BF4E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19FE806-DCCA-0345-8849-5AB27C051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28097E5-9B1C-B548-A703-4B5F6C335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889015F-5F06-7E45-8B6B-D402CA2AF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228283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34B47C-25AF-B349-B6C9-EF8FC21C4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E16E1D3-31DB-7D42-B45B-9C4E11CCC2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C303F42-98DC-6C40-95EC-D87824B48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62B9517-3F0B-EC4A-8EA8-34912021C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C95985-731E-2B4B-AC24-E51AF8585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1435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ECF2FF-EDF9-0047-BE55-6B705A57A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FA51CE6-72A7-7240-A0E3-ED880E0D3B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EBC62D3-C6B9-164B-8A7F-0BE22F2DB6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6116DD8-D249-EE47-A182-4FE53317D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81398FE-F199-804B-9110-2121E0066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48AB4A9-0403-6A40-A784-2B88654CB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91322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E979E6-2584-7941-859F-CCDAA3084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F63F72D-0059-0240-AB3F-6BCE566B63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918A09E-7E2B-8E4C-A908-BA8C90314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8F27A18-E047-0749-AF16-01534901A7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C8C5ED6-1D34-7047-AA50-45B7016149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9DB9A75-33FC-1941-BDDD-4219DC3C9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B091A54-B7CF-5A47-8DC3-599136578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28E158F-7CE7-104F-B3EE-DF171B7DD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755282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C6555B-BC4B-9F47-B9A0-BF1261941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5005E2F-78D1-9941-95E0-DEDFDE2CA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A537C24-F204-B949-9958-536172934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255C051-F3AC-A841-AA92-C048A9873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935187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CA687E6-1053-FD4F-B346-5B69CC5C7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67E3E83-69B3-C946-B8D9-81C00F78C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27ABDB2-8FC3-E145-9173-C936CD342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618793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832CF5-4000-1F41-B68B-1BFD5DB8B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6ACC959-333A-6744-9A12-BC02AA713A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5B207A5-BF06-B64F-A6F8-83023455F9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AA044C3-70CA-C64E-B7DC-19C91DCD6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1E8870F-E31A-414D-989B-B9CA4A0C2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B37A9CE-B793-E743-9195-E93956326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180375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EE9A90-C190-A048-88FF-DD36EC613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77E14FB-25C2-4341-BAC5-B31EBB1297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F900A6A-696B-7344-896D-598C1D5789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529C7F6-1A69-F54E-9DBB-E549E66F9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9631E45-3928-124C-8F25-E5D7D546D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1F6EDFC-D0E8-3646-A0BB-EE83F78A1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9175603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31B03E-04CD-3146-9323-359C477C3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E8B243C-0813-C54C-9416-8C5183312C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A462910-29A6-324E-9955-315D6CBE4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B682EB6-C024-7946-92DD-25A427FF7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68027C5-2F21-D349-AEF6-5003F53CA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7538712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3C74D8E-BFF8-0D45-9225-1E92E9F901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D44FDCE-B976-364A-A776-B8D03B7834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C374F2-9E5D-5D4A-880A-B66001FC7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E913ADA-CE51-D34D-84CA-461BB1646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44A22CB-A67E-7C4A-852C-656CA1BC5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647580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27451"/>
            <a:ext cx="12191998" cy="691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5912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theme" Target="../theme/theme2.xml"/><Relationship Id="rId14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C0C3137-72D4-4BE4-9F8B-299C1F721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15A72AB-47CE-4F41-B378-05B8CAF839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EC61EC6-802B-4783-ACA1-3C65247829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08A8810-A4CE-4993-8840-D90A3489C4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BC1A242-4392-40BC-9DBB-B6B36179C9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90414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0E41CA3-8D92-1C4F-980D-0362C833D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9BF8598-311B-8640-9212-C19431441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13AAA7-0FBC-AB4E-808B-650577A053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15C47C-3DDD-4168-A2CA-6BB569EC1DBF}" type="datetimeFigureOut">
              <a:rPr lang="es-CL" smtClean="0"/>
              <a:t>09-03-23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E70EABB-8162-2C49-8AE9-C81B7DBACD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B21562-F758-B645-9D7B-BAE18886E2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916C66-CE7D-49F9-91E1-02E5E62A1EE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5257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emf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0" y="201168"/>
            <a:ext cx="630936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UNIVERSIDAD DE SANTIAGO DE CHILE</a:t>
            </a:r>
          </a:p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Facultad de Ingeniería</a:t>
            </a:r>
          </a:p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Departamento de Ingeniería Geoespacial y Ambiental</a:t>
            </a:r>
          </a:p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Diseño de Bases de Geodatos (14504)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401568"/>
            <a:ext cx="9966960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PRESENTACIÓN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4069080"/>
            <a:ext cx="813816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BBEEEE"/>
                </a:solidFill>
                <a:latin typeface="Calibri"/>
              </a:rPr>
              <a:t>“Diseño de Bases de Geodatos · Ingeniería Civil en Territorio y Medioambiente”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49240"/>
            <a:ext cx="640080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BBEEEE"/>
                </a:solidFill>
                <a:latin typeface="Calibri"/>
              </a:rPr>
              <a:t>Profesor: Ignacio Yáñez Henríquez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BBEEEE"/>
                </a:solidFill>
                <a:latin typeface="Calibri"/>
              </a:rPr>
              <a:t>2º semestre 2026 · Semana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25880" y="246888"/>
            <a:ext cx="10863072" cy="950976"/>
          </a:xfrm>
          <a:prstGeom prst="rect">
            <a:avLst/>
          </a:prstGeom>
          <a:solidFill>
            <a:srgbClr val="00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3352" y="347472"/>
            <a:ext cx="9966960" cy="7955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1. Identificación del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1325880" y="1417320"/>
            <a:ext cx="2103120" cy="4526280"/>
          </a:xfrm>
          <a:prstGeom prst="rect">
            <a:avLst/>
          </a:prstGeom>
          <a:solidFill>
            <a:srgbClr val="00A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2926080"/>
            <a:ext cx="1920240" cy="1463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14504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Diseño de Bases de Geodatos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1417320"/>
            <a:ext cx="8759952" cy="4526280"/>
          </a:xfrm>
          <a:prstGeom prst="rect">
            <a:avLst/>
          </a:prstGeom>
          <a:solidFill>
            <a:srgbClr val="E8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554480"/>
            <a:ext cx="8321040" cy="4297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07A7A"/>
                </a:solidFill>
                <a:latin typeface="Calibri"/>
              </a:rPr>
              <a:t>Datos generales</a:t>
            </a:r>
          </a:p>
          <a:p>
            <a:pPr algn="l" marL="228600" indent="-182880">
              <a:spcAft>
                <a:spcPts val="400"/>
              </a:spcAft>
              <a:buChar char="•"/>
            </a:pPr>
            <a:r>
              <a:rPr sz="1400" b="0" i="0">
                <a:solidFill>
                  <a:srgbClr val="2E3A40"/>
                </a:solidFill>
                <a:latin typeface="Calibri"/>
              </a:rPr>
              <a:t>Ingeniería Civil en Territorio y Medioambiente, nivel 3</a:t>
            </a:r>
          </a:p>
          <a:p>
            <a:pPr algn="l" marL="228600" indent="-182880">
              <a:spcAft>
                <a:spcPts val="400"/>
              </a:spcAft>
              <a:buChar char="•"/>
            </a:pPr>
            <a:r>
              <a:rPr sz="1400" b="0" i="0">
                <a:solidFill>
                  <a:srgbClr val="2E3A40"/>
                </a:solidFill>
                <a:latin typeface="Calibri"/>
              </a:rPr>
              <a:t>5 créditos SCT · T-E-L 2-0-4 · 5 h de trabajo autónomo semanal</a:t>
            </a:r>
          </a:p>
          <a:p>
            <a:pPr algn="l" marL="228600" indent="-182880">
              <a:spcAft>
                <a:spcPts val="400"/>
              </a:spcAft>
              <a:buChar char="•"/>
            </a:pPr>
            <a:r>
              <a:rPr sz="1400" b="0" i="0">
                <a:solidFill>
                  <a:srgbClr val="2E3A40"/>
                </a:solidFill>
                <a:latin typeface="Calibri"/>
              </a:rPr>
              <a:t>Requisitos: 14501 Geotecnologías · 10145 Fundamentos de Programación para Ingeniería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07A7A"/>
                </a:solidFill>
                <a:latin typeface="Calibri"/>
              </a:rPr>
              <a:t>Período</a:t>
            </a:r>
          </a:p>
          <a:p>
            <a:pPr algn="l" marL="228600" indent="-182880">
              <a:spcAft>
                <a:spcPts val="400"/>
              </a:spcAft>
              <a:buChar char="•"/>
            </a:pPr>
            <a:r>
              <a:rPr sz="1400" b="0" i="0">
                <a:solidFill>
                  <a:srgbClr val="2E3A40"/>
                </a:solidFill>
                <a:latin typeface="Calibri"/>
              </a:rPr>
              <a:t>17 semanas: 21 de septiembre de 2026 al 15 de enero de 2027</a:t>
            </a:r>
          </a:p>
          <a:p>
            <a:pPr algn="l" marL="228600" indent="-182880">
              <a:spcAft>
                <a:spcPts val="400"/>
              </a:spcAft>
              <a:buChar char="•"/>
            </a:pPr>
            <a:r>
              <a:rPr sz="1400" b="0" i="0">
                <a:solidFill>
                  <a:srgbClr val="2E3A40"/>
                </a:solidFill>
                <a:latin typeface="Calibri"/>
              </a:rPr>
              <a:t>Período lectivo oficial VRA hasta el 16 de enero de 2027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07A7A"/>
                </a:solidFill>
                <a:latin typeface="Calibri"/>
              </a:rPr>
              <a:t>Contacto</a:t>
            </a:r>
          </a:p>
          <a:p>
            <a:pPr algn="l" marL="228600" indent="-182880">
              <a:spcAft>
                <a:spcPts val="400"/>
              </a:spcAft>
              <a:buChar char="•"/>
            </a:pPr>
            <a:r>
              <a:rPr sz="1400" b="0" i="0">
                <a:solidFill>
                  <a:srgbClr val="2E3A40"/>
                </a:solidFill>
                <a:latin typeface="Calibri"/>
              </a:rPr>
              <a:t>Ignacio Yáñez Henríquez · ignacio.yanez.h@usach.cl</a:t>
            </a:r>
          </a:p>
          <a:p>
            <a:pPr algn="l" marL="228600" indent="-182880">
              <a:spcAft>
                <a:spcPts val="400"/>
              </a:spcAft>
              <a:buChar char="•"/>
            </a:pPr>
            <a:r>
              <a:rPr sz="1400" b="0" i="0">
                <a:solidFill>
                  <a:srgbClr val="2E3A40"/>
                </a:solidFill>
                <a:latin typeface="Calibri"/>
              </a:rPr>
              <a:t>Material del curso en el repositorio GitHub DBG_2s_2026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25880" y="246888"/>
            <a:ext cx="10863072" cy="950976"/>
          </a:xfrm>
          <a:prstGeom prst="rect">
            <a:avLst/>
          </a:prstGeom>
          <a:solidFill>
            <a:srgbClr val="00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3352" y="347472"/>
            <a:ext cx="9966960" cy="7955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Idea clave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25880" y="1828800"/>
            <a:ext cx="10863072" cy="3291840"/>
          </a:xfrm>
          <a:prstGeom prst="rect">
            <a:avLst/>
          </a:prstGeom>
          <a:solidFill>
            <a:srgbClr val="E8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03120"/>
            <a:ext cx="9966960" cy="2011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7A7A"/>
                </a:solidFill>
                <a:latin typeface="Calibri"/>
              </a:rPr>
              <a:t>Implementar una base de geodatos relacional para un problema territorial o medioambiental, desde los requerimientos hasta las consultas espaciales.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114800"/>
            <a:ext cx="996696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5A676E"/>
                </a:solidFill>
                <a:latin typeface="Calibri"/>
              </a:rPr>
              <a:t>Resultado de aprendizaje general: con criterios de integridad, interoperabilidad, trazabilidad y eficiencia.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25880" y="246888"/>
            <a:ext cx="10863072" cy="950976"/>
          </a:xfrm>
          <a:prstGeom prst="rect">
            <a:avLst/>
          </a:prstGeom>
          <a:solidFill>
            <a:srgbClr val="00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3352" y="347472"/>
            <a:ext cx="9966960" cy="7955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2. Unidades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5880" y="1417320"/>
            <a:ext cx="2544318" cy="2011680"/>
          </a:xfrm>
          <a:prstGeom prst="roundRect">
            <a:avLst>
              <a:gd name="adj" fmla="val 8000"/>
            </a:avLst>
          </a:prstGeom>
          <a:solidFill>
            <a:srgbClr val="E8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08760" y="1618488"/>
            <a:ext cx="384048" cy="384048"/>
          </a:xfrm>
          <a:prstGeom prst="ellipse">
            <a:avLst/>
          </a:prstGeom>
          <a:solidFill>
            <a:srgbClr val="00A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1618488"/>
            <a:ext cx="384048" cy="38404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4248" y="1581912"/>
            <a:ext cx="1721358" cy="5029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7A7A"/>
                </a:solidFill>
                <a:latin typeface="Calibri"/>
              </a:rPr>
              <a:t>U1 · Modelar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148840"/>
            <a:ext cx="2178558" cy="11887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3A40"/>
                </a:solidFill>
                <a:latin typeface="Calibri"/>
              </a:rPr>
              <a:t>Semanas 1–5. Caso clásico: requerimientos, modelo conceptual y del espacio (ISO 19109), ER/EER y 3FN.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98798" y="1417320"/>
            <a:ext cx="2544318" cy="2011680"/>
          </a:xfrm>
          <a:prstGeom prst="roundRect">
            <a:avLst>
              <a:gd name="adj" fmla="val 8000"/>
            </a:avLst>
          </a:prstGeom>
          <a:solidFill>
            <a:srgbClr val="E8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281678" y="1618488"/>
            <a:ext cx="384048" cy="384048"/>
          </a:xfrm>
          <a:prstGeom prst="ellipse">
            <a:avLst/>
          </a:prstGeom>
          <a:solidFill>
            <a:srgbClr val="00A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1678" y="1618488"/>
            <a:ext cx="384048" cy="38404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7166" y="1581912"/>
            <a:ext cx="1721358" cy="5029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7A7A"/>
                </a:solidFill>
                <a:latin typeface="Calibri"/>
              </a:rPr>
              <a:t>U2 · Implementar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81678" y="2148840"/>
            <a:ext cx="2178558" cy="11887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3A40"/>
                </a:solidFill>
                <a:latin typeface="Calibri"/>
              </a:rPr>
              <a:t>Semanas 6–9. SQL en PostgreSQL y PostGIS: caso clásico y, desde la semana 8, el caso territorial.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71716" y="1417320"/>
            <a:ext cx="2544318" cy="2011680"/>
          </a:xfrm>
          <a:prstGeom prst="roundRect">
            <a:avLst>
              <a:gd name="adj" fmla="val 8000"/>
            </a:avLst>
          </a:prstGeom>
          <a:solidFill>
            <a:srgbClr val="E8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54596" y="1618488"/>
            <a:ext cx="384048" cy="384048"/>
          </a:xfrm>
          <a:prstGeom prst="ellipse">
            <a:avLst/>
          </a:prstGeom>
          <a:solidFill>
            <a:srgbClr val="00A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54596" y="1618488"/>
            <a:ext cx="384048" cy="38404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30084" y="1581912"/>
            <a:ext cx="1721358" cy="5029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7A7A"/>
                </a:solidFill>
                <a:latin typeface="Calibri"/>
              </a:rPr>
              <a:t>U3 · Espacializar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148840"/>
            <a:ext cx="2178558" cy="11887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3A40"/>
                </a:solidFill>
                <a:latin typeface="Calibri"/>
              </a:rPr>
              <a:t>Semanas 10–13. Geodatabase y geoprocesos (Módulo G) contrastados con PostGIS; estándares OGC e ISO.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44634" y="1417320"/>
            <a:ext cx="2544318" cy="2011680"/>
          </a:xfrm>
          <a:prstGeom prst="roundRect">
            <a:avLst>
              <a:gd name="adj" fmla="val 8000"/>
            </a:avLst>
          </a:prstGeom>
          <a:solidFill>
            <a:srgbClr val="E8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827513" y="1618488"/>
            <a:ext cx="384048" cy="384048"/>
          </a:xfrm>
          <a:prstGeom prst="ellipse">
            <a:avLst/>
          </a:prstGeom>
          <a:solidFill>
            <a:srgbClr val="00A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27513" y="1618488"/>
            <a:ext cx="384048" cy="38404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03002" y="1581912"/>
            <a:ext cx="1721358" cy="5029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7A7A"/>
                </a:solidFill>
                <a:latin typeface="Calibri"/>
              </a:rPr>
              <a:t>U4 · Consultar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7513" y="2148840"/>
            <a:ext cx="2178558" cy="11887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3A40"/>
                </a:solidFill>
                <a:latin typeface="Calibri"/>
              </a:rPr>
              <a:t>Semanas 14–17. SQL espacial contrastado con los geoprocesos, mapa final y proyecto integrador.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25880" y="246888"/>
            <a:ext cx="10863072" cy="950976"/>
          </a:xfrm>
          <a:prstGeom prst="rect">
            <a:avLst/>
          </a:prstGeom>
          <a:solidFill>
            <a:srgbClr val="00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3352" y="347472"/>
            <a:ext cx="9966960" cy="7955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3. Cómo está pensado 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5880" y="1417320"/>
            <a:ext cx="5317236" cy="2011680"/>
          </a:xfrm>
          <a:prstGeom prst="roundRect">
            <a:avLst>
              <a:gd name="adj" fmla="val 8000"/>
            </a:avLst>
          </a:prstGeom>
          <a:solidFill>
            <a:srgbClr val="E8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08760" y="1618488"/>
            <a:ext cx="384048" cy="384048"/>
          </a:xfrm>
          <a:prstGeom prst="ellipse">
            <a:avLst/>
          </a:prstGeom>
          <a:solidFill>
            <a:srgbClr val="00A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1618488"/>
            <a:ext cx="384048" cy="38404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4248" y="1581912"/>
            <a:ext cx="4494276" cy="5029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7A7A"/>
                </a:solidFill>
                <a:latin typeface="Calibri"/>
              </a:rPr>
              <a:t>Primero la base, después el mapa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148840"/>
            <a:ext cx="4951476" cy="11887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3A40"/>
                </a:solidFill>
                <a:latin typeface="Calibri"/>
              </a:rPr>
              <a:t>Caso clásico primero; la geometría entra en la semana 7, el territorio en la 8 y el mapa al final.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71716" y="1417320"/>
            <a:ext cx="5317236" cy="2011680"/>
          </a:xfrm>
          <a:prstGeom prst="roundRect">
            <a:avLst>
              <a:gd name="adj" fmla="val 8000"/>
            </a:avLst>
          </a:prstGeom>
          <a:solidFill>
            <a:srgbClr val="E8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54596" y="1618488"/>
            <a:ext cx="384048" cy="384048"/>
          </a:xfrm>
          <a:prstGeom prst="ellipse">
            <a:avLst/>
          </a:prstGeom>
          <a:solidFill>
            <a:srgbClr val="00A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54596" y="1618488"/>
            <a:ext cx="384048" cy="38404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0084" y="1581912"/>
            <a:ext cx="4494276" cy="5029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7A7A"/>
                </a:solidFill>
                <a:latin typeface="Calibri"/>
              </a:rPr>
              <a:t>Geoprocesos antes de 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4596" y="2148840"/>
            <a:ext cx="4951476" cy="11887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3A40"/>
                </a:solidFill>
                <a:latin typeface="Calibri"/>
              </a:rPr>
              <a:t>Buffer, clip, intersect, dissolve y spatial join en ArcGIS Pro, luego en SQL.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25880" y="3657600"/>
            <a:ext cx="5317236" cy="2011680"/>
          </a:xfrm>
          <a:prstGeom prst="roundRect">
            <a:avLst>
              <a:gd name="adj" fmla="val 8000"/>
            </a:avLst>
          </a:prstGeom>
          <a:solidFill>
            <a:srgbClr val="E8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08760" y="3858768"/>
            <a:ext cx="384048" cy="384048"/>
          </a:xfrm>
          <a:prstGeom prst="ellipse">
            <a:avLst/>
          </a:prstGeom>
          <a:solidFill>
            <a:srgbClr val="00A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08760" y="3858768"/>
            <a:ext cx="384048" cy="38404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4248" y="3822191"/>
            <a:ext cx="4494276" cy="5029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7A7A"/>
                </a:solidFill>
                <a:latin typeface="Calibri"/>
              </a:rPr>
              <a:t>Geodatabase ↔ PostGIS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389120"/>
            <a:ext cx="4951476" cy="11887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3A40"/>
                </a:solidFill>
                <a:latin typeface="Calibri"/>
              </a:rPr>
              <a:t>Cada concepto se contrasta: dominios, subtipos, relationship classes, topología.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71716" y="3657600"/>
            <a:ext cx="5317236" cy="2011680"/>
          </a:xfrm>
          <a:prstGeom prst="roundRect">
            <a:avLst>
              <a:gd name="adj" fmla="val 8000"/>
            </a:avLst>
          </a:prstGeom>
          <a:solidFill>
            <a:srgbClr val="E8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54596" y="3858768"/>
            <a:ext cx="384048" cy="384048"/>
          </a:xfrm>
          <a:prstGeom prst="ellipse">
            <a:avLst/>
          </a:prstGeom>
          <a:solidFill>
            <a:srgbClr val="00A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4596" y="3858768"/>
            <a:ext cx="384048" cy="38404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0084" y="3822191"/>
            <a:ext cx="4494276" cy="5029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7A7A"/>
                </a:solidFill>
                <a:latin typeface="Calibri"/>
              </a:rPr>
              <a:t>Semanas autónomas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4596" y="4389120"/>
            <a:ext cx="4951476" cy="11887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3A40"/>
                </a:solidFill>
                <a:latin typeface="Calibri"/>
              </a:rPr>
              <a:t>12–16 oct, 26–30 oct y 7–11 dic: labs guiados con entregables verificables.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25880" y="246888"/>
            <a:ext cx="10863072" cy="950976"/>
          </a:xfrm>
          <a:prstGeom prst="rect">
            <a:avLst/>
          </a:prstGeom>
          <a:solidFill>
            <a:srgbClr val="00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3352" y="347472"/>
            <a:ext cx="9966960" cy="7955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4. Calendario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5880" y="1417320"/>
          <a:ext cx="1086307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784"/>
                <a:gridCol w="1520830"/>
                <a:gridCol w="6735104"/>
                <a:gridCol w="1955352"/>
              </a:tblGrid>
              <a:tr h="329183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Sem.</a:t>
                      </a:r>
                    </a:p>
                  </a:txBody>
                  <a:tcPr marL="73152" marR="73152" marT="36576" marB="36576">
                    <a:solidFill>
                      <a:srgbClr val="007A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Fechas</a:t>
                      </a:r>
                    </a:p>
                  </a:txBody>
                  <a:tcPr marL="73152" marR="73152" marT="36576" marB="36576">
                    <a:solidFill>
                      <a:srgbClr val="007A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 marL="73152" marR="73152" marT="36576" marB="36576">
                    <a:solidFill>
                      <a:srgbClr val="007A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marL="73152" marR="73152" marT="36576" marB="36576">
                    <a:solidFill>
                      <a:srgbClr val="007A7A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21–25 sep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SGBD, niveles de abstracción, esquema e instancia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Diagnóstica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28 sep–2 oct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Presentaciones de los estudiantes: modelado conceptual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Hito P0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5–9 oct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Requerimientos, modelado del espacio (ISO 19109/19110) y modelo 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12–16 oct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Sin clase presencial: Lab autónomo C (modelo relacional y 3FN)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Lab C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19–23 oct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EER y FNBC · instalación de PostgreSQL y PostGIS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Control 1 · P1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26–30 oct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Sin clase presencial: Lab autónomo A (implementar el esquema)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Lab A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2–6 nov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DDL, dominios, DML y carga · de latitud y longitud a geometría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Lab 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9–13 nov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Consultas y JOIN · entra el caso territorial (parte relacional)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Lab 8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</a:tr>
              <a:tr h="32919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16–20 nov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Vistas, transacciones y roles · PostGIS sobre el caso territorial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Control 2 · P2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25880" y="246888"/>
            <a:ext cx="10863072" cy="950976"/>
          </a:xfrm>
          <a:prstGeom prst="rect">
            <a:avLst/>
          </a:prstGeom>
          <a:solidFill>
            <a:srgbClr val="00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3352" y="347472"/>
            <a:ext cx="9966960" cy="7955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4. Calendario (2/2)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5880" y="1417320"/>
          <a:ext cx="1086307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784"/>
                <a:gridCol w="1520830"/>
                <a:gridCol w="6735104"/>
                <a:gridCol w="1955352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Sem.</a:t>
                      </a:r>
                    </a:p>
                  </a:txBody>
                  <a:tcPr marL="73152" marR="73152" marT="36576" marB="36576">
                    <a:solidFill>
                      <a:srgbClr val="007A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Fechas</a:t>
                      </a:r>
                    </a:p>
                  </a:txBody>
                  <a:tcPr marL="73152" marR="73152" marT="36576" marB="36576">
                    <a:solidFill>
                      <a:srgbClr val="007A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 marL="73152" marR="73152" marT="36576" marB="36576">
                    <a:solidFill>
                      <a:srgbClr val="007A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marL="73152" marR="73152" marT="36576" marB="36576">
                    <a:solidFill>
                      <a:srgbClr val="007A7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23–27 nov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ArcGIS Pro I: geodatabase del caso y conexión a PostGIS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Lab 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30 nov–4 dic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Geoprocesos y su SQL equivalente · ArcGIS Pro II y ModelBuilder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Lab 11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7–11 dic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Sin clase presencial: Lab autónomo B (geoprocesos del caso)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Lab 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14–18 dic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SQL espacial, calidad e índices GiST · cierre práctico el 15 dic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Control 3 · P3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21–24 dic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Cátedra de cierre U3–U4 y asesoría de proyecto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28 dic–1 ene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Receso navidad y año nuevo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4–8 ene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Asesorías de proyecto y publicación de resultados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Prueba · P4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11–15 ene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Defensas del proyecto integrador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E3A40"/>
                          </a:solidFill>
                          <a:latin typeface="Calibri"/>
                        </a:rPr>
                        <a:t>Proyecto final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25880" y="246888"/>
            <a:ext cx="10863072" cy="950976"/>
          </a:xfrm>
          <a:prstGeom prst="rect">
            <a:avLst/>
          </a:prstGeom>
          <a:solidFill>
            <a:srgbClr val="00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3352" y="347472"/>
            <a:ext cx="9966960" cy="7955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5. Evaluación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5880" y="1417320"/>
          <a:ext cx="1086307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04150"/>
                <a:gridCol w="1629460"/>
                <a:gridCol w="16294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Instrumento</a:t>
                      </a:r>
                    </a:p>
                  </a:txBody>
                  <a:tcPr marL="73152" marR="73152" marT="36576" marB="36576">
                    <a:solidFill>
                      <a:srgbClr val="007A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Semana</a:t>
                      </a:r>
                    </a:p>
                  </a:txBody>
                  <a:tcPr marL="73152" marR="73152" marT="36576" marB="36576">
                    <a:solidFill>
                      <a:srgbClr val="007A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Ponderación</a:t>
                      </a:r>
                    </a:p>
                  </a:txBody>
                  <a:tcPr marL="73152" marR="73152" marT="36576" marB="36576">
                    <a:solidFill>
                      <a:srgbClr val="007A7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E3A40"/>
                          </a:solidFill>
                          <a:latin typeface="Calibri"/>
                        </a:rPr>
                        <a:t>Controles 1, 2 y 3 (individuales)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E3A40"/>
                          </a:solidFill>
                          <a:latin typeface="Calibri"/>
                        </a:rPr>
                        <a:t>5, 9, 13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E3A40"/>
                          </a:solidFill>
                          <a:latin typeface="Calibri"/>
                        </a:rPr>
                        <a:t>30 %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E3A40"/>
                          </a:solidFill>
                          <a:latin typeface="Calibri"/>
                        </a:rPr>
                        <a:t>Laboratorios C, A, 7, 8, 10, 11 y B (se elimina la nota más baja)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E3A40"/>
                          </a:solidFill>
                          <a:latin typeface="Calibri"/>
                        </a:rPr>
                        <a:t>4–12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E3A40"/>
                          </a:solidFill>
                          <a:latin typeface="Calibri"/>
                        </a:rPr>
                        <a:t>20 %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E3A40"/>
                          </a:solidFill>
                          <a:latin typeface="Calibri"/>
                        </a:rPr>
                        <a:t>Prueba individual integradora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E3A4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E3A40"/>
                          </a:solidFill>
                          <a:latin typeface="Calibri"/>
                        </a:rPr>
                        <a:t>20 %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E3A40"/>
                          </a:solidFill>
                          <a:latin typeface="Calibri"/>
                        </a:rPr>
                        <a:t>Proyecto integrador: hitos 10 %, informe 10 %, defensa 10 %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E3A40"/>
                          </a:solidFill>
                          <a:latin typeface="Calibri"/>
                        </a:rPr>
                        <a:t>2–17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E3A40"/>
                          </a:solidFill>
                          <a:latin typeface="Calibri"/>
                        </a:rPr>
                        <a:t>30 %</a:t>
                      </a:r>
                    </a:p>
                  </a:txBody>
                  <a:tcPr marL="73152" marR="73152" marT="36576" marB="36576">
                    <a:solidFill>
                      <a:srgbClr val="E8F7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E3A40"/>
                          </a:solidFill>
                          <a:latin typeface="Calibri"/>
                        </a:rPr>
                        <a:t>Condición:</a:t>
                      </a:r>
                      <a:r>
                        <a:rPr sz="1400" b="0">
                          <a:solidFill>
                            <a:srgbClr val="2E3A40"/>
                          </a:solidFill>
                          <a:latin typeface="Calibri"/>
                        </a:rPr>
                        <a:t> promedio de controles y prueba ≥ 4,0 para aprobar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E3A4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E3A4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25880" y="246888"/>
            <a:ext cx="10863072" cy="950976"/>
          </a:xfrm>
          <a:prstGeom prst="rect">
            <a:avLst/>
          </a:prstGeom>
          <a:solidFill>
            <a:srgbClr val="00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3352" y="347472"/>
            <a:ext cx="9966960" cy="7955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6. Herramientas y repositorio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1325880" y="1417320"/>
            <a:ext cx="5312664" cy="548640"/>
          </a:xfrm>
          <a:prstGeom prst="rect">
            <a:avLst/>
          </a:prstGeom>
          <a:solidFill>
            <a:srgbClr val="00A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1417320"/>
            <a:ext cx="5312664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Software del curso</a:t>
            </a:r>
          </a:p>
        </p:txBody>
      </p:sp>
      <p:sp>
        <p:nvSpPr>
          <p:cNvPr id="6" name="Rectangle 5"/>
          <p:cNvSpPr/>
          <p:nvPr/>
        </p:nvSpPr>
        <p:spPr>
          <a:xfrm>
            <a:off x="1325880" y="1965960"/>
            <a:ext cx="5312664" cy="3977639"/>
          </a:xfrm>
          <a:prstGeom prst="rect">
            <a:avLst/>
          </a:prstGeom>
          <a:solidFill>
            <a:srgbClr val="E8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2103120"/>
            <a:ext cx="4937760" cy="3749039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 marL="228600" indent="-182880">
              <a:spcAft>
                <a:spcPts val="600"/>
              </a:spcAft>
              <a:buChar char="•"/>
            </a:pPr>
            <a:r>
              <a:rPr sz="1400" b="0" i="0">
                <a:solidFill>
                  <a:srgbClr val="2E3A40"/>
                </a:solidFill>
                <a:latin typeface="Calibri"/>
              </a:rPr>
              <a:t>PostgreSQL 16 + PostGIS 3.4 y pgAdmin 4 (instalación en la semana 5)</a:t>
            </a:r>
          </a:p>
          <a:p>
            <a:pPr algn="l" marL="228600" indent="-182880">
              <a:spcAft>
                <a:spcPts val="600"/>
              </a:spcAft>
              <a:buChar char="•"/>
            </a:pPr>
            <a:r>
              <a:rPr sz="1400" b="0" i="0">
                <a:solidFill>
                  <a:srgbClr val="2E3A40"/>
                </a:solidFill>
                <a:latin typeface="Calibri"/>
              </a:rPr>
              <a:t>ArcGIS Pro con licencia académica (desde la semana 10)</a:t>
            </a:r>
          </a:p>
          <a:p>
            <a:pPr algn="l" marL="228600" indent="-182880">
              <a:spcAft>
                <a:spcPts val="600"/>
              </a:spcAft>
              <a:buChar char="•"/>
            </a:pPr>
            <a:r>
              <a:rPr sz="1400" b="0" i="0">
                <a:solidFill>
                  <a:srgbClr val="2E3A40"/>
                </a:solidFill>
                <a:latin typeface="Calibri"/>
              </a:rPr>
              <a:t>draw.io para diagramas ER</a:t>
            </a:r>
          </a:p>
          <a:p>
            <a:pPr algn="l" marL="228600" indent="-182880">
              <a:spcAft>
                <a:spcPts val="600"/>
              </a:spcAft>
              <a:buChar char="•"/>
            </a:pPr>
            <a:r>
              <a:rPr sz="1400" b="0" i="0">
                <a:solidFill>
                  <a:srgbClr val="2E3A40"/>
                </a:solidFill>
                <a:latin typeface="Calibri"/>
              </a:rPr>
              <a:t>Git y GitHub: un repositorio por equipo con DECISIONES.md</a:t>
            </a:r>
          </a:p>
        </p:txBody>
      </p:sp>
      <p:sp>
        <p:nvSpPr>
          <p:cNvPr id="8" name="Rectangle 7"/>
          <p:cNvSpPr/>
          <p:nvPr/>
        </p:nvSpPr>
        <p:spPr>
          <a:xfrm>
            <a:off x="6876288" y="1417320"/>
            <a:ext cx="5312664" cy="548640"/>
          </a:xfrm>
          <a:prstGeom prst="rect">
            <a:avLst/>
          </a:prstGeom>
          <a:solidFill>
            <a:srgbClr val="EA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76288" y="1417320"/>
            <a:ext cx="5312664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Repositorio DBG_2s_2026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76288" y="1965960"/>
            <a:ext cx="5312664" cy="3977639"/>
          </a:xfrm>
          <a:prstGeom prst="rect">
            <a:avLst/>
          </a:prstGeom>
          <a:solidFill>
            <a:srgbClr val="E8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59168" y="2103120"/>
            <a:ext cx="4937760" cy="3749039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 marL="228600" indent="-182880">
              <a:spcAft>
                <a:spcPts val="600"/>
              </a:spcAft>
              <a:buChar char="•"/>
            </a:pPr>
            <a:r>
              <a:rPr sz="1400" b="0" i="0">
                <a:solidFill>
                  <a:srgbClr val="2E3A40"/>
                </a:solidFill>
                <a:latin typeface="Calibri"/>
              </a:rPr>
              <a:t>Cátedra: presentaciones por unidad y bibliografía</a:t>
            </a:r>
          </a:p>
          <a:p>
            <a:pPr algn="l" marL="228600" indent="-182880">
              <a:spcAft>
                <a:spcPts val="600"/>
              </a:spcAft>
              <a:buChar char="•"/>
            </a:pPr>
            <a:r>
              <a:rPr sz="1400" b="0" i="0">
                <a:solidFill>
                  <a:srgbClr val="2E3A40"/>
                </a:solidFill>
                <a:latin typeface="Calibri"/>
              </a:rPr>
              <a:t>Laboratorio: guías, labs autónomos, scripts SQL y datos</a:t>
            </a:r>
          </a:p>
          <a:p>
            <a:pPr algn="l" marL="228600" indent="-182880">
              <a:spcAft>
                <a:spcPts val="600"/>
              </a:spcAft>
              <a:buChar char="•"/>
            </a:pPr>
            <a:r>
              <a:rPr sz="1400" b="0" i="0">
                <a:solidFill>
                  <a:srgbClr val="2E3A40"/>
                </a:solidFill>
                <a:latin typeface="Calibri"/>
              </a:rPr>
              <a:t>Proyecto: enunciado, hitos y rúbricas</a:t>
            </a:r>
          </a:p>
          <a:p>
            <a:pPr algn="l" marL="228600" indent="-182880">
              <a:spcAft>
                <a:spcPts val="600"/>
              </a:spcAft>
              <a:buChar char="•"/>
            </a:pPr>
            <a:r>
              <a:rPr sz="1400" b="0" i="0">
                <a:solidFill>
                  <a:srgbClr val="2E3A40"/>
                </a:solidFill>
                <a:latin typeface="Calibri"/>
              </a:rPr>
              <a:t>Actualizar cada semana con git pull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25880" y="246888"/>
            <a:ext cx="10863072" cy="950976"/>
          </a:xfrm>
          <a:prstGeom prst="rect">
            <a:avLst/>
          </a:prstGeom>
          <a:solidFill>
            <a:srgbClr val="00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3352" y="347472"/>
            <a:ext cx="9966960" cy="7955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7. Proyecto integrador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1371600"/>
            <a:ext cx="10863072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A676E"/>
                </a:solidFill>
                <a:latin typeface="Calibri"/>
              </a:rPr>
              <a:t>Equipos de 3–4 personas, un problema territorial real (cuencas, zonas de sacrificio…) y un cliente institucional (SENAPRED, municipio, CONAF, DGA…).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25880" y="2240280"/>
            <a:ext cx="1566672" cy="685800"/>
          </a:xfrm>
          <a:prstGeom prst="roundRect">
            <a:avLst>
              <a:gd name="adj" fmla="val 8000"/>
            </a:avLst>
          </a:prstGeom>
          <a:solidFill>
            <a:srgbClr val="00A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240280"/>
            <a:ext cx="1566672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P0 · S2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5880" y="3063240"/>
            <a:ext cx="1566672" cy="2377440"/>
          </a:xfrm>
          <a:prstGeom prst="roundRect">
            <a:avLst>
              <a:gd name="adj" fmla="val 8000"/>
            </a:avLst>
          </a:prstGeom>
          <a:solidFill>
            <a:srgbClr val="E8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3154680"/>
            <a:ext cx="1383792" cy="2194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3A40"/>
                </a:solidFill>
                <a:latin typeface="Calibri"/>
              </a:rPr>
              <a:t>Ficha del caso, cliente y preguntas de negocio.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29128" y="2468880"/>
            <a:ext cx="219456" cy="237744"/>
          </a:xfrm>
          <a:prstGeom prst="rightArrow">
            <a:avLst/>
          </a:prstGeom>
          <a:solidFill>
            <a:srgbClr val="EA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85160" y="2240280"/>
            <a:ext cx="1566672" cy="685800"/>
          </a:xfrm>
          <a:prstGeom prst="roundRect">
            <a:avLst>
              <a:gd name="adj" fmla="val 8000"/>
            </a:avLst>
          </a:prstGeom>
          <a:solidFill>
            <a:srgbClr val="00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85160" y="2240280"/>
            <a:ext cx="1566672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P1 · S5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85160" y="3063240"/>
            <a:ext cx="1566672" cy="2377440"/>
          </a:xfrm>
          <a:prstGeom prst="roundRect">
            <a:avLst>
              <a:gd name="adj" fmla="val 8000"/>
            </a:avLst>
          </a:prstGeom>
          <a:solidFill>
            <a:srgbClr val="E8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6600" y="3154680"/>
            <a:ext cx="1383792" cy="2194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3A40"/>
                </a:solidFill>
                <a:latin typeface="Calibri"/>
              </a:rPr>
              <a:t>Reglas, catálogo de entidades, ER/EER y 3FN.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788408" y="2468880"/>
            <a:ext cx="219456" cy="237744"/>
          </a:xfrm>
          <a:prstGeom prst="rightArrow">
            <a:avLst/>
          </a:prstGeom>
          <a:solidFill>
            <a:srgbClr val="EA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44440" y="2240280"/>
            <a:ext cx="1566672" cy="685800"/>
          </a:xfrm>
          <a:prstGeom prst="roundRect">
            <a:avLst>
              <a:gd name="adj" fmla="val 8000"/>
            </a:avLst>
          </a:prstGeom>
          <a:solidFill>
            <a:srgbClr val="00A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4440" y="2240280"/>
            <a:ext cx="1566672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P2 · S9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4440" y="3063240"/>
            <a:ext cx="1566672" cy="2377440"/>
          </a:xfrm>
          <a:prstGeom prst="roundRect">
            <a:avLst>
              <a:gd name="adj" fmla="val 8000"/>
            </a:avLst>
          </a:prstGeom>
          <a:solidFill>
            <a:srgbClr val="E8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5880" y="3154680"/>
            <a:ext cx="1383792" cy="2194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3A40"/>
                </a:solidFill>
                <a:latin typeface="Calibri"/>
              </a:rPr>
              <a:t>Esquema en PostGIS y banco de consultas.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647688" y="2468880"/>
            <a:ext cx="219456" cy="237744"/>
          </a:xfrm>
          <a:prstGeom prst="rightArrow">
            <a:avLst/>
          </a:prstGeom>
          <a:solidFill>
            <a:srgbClr val="EA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03720" y="2240280"/>
            <a:ext cx="1566672" cy="685800"/>
          </a:xfrm>
          <a:prstGeom prst="roundRect">
            <a:avLst>
              <a:gd name="adj" fmla="val 8000"/>
            </a:avLst>
          </a:prstGeom>
          <a:solidFill>
            <a:srgbClr val="00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240280"/>
            <a:ext cx="1566672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P3 · S13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3063240"/>
            <a:ext cx="1566672" cy="2377440"/>
          </a:xfrm>
          <a:prstGeom prst="roundRect">
            <a:avLst>
              <a:gd name="adj" fmla="val 8000"/>
            </a:avLst>
          </a:prstGeom>
          <a:solidFill>
            <a:srgbClr val="E8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5160" y="3154680"/>
            <a:ext cx="1383792" cy="2194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3A40"/>
                </a:solidFill>
                <a:latin typeface="Calibri"/>
              </a:rPr>
              <a:t>Geodatabase, geoprocesos y datos en PostGIS validados.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506968" y="2468880"/>
            <a:ext cx="219456" cy="237744"/>
          </a:xfrm>
          <a:prstGeom prst="rightArrow">
            <a:avLst/>
          </a:prstGeom>
          <a:solidFill>
            <a:srgbClr val="EA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763000" y="2240280"/>
            <a:ext cx="1566672" cy="685800"/>
          </a:xfrm>
          <a:prstGeom prst="roundRect">
            <a:avLst>
              <a:gd name="adj" fmla="val 8000"/>
            </a:avLst>
          </a:prstGeom>
          <a:solidFill>
            <a:srgbClr val="00A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63000" y="2240280"/>
            <a:ext cx="1566672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P4 · S16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63000" y="3063240"/>
            <a:ext cx="1566672" cy="2377440"/>
          </a:xfrm>
          <a:prstGeom prst="roundRect">
            <a:avLst>
              <a:gd name="adj" fmla="val 8000"/>
            </a:avLst>
          </a:prstGeom>
          <a:solidFill>
            <a:srgbClr val="E8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54440" y="3154680"/>
            <a:ext cx="1383792" cy="2194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3A40"/>
                </a:solidFill>
                <a:latin typeface="Calibri"/>
              </a:rPr>
              <a:t>Consultas espaciales, contraste y mapa.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0366248" y="2468880"/>
            <a:ext cx="219456" cy="237744"/>
          </a:xfrm>
          <a:prstGeom prst="rightArrow">
            <a:avLst/>
          </a:prstGeom>
          <a:solidFill>
            <a:srgbClr val="EA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622280" y="2240280"/>
            <a:ext cx="1566672" cy="685800"/>
          </a:xfrm>
          <a:prstGeom prst="roundRect">
            <a:avLst>
              <a:gd name="adj" fmla="val 8000"/>
            </a:avLst>
          </a:prstGeom>
          <a:solidFill>
            <a:srgbClr val="00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22280" y="2240280"/>
            <a:ext cx="1566672" cy="685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Defensa · S17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622280" y="3063240"/>
            <a:ext cx="1566672" cy="2377440"/>
          </a:xfrm>
          <a:prstGeom prst="roundRect">
            <a:avLst>
              <a:gd name="adj" fmla="val 8000"/>
            </a:avLst>
          </a:prstGeom>
          <a:solidFill>
            <a:srgbClr val="E8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13720" y="3154680"/>
            <a:ext cx="1383792" cy="2194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3A40"/>
                </a:solidFill>
                <a:latin typeface="Calibri"/>
              </a:rPr>
              <a:t>Informe, demo en vivo y preguntas individuales.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0" y="201168"/>
            <a:ext cx="630936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UNIVERSIDAD DE SANTIAGO DE CHILE</a:t>
            </a:r>
          </a:p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Facultad de Ingeniería</a:t>
            </a:r>
          </a:p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Departamento de Ingeniería Geoespacial y Ambiental</a:t>
            </a:r>
          </a:p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Diseño de Bases de Geodatos (14504)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401568"/>
            <a:ext cx="9966960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PRESENTACIÓN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4069080"/>
            <a:ext cx="813816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BBEEEE"/>
                </a:solidFill>
                <a:latin typeface="Calibri"/>
              </a:rPr>
              <a:t>“Diseño de Bases de Geodatos · Ingeniería Civil en Territorio y Medioambiente”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49240"/>
            <a:ext cx="640080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BBEEEE"/>
                </a:solidFill>
                <a:latin typeface="Calibri"/>
              </a:rPr>
              <a:t>Profesor: Ignacio Yáñez Henríquez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BBEEEE"/>
                </a:solidFill>
                <a:latin typeface="Calibri"/>
              </a:rPr>
              <a:t>2º semestre 2026 · Semana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0</Words>
  <Application>Microsoft Macintosh PowerPoint</Application>
  <PresentationFormat>Panorámica</PresentationFormat>
  <Paragraphs>0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1_Tema de Office</vt:lpstr>
      <vt:lpstr>2_Tema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Daniel Rodriguez</dc:creator>
  <cp:lastModifiedBy>Daniel Rodriguez</cp:lastModifiedBy>
  <cp:revision>7</cp:revision>
  <dcterms:created xsi:type="dcterms:W3CDTF">2022-08-26T15:29:11Z</dcterms:created>
  <dcterms:modified xsi:type="dcterms:W3CDTF">2023-03-09T19:51:40Z</dcterms:modified>
</cp:coreProperties>
</file>